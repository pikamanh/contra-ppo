
<file path=[Content_Types].xml><?xml version="1.0" encoding="utf-8"?>
<Types xmlns="http://schemas.openxmlformats.org/package/2006/content-types">
  <Default ContentType="application/x-fontdata" Extension="fntdata"/>
  <Default ContentType="image/jpeg" Extension="jpeg"/>
  <Default ContentType="image/png" Extension="png"/>
  <Default ContentType="application/vnd.openxmlformats-package.relationships+xml" Extension="rels"/>
  <Default ContentType="application/xml" Extension="xml"/>
  <Override ContentType="application/vnd.openxmlformats-officedocument.extended-properties+xml" PartName="/docProps/app.xml"/>
  <Override ContentType="application/vnd.openxmlformats-package.core-properties+xml" PartName="/docProps/core.xml"/>
  <Override ContentType="application/vnd.openxmlformats-officedocument.presentationml.notesMaster+xml" PartName="/ppt/notesMasters/notesMaster1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0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3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4.xml"/>
  <Override ContentType="application/vnd.openxmlformats-officedocument.presentationml.slide+xml" PartName="/ppt/slides/slide5.xml"/>
  <Override ContentType="application/vnd.openxmlformats-officedocument.presentationml.slide+xml" PartName="/ppt/slides/slide6.xml"/>
  <Override ContentType="application/vnd.openxmlformats-officedocument.presentationml.slide+xml" PartName="/ppt/slides/slide7.xml"/>
  <Override ContentType="application/vnd.openxmlformats-officedocument.presentationml.slide+xml" PartName="/ppt/slides/slide8.xml"/>
  <Override ContentType="application/vnd.openxmlformats-officedocument.presentationml.slide+xml" PartName="/ppt/slides/slide9.xml"/>
  <Override ContentType="application/vnd.openxmlformats-officedocument.presentationml.slide+xml" PartName="/ppt/slides/slide10.xml"/>
  <Override ContentType="application/vnd.openxmlformats-officedocument.presentationml.slide+xml" PartName="/ppt/slides/slide11.xml"/>
  <Override ContentType="application/vnd.openxmlformats-officedocument.presentationml.slide+xml" PartName="/ppt/slides/slide12.xml"/>
  <Override ContentType="application/vnd.openxmlformats-officedocument.presentationml.slide+xml" PartName="/ppt/slides/slide13.xml"/>
  <Override ContentType="application/vnd.openxmlformats-officedocument.presentationml.tableStyles+xml" PartName="/ppt/tableStyle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<Relationships xmlns="http://schemas.openxmlformats.org/package/2006/relationships"><Relationship Id="rId1" Target="ppt/presentation.xml" Type="http://schemas.openxmlformats.org/officeDocument/2006/relationships/officeDocument"/><Relationship Id="rId2" Target="docProps/thumbnail.jpeg" Type="http://schemas.openxmlformats.org/package/2006/relationships/metadata/thumbnail"/><Relationship Id="rId3" Target="docProps/core.xml" Type="http://schemas.openxmlformats.org/package/2006/relationships/metadata/core-properties"/><Relationship Id="rId4" Target="docProps/app.xml" Type="http://schemas.openxmlformats.org/officeDocument/2006/relationships/extended-properties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embedTrueTypeFonts="true">
  <p:sldMasterIdLst>
    <p:sldMasterId id="2147483648" r:id="rId1"/>
  </p:sldMasterIdLst>
  <p:notesMasterIdLst>
    <p:notesMasterId r:id="rId19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</p:sldIdLst>
  <p:sldSz cx="18288000" cy="10287000"/>
  <p:notesSz cx="6858000" cy="9144000"/>
  <p:embeddedFontLst>
    <p:embeddedFont>
      <p:font typeface="Cambria Bold" charset="1" panose="02040803050406030204"/>
      <p:regular r:id="rId22"/>
    </p:embeddedFont>
    <p:embeddedFont>
      <p:font typeface="Calibri (MS)" charset="1" panose="020F0502020204030204"/>
      <p:regular r:id="rId23"/>
    </p:embeddedFont>
    <p:embeddedFont>
      <p:font typeface="Calibri (MS) Bold" charset="1" panose="020F0702030404030204"/>
      <p:regular r:id="rId24"/>
    </p:embeddedFont>
    <p:embeddedFont>
      <p:font typeface="Calibri (MS) Italics" charset="1" panose="020F05020202040A0204"/>
      <p:regular r:id="rId27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<Relationships xmlns="http://schemas.openxmlformats.org/package/2006/relationships"><Relationship Id="rId1" Target="slideMasters/slideMaster1.xml" Type="http://schemas.openxmlformats.org/officeDocument/2006/relationships/slideMaster"/><Relationship Id="rId10" Target="slides/slide5.xml" Type="http://schemas.openxmlformats.org/officeDocument/2006/relationships/slide"/><Relationship Id="rId11" Target="slides/slide6.xml" Type="http://schemas.openxmlformats.org/officeDocument/2006/relationships/slide"/><Relationship Id="rId12" Target="slides/slide7.xml" Type="http://schemas.openxmlformats.org/officeDocument/2006/relationships/slide"/><Relationship Id="rId13" Target="slides/slide8.xml" Type="http://schemas.openxmlformats.org/officeDocument/2006/relationships/slide"/><Relationship Id="rId14" Target="slides/slide9.xml" Type="http://schemas.openxmlformats.org/officeDocument/2006/relationships/slide"/><Relationship Id="rId15" Target="slides/slide10.xml" Type="http://schemas.openxmlformats.org/officeDocument/2006/relationships/slide"/><Relationship Id="rId16" Target="slides/slide11.xml" Type="http://schemas.openxmlformats.org/officeDocument/2006/relationships/slide"/><Relationship Id="rId17" Target="slides/slide12.xml" Type="http://schemas.openxmlformats.org/officeDocument/2006/relationships/slide"/><Relationship Id="rId18" Target="slides/slide13.xml" Type="http://schemas.openxmlformats.org/officeDocument/2006/relationships/slide"/><Relationship Id="rId19" Target="notesMasters/notesMaster1.xml" Type="http://schemas.openxmlformats.org/officeDocument/2006/relationships/notesMaster"/><Relationship Id="rId2" Target="presProps.xml" Type="http://schemas.openxmlformats.org/officeDocument/2006/relationships/presProps"/><Relationship Id="rId20" Target="theme/theme2.xml" Type="http://schemas.openxmlformats.org/officeDocument/2006/relationships/theme"/><Relationship Id="rId21" Target="notesSlides/notesSlide1.xml" Type="http://schemas.openxmlformats.org/officeDocument/2006/relationships/notesSlide"/><Relationship Id="rId22" Target="fonts/font22.fntdata" Type="http://schemas.openxmlformats.org/officeDocument/2006/relationships/font"/><Relationship Id="rId23" Target="fonts/font23.fntdata" Type="http://schemas.openxmlformats.org/officeDocument/2006/relationships/font"/><Relationship Id="rId24" Target="fonts/font24.fntdata" Type="http://schemas.openxmlformats.org/officeDocument/2006/relationships/font"/><Relationship Id="rId25" Target="notesSlides/notesSlide2.xml" Type="http://schemas.openxmlformats.org/officeDocument/2006/relationships/notesSlide"/><Relationship Id="rId26" Target="notesSlides/notesSlide3.xml" Type="http://schemas.openxmlformats.org/officeDocument/2006/relationships/notesSlide"/><Relationship Id="rId27" Target="fonts/font27.fntdata" Type="http://schemas.openxmlformats.org/officeDocument/2006/relationships/font"/><Relationship Id="rId28" Target="notesSlides/notesSlide4.xml" Type="http://schemas.openxmlformats.org/officeDocument/2006/relationships/notesSlide"/><Relationship Id="rId29" Target="notesSlides/notesSlide5.xml" Type="http://schemas.openxmlformats.org/officeDocument/2006/relationships/notesSlide"/><Relationship Id="rId3" Target="viewProps.xml" Type="http://schemas.openxmlformats.org/officeDocument/2006/relationships/viewProps"/><Relationship Id="rId30" Target="notesSlides/notesSlide6.xml" Type="http://schemas.openxmlformats.org/officeDocument/2006/relationships/notesSlide"/><Relationship Id="rId31" Target="notesSlides/notesSlide7.xml" Type="http://schemas.openxmlformats.org/officeDocument/2006/relationships/notesSlide"/><Relationship Id="rId32" Target="notesSlides/notesSlide8.xml" Type="http://schemas.openxmlformats.org/officeDocument/2006/relationships/notesSlide"/><Relationship Id="rId33" Target="notesSlides/notesSlide9.xml" Type="http://schemas.openxmlformats.org/officeDocument/2006/relationships/notesSlide"/><Relationship Id="rId34" Target="notesSlides/notesSlide10.xml" Type="http://schemas.openxmlformats.org/officeDocument/2006/relationships/notesSlide"/><Relationship Id="rId35" Target="notesSlides/notesSlide11.xml" Type="http://schemas.openxmlformats.org/officeDocument/2006/relationships/notesSlide"/><Relationship Id="rId36" Target="notesSlides/notesSlide12.xml" Type="http://schemas.openxmlformats.org/officeDocument/2006/relationships/notesSlide"/><Relationship Id="rId37" Target="notesSlides/notesSlide13.xml" Type="http://schemas.openxmlformats.org/officeDocument/2006/relationships/notesSlide"/><Relationship Id="rId4" Target="theme/theme1.xml" Type="http://schemas.openxmlformats.org/officeDocument/2006/relationships/theme"/><Relationship Id="rId5" Target="tableStyles.xml" Type="http://schemas.openxmlformats.org/officeDocument/2006/relationships/tableStyles"/><Relationship Id="rId6" Target="slides/slide1.xml" Type="http://schemas.openxmlformats.org/officeDocument/2006/relationships/slide"/><Relationship Id="rId7" Target="slides/slide2.xml" Type="http://schemas.openxmlformats.org/officeDocument/2006/relationships/slide"/><Relationship Id="rId8" Target="slides/slide3.xml" Type="http://schemas.openxmlformats.org/officeDocument/2006/relationships/slide"/><Relationship Id="rId9" Target="slides/slide4.xml" Type="http://schemas.openxmlformats.org/officeDocument/2006/relationships/slide"/></Relationships>
</file>

<file path=ppt/notesMasters/_rels/notesMaster1.xml.rels><?xml version="1.0" encoding="UTF-8" standalone="yes"?><Relationships xmlns="http://schemas.openxmlformats.org/package/2006/relationships"><Relationship Id="rId1" Target="../theme/theme2.xml" Type="http://schemas.openxmlformats.org/officeDocument/2006/relationships/theme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7268E1E-0E44-426D-905E-8AD9B19D2182}" type="datetimeFigureOut">
              <a:rPr lang="cs-CZ" smtClean="0"/>
              <a:t>1.7.2013</a:t>
            </a:fld>
            <a:endParaRPr lang="cs-CZ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cs-CZ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cs-CZ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cs-CZ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71B2431-D351-4C6E-A3CF-9DFAC0E3E050}" type="slidenum">
              <a:rPr lang="cs-CZ" smtClean="0"/>
              <a:t>‹#›</a:t>
            </a:fld>
            <a:endParaRPr lang="cs-CZ"/>
          </a:p>
        </p:txBody>
      </p:sp>
    </p:spTree>
    <p:extLst>
      <p:ext uri="{BB962C8B-B14F-4D97-AF65-F5344CB8AC3E}">
        <p14:creationId xmlns:p14="http://schemas.microsoft.com/office/powerpoint/2010/main" val="179888911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.xml" Type="http://schemas.openxmlformats.org/officeDocument/2006/relationships/slide"/></Relationships>
</file>

<file path=ppt/notesSlides/_rels/notesSlide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2.xml" Type="http://schemas.openxmlformats.org/officeDocument/2006/relationships/slide"/></Relationships>
</file>

<file path=ppt/notesSlides/_rels/notesSlide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3.xml" Type="http://schemas.openxmlformats.org/officeDocument/2006/relationships/slide"/></Relationships>
</file>

<file path=ppt/notesSlides/_rels/notesSlide4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4.xml" Type="http://schemas.openxmlformats.org/officeDocument/2006/relationships/slide"/></Relationships>
</file>

<file path=ppt/notesSlides/_rels/notesSlide5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5.xml" Type="http://schemas.openxmlformats.org/officeDocument/2006/relationships/slide"/></Relationships>
</file>

<file path=ppt/notesSlides/_rels/notesSlide6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6.xml" Type="http://schemas.openxmlformats.org/officeDocument/2006/relationships/slide"/></Relationships>
</file>

<file path=ppt/notesSlides/_rels/notesSlide7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7.xml" Type="http://schemas.openxmlformats.org/officeDocument/2006/relationships/slide"/></Relationships>
</file>

<file path=ppt/notesSlides/_rels/notesSlide8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8.xml" Type="http://schemas.openxmlformats.org/officeDocument/2006/relationships/slide"/></Relationships>
</file>

<file path=ppt/notesSlides/_rels/notesSlide9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9.xml" Type="http://schemas.openxmlformats.org/officeDocument/2006/relationships/slide"/></Relationships>
</file>

<file path=ppt/notesSlides/_rels/notesSlide10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0.xml" Type="http://schemas.openxmlformats.org/officeDocument/2006/relationships/slide"/></Relationships>
</file>

<file path=ppt/notesSlides/_rels/notesSlide11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1.xml" Type="http://schemas.openxmlformats.org/officeDocument/2006/relationships/slide"/></Relationships>
</file>

<file path=ppt/notesSlides/_rels/notesSlide12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2.xml" Type="http://schemas.openxmlformats.org/officeDocument/2006/relationships/slide"/></Relationships>
</file>

<file path=ppt/notesSlides/_rels/notesSlide13.xml.rels><?xml version="1.0" encoding="UTF-8" standalone="yes"?><Relationships xmlns="http://schemas.openxmlformats.org/package/2006/relationships"><Relationship Id="rId1" Target="../notesMasters/notesMaster1.xml" Type="http://schemas.openxmlformats.org/officeDocument/2006/relationships/notesMaster"/><Relationship Id="rId2" Target="../slides/slide13.xml" Type="http://schemas.openxmlformats.org/officeDocument/2006/relationships/slide"/></Relationships>
</file>

<file path=ppt/notesSlides/notesSlide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4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5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6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7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8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9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0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1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2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notesSlides/notesSlide13.xml><?xml version="1.0" encoding="utf-8"?>
<p:notes xmlns:p="http://schemas.openxmlformats.org/presentationml/2006/main" xmlns:a="http://schemas.openxmlformats.org/drawingml/2006/main">
  <p:cSld>
    <p:spTree xmlns:r="http://schemas.openxmlformats.org/officeDocument/2006/relationships"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/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5180013" y="0"/>
            <a:ext cx="3962400" cy="3429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r id="{B7268E1E-0E44-426D-905E-8AD9B19D2182}" type="datetimeFigureOut">
              <a:rPr lang="cs-CZ" smtClean="0"/>
              <a:t>1.7.2013</a:t>
            </a:r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2857500" y="512763"/>
            <a:ext cx="3429000" cy="25669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/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914400" y="3251200"/>
            <a:ext cx="7315200" cy="3081338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r>
              <a:rPr lang="en-US"/>
              <a:t>&lt;number&gt;</a:t>
            </a:r>
            <a:endParaRPr lang="en-US" smtClean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/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5180013" y="6502400"/>
            <a:ext cx="3962400" cy="341313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r id="{871B2431-D351-4C6E-A3CF-9DFAC0E3E050}" type="slidenum">
              <a:rPr lang="cs-CZ" smtClean="0"/>
              <a:t>‹#›</a:t>
            </a:r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2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3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4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5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6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7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8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9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0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_rels/slideLayout11.xml.rels><?xml version="1.0" encoding="UTF-8" standalone="yes"?><Relationships xmlns="http://schemas.openxmlformats.org/package/2006/relationships"><Relationship Id="rId1" Target="../slideMasters/slideMaster1.xml" Type="http://schemas.openxmlformats.org/officeDocument/2006/relationships/slideMaster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arget="../slideLayouts/slideLayout1.xml" Type="http://schemas.openxmlformats.org/officeDocument/2006/relationships/slideLayout"/><Relationship Id="rId10" Target="../slideLayouts/slideLayout10.xml" Type="http://schemas.openxmlformats.org/officeDocument/2006/relationships/slideLayout"/><Relationship Id="rId11" Target="../slideLayouts/slideLayout11.xml" Type="http://schemas.openxmlformats.org/officeDocument/2006/relationships/slideLayout"/><Relationship Id="rId12" Target="../theme/theme1.xml" Type="http://schemas.openxmlformats.org/officeDocument/2006/relationships/theme"/><Relationship Id="rId2" Target="../slideLayouts/slideLayout2.xml" Type="http://schemas.openxmlformats.org/officeDocument/2006/relationships/slideLayout"/><Relationship Id="rId3" Target="../slideLayouts/slideLayout3.xml" Type="http://schemas.openxmlformats.org/officeDocument/2006/relationships/slideLayout"/><Relationship Id="rId4" Target="../slideLayouts/slideLayout4.xml" Type="http://schemas.openxmlformats.org/officeDocument/2006/relationships/slideLayout"/><Relationship Id="rId5" Target="../slideLayouts/slideLayout5.xml" Type="http://schemas.openxmlformats.org/officeDocument/2006/relationships/slideLayout"/><Relationship Id="rId6" Target="../slideLayouts/slideLayout6.xml" Type="http://schemas.openxmlformats.org/officeDocument/2006/relationships/slideLayout"/><Relationship Id="rId7" Target="../slideLayouts/slideLayout7.xml" Type="http://schemas.openxmlformats.org/officeDocument/2006/relationships/slideLayout"/><Relationship Id="rId8" Target="../slideLayouts/slideLayout8.xml" Type="http://schemas.openxmlformats.org/officeDocument/2006/relationships/slideLayout"/><Relationship Id="rId9" Target="../slideLayouts/slideLayout9.xml" Type="http://schemas.openxmlformats.org/officeDocument/2006/relationships/slideLayout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8/1/2011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.xml" Type="http://schemas.openxmlformats.org/officeDocument/2006/relationships/notesSlide"/><Relationship Id="rId3" Target="../media/image1.png" Type="http://schemas.openxmlformats.org/officeDocument/2006/relationships/image"/><Relationship Id="rId4" Target="../media/image2.jpeg" Type="http://schemas.openxmlformats.org/officeDocument/2006/relationships/image"/><Relationship Id="rId5" Target="https://github.com/pikamanh/contra-PPO" TargetMode="External" Type="http://schemas.openxmlformats.org/officeDocument/2006/relationships/hyperlink"/></Relationships>
</file>

<file path=ppt/slides/_rels/slide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2.xml" Type="http://schemas.openxmlformats.org/officeDocument/2006/relationships/notesSlide"/><Relationship Id="rId3" Target="../media/image2.jpeg" Type="http://schemas.openxmlformats.org/officeDocument/2006/relationships/image"/><Relationship Id="rId4" Target="../media/image3.png" Type="http://schemas.openxmlformats.org/officeDocument/2006/relationships/image"/></Relationships>
</file>

<file path=ppt/slides/_rels/slide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3.xml" Type="http://schemas.openxmlformats.org/officeDocument/2006/relationships/notesSlide"/><Relationship Id="rId3" Target="../media/image2.jpeg" Type="http://schemas.openxmlformats.org/officeDocument/2006/relationships/image"/><Relationship Id="rId4" Target="../media/image4.png" Type="http://schemas.openxmlformats.org/officeDocument/2006/relationships/image"/></Relationships>
</file>

<file path=ppt/slides/_rels/slide4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4.xml" Type="http://schemas.openxmlformats.org/officeDocument/2006/relationships/notesSlide"/><Relationship Id="rId3" Target="../media/image2.jpeg" Type="http://schemas.openxmlformats.org/officeDocument/2006/relationships/image"/><Relationship Id="rId4" Target="../media/image5.png" Type="http://schemas.openxmlformats.org/officeDocument/2006/relationships/image"/><Relationship Id="rId5" Target="../media/image6.png" Type="http://schemas.openxmlformats.org/officeDocument/2006/relationships/image"/><Relationship Id="rId6" Target="../media/image7.png" Type="http://schemas.openxmlformats.org/officeDocument/2006/relationships/image"/><Relationship Id="rId7" Target="../media/image8.png" Type="http://schemas.openxmlformats.org/officeDocument/2006/relationships/image"/><Relationship Id="rId8" Target="../media/image9.png" Type="http://schemas.openxmlformats.org/officeDocument/2006/relationships/image"/></Relationships>
</file>

<file path=ppt/slides/_rels/slide5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5.xml" Type="http://schemas.openxmlformats.org/officeDocument/2006/relationships/notesSlide"/><Relationship Id="rId3" Target="../media/image2.jpeg" Type="http://schemas.openxmlformats.org/officeDocument/2006/relationships/image"/></Relationships>
</file>

<file path=ppt/slides/_rels/slide6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6.xml" Type="http://schemas.openxmlformats.org/officeDocument/2006/relationships/notesSlide"/><Relationship Id="rId3" Target="../media/image2.jpeg" Type="http://schemas.openxmlformats.org/officeDocument/2006/relationships/image"/><Relationship Id="rId4" Target="../media/image10.png" Type="http://schemas.openxmlformats.org/officeDocument/2006/relationships/image"/><Relationship Id="rId5" Target="../media/image11.png" Type="http://schemas.openxmlformats.org/officeDocument/2006/relationships/image"/><Relationship Id="rId6" Target="../media/image12.png" Type="http://schemas.openxmlformats.org/officeDocument/2006/relationships/image"/></Relationships>
</file>

<file path=ppt/slides/_rels/slide7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7.xml" Type="http://schemas.openxmlformats.org/officeDocument/2006/relationships/notesSlide"/><Relationship Id="rId3" Target="../media/image2.jpeg" Type="http://schemas.openxmlformats.org/officeDocument/2006/relationships/image"/><Relationship Id="rId4" Target="../media/image13.png" Type="http://schemas.openxmlformats.org/officeDocument/2006/relationships/image"/></Relationships>
</file>

<file path=ppt/slides/_rels/slide8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8.xml" Type="http://schemas.openxmlformats.org/officeDocument/2006/relationships/notesSlide"/><Relationship Id="rId3" Target="../media/image2.jpeg" Type="http://schemas.openxmlformats.org/officeDocument/2006/relationships/image"/><Relationship Id="rId4" Target="../media/image14.png" Type="http://schemas.openxmlformats.org/officeDocument/2006/relationships/image"/><Relationship Id="rId5" Target="../media/image15.png" Type="http://schemas.openxmlformats.org/officeDocument/2006/relationships/image"/><Relationship Id="rId6" Target="../media/image8.png" Type="http://schemas.openxmlformats.org/officeDocument/2006/relationships/image"/><Relationship Id="rId7" Target="../media/image16.png" Type="http://schemas.openxmlformats.org/officeDocument/2006/relationships/image"/></Relationships>
</file>

<file path=ppt/slides/_rels/slide9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9.xml" Type="http://schemas.openxmlformats.org/officeDocument/2006/relationships/notesSlide"/><Relationship Id="rId3" Target="../media/image2.jpeg" Type="http://schemas.openxmlformats.org/officeDocument/2006/relationships/image"/><Relationship Id="rId4" Target="../media/image17.png" Type="http://schemas.openxmlformats.org/officeDocument/2006/relationships/image"/><Relationship Id="rId5" Target="../media/image18.png" Type="http://schemas.openxmlformats.org/officeDocument/2006/relationships/image"/></Relationships>
</file>

<file path=ppt/slides/_rels/slide10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0.xml" Type="http://schemas.openxmlformats.org/officeDocument/2006/relationships/notesSlide"/><Relationship Id="rId3" Target="../media/image2.jpeg" Type="http://schemas.openxmlformats.org/officeDocument/2006/relationships/image"/><Relationship Id="rId4" Target="../media/image19.png" Type="http://schemas.openxmlformats.org/officeDocument/2006/relationships/image"/><Relationship Id="rId5" Target="../media/image20.png" Type="http://schemas.openxmlformats.org/officeDocument/2006/relationships/image"/><Relationship Id="rId6" Target="../media/image21.png" Type="http://schemas.openxmlformats.org/officeDocument/2006/relationships/image"/><Relationship Id="rId7" Target="../media/image22.png" Type="http://schemas.openxmlformats.org/officeDocument/2006/relationships/image"/></Relationships>
</file>

<file path=ppt/slides/_rels/slide11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1.xml" Type="http://schemas.openxmlformats.org/officeDocument/2006/relationships/notesSlide"/><Relationship Id="rId3" Target="../media/image2.jpeg" Type="http://schemas.openxmlformats.org/officeDocument/2006/relationships/image"/><Relationship Id="rId4" Target="../media/image9.png" Type="http://schemas.openxmlformats.org/officeDocument/2006/relationships/image"/><Relationship Id="rId5" Target="../media/image23.png" Type="http://schemas.openxmlformats.org/officeDocument/2006/relationships/image"/></Relationships>
</file>

<file path=ppt/slides/_rels/slide12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2.xml" Type="http://schemas.openxmlformats.org/officeDocument/2006/relationships/notesSlide"/><Relationship Id="rId3" Target="../media/image2.jpeg" Type="http://schemas.openxmlformats.org/officeDocument/2006/relationships/image"/><Relationship Id="rId4" Target="../media/image24.png" Type="http://schemas.openxmlformats.org/officeDocument/2006/relationships/image"/><Relationship Id="rId5" Target="../media/image13.png" Type="http://schemas.openxmlformats.org/officeDocument/2006/relationships/image"/><Relationship Id="rId6" Target="../media/image5.png" Type="http://schemas.openxmlformats.org/officeDocument/2006/relationships/image"/><Relationship Id="rId7" Target="../media/image1.png" Type="http://schemas.openxmlformats.org/officeDocument/2006/relationships/image"/></Relationships>
</file>

<file path=ppt/slides/_rels/slide13.xml.rels><?xml version="1.0" encoding="UTF-8" standalone="yes"?><Relationships xmlns="http://schemas.openxmlformats.org/package/2006/relationships"><Relationship Id="rId1" Target="../slideLayouts/slideLayout7.xml" Type="http://schemas.openxmlformats.org/officeDocument/2006/relationships/slideLayout"/><Relationship Id="rId2" Target="../notesSlides/notesSlide13.xml" Type="http://schemas.openxmlformats.org/officeDocument/2006/relationships/notesSlide"/><Relationship Id="rId3" Target="../media/image2.jpeg" Type="http://schemas.openxmlformats.org/officeDocument/2006/relationships/image"/></Relationships>
</file>

<file path=ppt/slides/slide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0" y="0"/>
            <a:ext cx="18282780" cy="10286457"/>
            <a:chOff x="0" y="0"/>
            <a:chExt cx="24377040" cy="1371527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24377014" cy="13715237"/>
            </a:xfrm>
            <a:custGeom>
              <a:avLst/>
              <a:gdLst/>
              <a:ahLst/>
              <a:cxnLst/>
              <a:rect r="r" b="b" t="t" l="l"/>
              <a:pathLst>
                <a:path h="13715237" w="24377014">
                  <a:moveTo>
                    <a:pt x="0" y="0"/>
                  </a:moveTo>
                  <a:lnTo>
                    <a:pt x="24377014" y="0"/>
                  </a:lnTo>
                  <a:lnTo>
                    <a:pt x="24377014" y="13715237"/>
                  </a:lnTo>
                  <a:lnTo>
                    <a:pt x="0" y="13715237"/>
                  </a:lnTo>
                  <a:close/>
                </a:path>
              </a:pathLst>
            </a:custGeom>
            <a:solidFill>
              <a:srgbClr val="0B132B"/>
            </a:solidFill>
          </p:spPr>
        </p:sp>
      </p:grpSp>
      <p:grpSp>
        <p:nvGrpSpPr>
          <p:cNvPr name="Group 4" id="4"/>
          <p:cNvGrpSpPr/>
          <p:nvPr/>
        </p:nvGrpSpPr>
        <p:grpSpPr>
          <a:xfrm rot="0">
            <a:off x="13157835" y="813435"/>
            <a:ext cx="1184367" cy="1184367"/>
            <a:chOff x="0" y="0"/>
            <a:chExt cx="1579156" cy="1579156"/>
          </a:xfrm>
        </p:grpSpPr>
        <p:sp>
          <p:nvSpPr>
            <p:cNvPr name="Freeform 5" id="5"/>
            <p:cNvSpPr/>
            <p:nvPr/>
          </p:nvSpPr>
          <p:spPr>
            <a:xfrm flipH="false" flipV="false" rot="0">
              <a:off x="0" y="0"/>
              <a:ext cx="1579118" cy="1579118"/>
            </a:xfrm>
            <a:custGeom>
              <a:avLst/>
              <a:gdLst/>
              <a:ahLst/>
              <a:cxnLst/>
              <a:rect r="r" b="b" t="t" l="l"/>
              <a:pathLst>
                <a:path h="1579118" w="1579118">
                  <a:moveTo>
                    <a:pt x="0" y="0"/>
                  </a:moveTo>
                  <a:lnTo>
                    <a:pt x="1579118" y="0"/>
                  </a:lnTo>
                  <a:lnTo>
                    <a:pt x="1579118" y="1579118"/>
                  </a:lnTo>
                  <a:lnTo>
                    <a:pt x="0" y="1579118"/>
                  </a:lnTo>
                  <a:close/>
                </a:path>
              </a:pathLst>
            </a:custGeom>
            <a:solidFill>
              <a:srgbClr val="1C2B4A">
                <a:alpha val="20000"/>
              </a:srgbClr>
            </a:solidFill>
            <a:ln w="19050" cap="sq">
              <a:solidFill>
                <a:srgbClr val="2A3B5C"/>
              </a:solidFill>
              <a:prstDash val="solid"/>
              <a:miter/>
            </a:ln>
          </p:spPr>
        </p:sp>
      </p:grpSp>
      <p:grpSp>
        <p:nvGrpSpPr>
          <p:cNvPr name="Group 6" id="6"/>
          <p:cNvGrpSpPr/>
          <p:nvPr/>
        </p:nvGrpSpPr>
        <p:grpSpPr>
          <a:xfrm rot="0">
            <a:off x="14598015" y="813435"/>
            <a:ext cx="1184367" cy="1184367"/>
            <a:chOff x="0" y="0"/>
            <a:chExt cx="1579156" cy="1579156"/>
          </a:xfrm>
        </p:grpSpPr>
        <p:sp>
          <p:nvSpPr>
            <p:cNvPr name="Freeform 7" id="7"/>
            <p:cNvSpPr/>
            <p:nvPr/>
          </p:nvSpPr>
          <p:spPr>
            <a:xfrm flipH="false" flipV="false" rot="0">
              <a:off x="0" y="0"/>
              <a:ext cx="1579118" cy="1579118"/>
            </a:xfrm>
            <a:custGeom>
              <a:avLst/>
              <a:gdLst/>
              <a:ahLst/>
              <a:cxnLst/>
              <a:rect r="r" b="b" t="t" l="l"/>
              <a:pathLst>
                <a:path h="1579118" w="1579118">
                  <a:moveTo>
                    <a:pt x="0" y="0"/>
                  </a:moveTo>
                  <a:lnTo>
                    <a:pt x="1579118" y="0"/>
                  </a:lnTo>
                  <a:lnTo>
                    <a:pt x="1579118" y="1579118"/>
                  </a:lnTo>
                  <a:lnTo>
                    <a:pt x="0" y="1579118"/>
                  </a:lnTo>
                  <a:close/>
                </a:path>
              </a:pathLst>
            </a:custGeom>
            <a:solidFill>
              <a:srgbClr val="1C2B4A">
                <a:alpha val="20000"/>
              </a:srgbClr>
            </a:solidFill>
            <a:ln w="19050" cap="sq">
              <a:solidFill>
                <a:srgbClr val="2A3B5C"/>
              </a:solidFill>
              <a:prstDash val="solid"/>
              <a:miter/>
            </a:ln>
          </p:spPr>
        </p:sp>
      </p:grpSp>
      <p:grpSp>
        <p:nvGrpSpPr>
          <p:cNvPr name="Group 8" id="8"/>
          <p:cNvGrpSpPr/>
          <p:nvPr/>
        </p:nvGrpSpPr>
        <p:grpSpPr>
          <a:xfrm rot="0">
            <a:off x="16038195" y="813435"/>
            <a:ext cx="1184367" cy="1184367"/>
            <a:chOff x="0" y="0"/>
            <a:chExt cx="1579156" cy="15791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579118" cy="1579118"/>
            </a:xfrm>
            <a:custGeom>
              <a:avLst/>
              <a:gdLst/>
              <a:ahLst/>
              <a:cxnLst/>
              <a:rect r="r" b="b" t="t" l="l"/>
              <a:pathLst>
                <a:path h="1579118" w="1579118">
                  <a:moveTo>
                    <a:pt x="0" y="0"/>
                  </a:moveTo>
                  <a:lnTo>
                    <a:pt x="1579118" y="0"/>
                  </a:lnTo>
                  <a:lnTo>
                    <a:pt x="1579118" y="1579118"/>
                  </a:lnTo>
                  <a:lnTo>
                    <a:pt x="0" y="1579118"/>
                  </a:lnTo>
                  <a:close/>
                </a:path>
              </a:pathLst>
            </a:custGeom>
            <a:solidFill>
              <a:srgbClr val="1C2B4A">
                <a:alpha val="20000"/>
              </a:srgbClr>
            </a:solidFill>
            <a:ln w="19050" cap="sq">
              <a:solidFill>
                <a:srgbClr val="2A3B5C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3157835" y="2253615"/>
            <a:ext cx="1184367" cy="1184367"/>
            <a:chOff x="0" y="0"/>
            <a:chExt cx="1579156" cy="157915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79118" cy="1579118"/>
            </a:xfrm>
            <a:custGeom>
              <a:avLst/>
              <a:gdLst/>
              <a:ahLst/>
              <a:cxnLst/>
              <a:rect r="r" b="b" t="t" l="l"/>
              <a:pathLst>
                <a:path h="1579118" w="1579118">
                  <a:moveTo>
                    <a:pt x="0" y="0"/>
                  </a:moveTo>
                  <a:lnTo>
                    <a:pt x="1579118" y="0"/>
                  </a:lnTo>
                  <a:lnTo>
                    <a:pt x="1579118" y="1579118"/>
                  </a:lnTo>
                  <a:lnTo>
                    <a:pt x="0" y="1579118"/>
                  </a:lnTo>
                  <a:close/>
                </a:path>
              </a:pathLst>
            </a:custGeom>
            <a:solidFill>
              <a:srgbClr val="1C2B4A">
                <a:alpha val="20000"/>
              </a:srgbClr>
            </a:solidFill>
            <a:ln w="19050" cap="sq">
              <a:solidFill>
                <a:srgbClr val="2A3B5C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4598015" y="2253615"/>
            <a:ext cx="1184367" cy="1184367"/>
            <a:chOff x="0" y="0"/>
            <a:chExt cx="1579156" cy="157915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1579118" cy="1579118"/>
            </a:xfrm>
            <a:custGeom>
              <a:avLst/>
              <a:gdLst/>
              <a:ahLst/>
              <a:cxnLst/>
              <a:rect r="r" b="b" t="t" l="l"/>
              <a:pathLst>
                <a:path h="1579118" w="1579118">
                  <a:moveTo>
                    <a:pt x="0" y="0"/>
                  </a:moveTo>
                  <a:lnTo>
                    <a:pt x="1579118" y="0"/>
                  </a:lnTo>
                  <a:lnTo>
                    <a:pt x="1579118" y="1579118"/>
                  </a:lnTo>
                  <a:lnTo>
                    <a:pt x="0" y="1579118"/>
                  </a:lnTo>
                  <a:close/>
                </a:path>
              </a:pathLst>
            </a:custGeom>
            <a:solidFill>
              <a:srgbClr val="1C2B4A">
                <a:alpha val="20000"/>
              </a:srgbClr>
            </a:solidFill>
            <a:ln w="19050" cap="sq">
              <a:solidFill>
                <a:srgbClr val="2A3B5C"/>
              </a:solidFill>
              <a:prstDash val="solid"/>
              <a:miter/>
            </a:ln>
          </p:spPr>
        </p:sp>
      </p:grpSp>
      <p:grpSp>
        <p:nvGrpSpPr>
          <p:cNvPr name="Group 14" id="14"/>
          <p:cNvGrpSpPr/>
          <p:nvPr/>
        </p:nvGrpSpPr>
        <p:grpSpPr>
          <a:xfrm rot="0">
            <a:off x="16038195" y="2253615"/>
            <a:ext cx="1184367" cy="1184367"/>
            <a:chOff x="0" y="0"/>
            <a:chExt cx="1579156" cy="157915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579118" cy="1579118"/>
            </a:xfrm>
            <a:custGeom>
              <a:avLst/>
              <a:gdLst/>
              <a:ahLst/>
              <a:cxnLst/>
              <a:rect r="r" b="b" t="t" l="l"/>
              <a:pathLst>
                <a:path h="1579118" w="1579118">
                  <a:moveTo>
                    <a:pt x="0" y="0"/>
                  </a:moveTo>
                  <a:lnTo>
                    <a:pt x="1579118" y="0"/>
                  </a:lnTo>
                  <a:lnTo>
                    <a:pt x="1579118" y="1579118"/>
                  </a:lnTo>
                  <a:lnTo>
                    <a:pt x="0" y="1579118"/>
                  </a:lnTo>
                  <a:close/>
                </a:path>
              </a:pathLst>
            </a:custGeom>
            <a:solidFill>
              <a:srgbClr val="1C2B4A">
                <a:alpha val="20000"/>
              </a:srgbClr>
            </a:solidFill>
            <a:ln w="19050" cap="sq">
              <a:solidFill>
                <a:srgbClr val="2A3B5C"/>
              </a:solidFill>
              <a:prstDash val="solid"/>
              <a:miter/>
            </a:ln>
          </p:spPr>
        </p:sp>
      </p:grpSp>
      <p:grpSp>
        <p:nvGrpSpPr>
          <p:cNvPr name="Group 16" id="16"/>
          <p:cNvGrpSpPr/>
          <p:nvPr/>
        </p:nvGrpSpPr>
        <p:grpSpPr>
          <a:xfrm rot="0">
            <a:off x="146685" y="573676"/>
            <a:ext cx="1576797" cy="1576797"/>
            <a:chOff x="0" y="0"/>
            <a:chExt cx="2102396" cy="2102396"/>
          </a:xfrm>
        </p:grpSpPr>
        <p:sp>
          <p:nvSpPr>
            <p:cNvPr name="Freeform 17" id="17"/>
            <p:cNvSpPr/>
            <p:nvPr/>
          </p:nvSpPr>
          <p:spPr>
            <a:xfrm flipH="false" flipV="false" rot="0">
              <a:off x="0" y="0"/>
              <a:ext cx="2102358" cy="2102358"/>
            </a:xfrm>
            <a:custGeom>
              <a:avLst/>
              <a:gdLst/>
              <a:ahLst/>
              <a:cxnLst/>
              <a:rect r="r" b="b" t="t" l="l"/>
              <a:pathLst>
                <a:path h="2102358" w="2102358">
                  <a:moveTo>
                    <a:pt x="0" y="1051179"/>
                  </a:moveTo>
                  <a:cubicBezTo>
                    <a:pt x="0" y="470662"/>
                    <a:pt x="470662" y="0"/>
                    <a:pt x="1051179" y="0"/>
                  </a:cubicBezTo>
                  <a:cubicBezTo>
                    <a:pt x="1631696" y="0"/>
                    <a:pt x="2102358" y="470662"/>
                    <a:pt x="2102358" y="1051179"/>
                  </a:cubicBezTo>
                  <a:cubicBezTo>
                    <a:pt x="2102358" y="1631696"/>
                    <a:pt x="1631696" y="2102358"/>
                    <a:pt x="1051179" y="2102358"/>
                  </a:cubicBezTo>
                  <a:cubicBezTo>
                    <a:pt x="470662" y="2102358"/>
                    <a:pt x="0" y="1631823"/>
                    <a:pt x="0" y="105117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18" id="18"/>
          <p:cNvGrpSpPr/>
          <p:nvPr/>
        </p:nvGrpSpPr>
        <p:grpSpPr>
          <a:xfrm rot="0">
            <a:off x="525228" y="952219"/>
            <a:ext cx="819722" cy="819722"/>
            <a:chOff x="0" y="0"/>
            <a:chExt cx="1092962" cy="1092962"/>
          </a:xfrm>
        </p:grpSpPr>
        <p:sp>
          <p:nvSpPr>
            <p:cNvPr name="Freeform 19" id="19" descr="/tmp/claude-1000/-media-hung-Work-Project-AI-Engineer-RL-contra-PPO/70c7dc7d-8f3f-4139-8f25-95b0e9e6dca5/scratchpad/build/icons/gamepad.png"/>
            <p:cNvSpPr/>
            <p:nvPr/>
          </p:nvSpPr>
          <p:spPr>
            <a:xfrm flipH="false" flipV="false" rot="0">
              <a:off x="0" y="0"/>
              <a:ext cx="1092962" cy="1092962"/>
            </a:xfrm>
            <a:custGeom>
              <a:avLst/>
              <a:gdLst/>
              <a:ahLst/>
              <a:cxnLst/>
              <a:rect r="r" b="b" t="t" l="l"/>
              <a:pathLst>
                <a:path h="1092962" w="1092962">
                  <a:moveTo>
                    <a:pt x="0" y="0"/>
                  </a:moveTo>
                  <a:lnTo>
                    <a:pt x="1092962" y="0"/>
                  </a:lnTo>
                  <a:lnTo>
                    <a:pt x="1092962" y="1092962"/>
                  </a:lnTo>
                  <a:lnTo>
                    <a:pt x="0" y="1092962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 l="0" t="0" r="0" b="0"/>
              </a:stretch>
            </a:blip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2066925" y="436516"/>
            <a:ext cx="13715457" cy="1508217"/>
            <a:chOff x="0" y="0"/>
            <a:chExt cx="18287276" cy="201095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8287281" cy="2010960"/>
            </a:xfrm>
            <a:custGeom>
              <a:avLst/>
              <a:gdLst/>
              <a:ahLst/>
              <a:cxnLst/>
              <a:rect r="r" b="b" t="t" l="l"/>
              <a:pathLst>
                <a:path h="2010960" w="18287281">
                  <a:moveTo>
                    <a:pt x="0" y="0"/>
                  </a:moveTo>
                  <a:lnTo>
                    <a:pt x="18287281" y="0"/>
                  </a:lnTo>
                  <a:lnTo>
                    <a:pt x="18287281" y="2010960"/>
                  </a:lnTo>
                  <a:lnTo>
                    <a:pt x="0" y="2010960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27193" r="0" b="-127193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19050"/>
              <a:ext cx="18287276" cy="20300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9720"/>
                </a:lnSpc>
              </a:pPr>
              <a:r>
                <a:rPr lang="en-US" b="true" sz="8100" spc="-1">
                  <a:solidFill>
                    <a:srgbClr val="E5E9F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CONTRA-PPO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2107968" y="1813348"/>
            <a:ext cx="8236839" cy="1086277"/>
            <a:chOff x="0" y="0"/>
            <a:chExt cx="10982452" cy="144837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982456" cy="1448374"/>
            </a:xfrm>
            <a:custGeom>
              <a:avLst/>
              <a:gdLst/>
              <a:ahLst/>
              <a:cxnLst/>
              <a:rect r="r" b="b" t="t" l="l"/>
              <a:pathLst>
                <a:path h="1448374" w="10982456">
                  <a:moveTo>
                    <a:pt x="0" y="0"/>
                  </a:moveTo>
                  <a:lnTo>
                    <a:pt x="10982456" y="0"/>
                  </a:lnTo>
                  <a:lnTo>
                    <a:pt x="10982456" y="1448374"/>
                  </a:lnTo>
                  <a:lnTo>
                    <a:pt x="0" y="144837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203244" r="-63183" b="-178953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66675"/>
              <a:ext cx="10982452" cy="15150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719"/>
                </a:lnSpc>
              </a:pPr>
              <a:r>
                <a:rPr lang="en-US" sz="309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Reinforcement Learning Agent that Plays Contra with Proximal Policy Optimization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2107968" y="3042556"/>
            <a:ext cx="753837" cy="81544"/>
            <a:chOff x="0" y="0"/>
            <a:chExt cx="1005116" cy="108725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005078" cy="108712"/>
            </a:xfrm>
            <a:custGeom>
              <a:avLst/>
              <a:gdLst/>
              <a:ahLst/>
              <a:cxnLst/>
              <a:rect r="r" b="b" t="t" l="l"/>
              <a:pathLst>
                <a:path h="108712" w="1005078">
                  <a:moveTo>
                    <a:pt x="0" y="0"/>
                  </a:moveTo>
                  <a:lnTo>
                    <a:pt x="1005078" y="0"/>
                  </a:lnTo>
                  <a:lnTo>
                    <a:pt x="1005078" y="108712"/>
                  </a:lnTo>
                  <a:lnTo>
                    <a:pt x="0" y="108712"/>
                  </a:lnTo>
                  <a:close/>
                </a:path>
              </a:pathLst>
            </a:custGeom>
            <a:solidFill>
              <a:srgbClr val="FFB703"/>
            </a:solid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2107968" y="3522616"/>
            <a:ext cx="13029657" cy="548100"/>
            <a:chOff x="0" y="0"/>
            <a:chExt cx="17372876" cy="730800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17372881" cy="730804"/>
            </a:xfrm>
            <a:custGeom>
              <a:avLst/>
              <a:gdLst/>
              <a:ahLst/>
              <a:cxnLst/>
              <a:rect r="r" b="b" t="t" l="l"/>
              <a:pathLst>
                <a:path h="730804" w="17372881">
                  <a:moveTo>
                    <a:pt x="0" y="0"/>
                  </a:moveTo>
                  <a:lnTo>
                    <a:pt x="17372881" y="0"/>
                  </a:lnTo>
                  <a:lnTo>
                    <a:pt x="17372881" y="730804"/>
                  </a:lnTo>
                  <a:lnTo>
                    <a:pt x="0" y="73080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413204" r="0" b="-413203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47625"/>
              <a:ext cx="17372876" cy="7784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59"/>
                </a:lnSpc>
              </a:pPr>
              <a:r>
                <a:rPr lang="en-US" b="true" sz="2549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Gymnasium</a:t>
              </a:r>
              <a:r>
                <a:rPr lang="en-US" sz="254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·   </a:t>
              </a:r>
              <a:r>
                <a:rPr lang="en-US" b="true" sz="2549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PyTorch</a:t>
              </a:r>
              <a:r>
                <a:rPr lang="en-US" sz="254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·   </a:t>
              </a:r>
              <a:r>
                <a:rPr lang="en-US" b="true" sz="2549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Stable-Baselines3</a:t>
              </a:r>
              <a:r>
                <a:rPr lang="en-US" sz="254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   ·   </a:t>
              </a:r>
              <a:r>
                <a:rPr lang="en-US" b="true" sz="2549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nes-py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12796923" y="9258300"/>
            <a:ext cx="4662897" cy="479520"/>
            <a:chOff x="0" y="0"/>
            <a:chExt cx="6217196" cy="63936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6217200" cy="639364"/>
            </a:xfrm>
            <a:custGeom>
              <a:avLst/>
              <a:gdLst/>
              <a:ahLst/>
              <a:cxnLst/>
              <a:rect r="r" b="b" t="t" l="l"/>
              <a:pathLst>
                <a:path h="639364" w="6217200">
                  <a:moveTo>
                    <a:pt x="0" y="0"/>
                  </a:moveTo>
                  <a:lnTo>
                    <a:pt x="6217200" y="0"/>
                  </a:lnTo>
                  <a:lnTo>
                    <a:pt x="621720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4">
                <a:alphaModFix amt="0"/>
              </a:blip>
              <a:stretch>
                <a:fillRect l="0" t="-139473" r="0" b="-139472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38100"/>
              <a:ext cx="6217196" cy="677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2160"/>
                </a:lnSpc>
              </a:pPr>
              <a:r>
                <a:rPr lang="en-US" sz="1800" spc="-1" u="sng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  <a:hlinkClick r:id="rId5" tooltip="https://github.com/pikamanh/contra-PPO"/>
                </a:rPr>
                <a:t>github.com/pikamanh</a:t>
              </a:r>
            </a:p>
          </p:txBody>
        </p:sp>
      </p:grpSp>
      <p:graphicFrame>
        <p:nvGraphicFramePr>
          <p:cNvPr name="Table 34" id="34"/>
          <p:cNvGraphicFramePr>
            <a:graphicFrameLocks noGrp="true"/>
          </p:cNvGraphicFramePr>
          <p:nvPr/>
        </p:nvGraphicFramePr>
        <p:xfrm>
          <a:off x="4896567" y="5881979"/>
          <a:ext cx="8490293" cy="3295650"/>
        </p:xfrm>
        <a:graphic>
          <a:graphicData uri="http://schemas.openxmlformats.org/drawingml/2006/table">
            <a:tbl>
              <a:tblPr/>
              <a:tblGrid>
                <a:gridCol w="4765447"/>
                <a:gridCol w="3724846"/>
              </a:tblGrid>
              <a:tr h="109855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sz="3299" b="true">
                          <a:solidFill>
                            <a:srgbClr val="E5E9F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Name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b="true" sz="3299">
                          <a:solidFill>
                            <a:srgbClr val="E5E9F0"/>
                          </a:solidFill>
                          <a:latin typeface="Calibri (MS) Bold"/>
                          <a:ea typeface="Calibri (MS) Bold"/>
                          <a:cs typeface="Calibri (MS) Bold"/>
                          <a:sym typeface="Calibri (MS) Bold"/>
                        </a:rPr>
                        <a:t>MSSV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855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sz="3299">
                          <a:solidFill>
                            <a:srgbClr val="E5E9F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Lại Hoàng Minh Phúc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 marL="0" indent="0" lvl="0">
                        <a:lnSpc>
                          <a:spcPts val="4619"/>
                        </a:lnSpc>
                        <a:spcBef>
                          <a:spcPct val="0"/>
                        </a:spcBef>
                        <a:defRPr/>
                      </a:pPr>
                      <a:r>
                        <a:rPr lang="en-US" sz="3299" strike="noStrike" u="none">
                          <a:solidFill>
                            <a:srgbClr val="E5E9F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SE184914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1098550"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sz="3299">
                          <a:solidFill>
                            <a:srgbClr val="E5E9F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Nguyễn Mạnh Hưng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 anchor="t" rtlCol="false"/>
                    <a:lstStyle/>
                    <a:p>
                      <a:pPr algn="ctr">
                        <a:lnSpc>
                          <a:spcPts val="4619"/>
                        </a:lnSpc>
                        <a:defRPr/>
                      </a:pPr>
                      <a:r>
                        <a:rPr lang="en-US" sz="3299">
                          <a:solidFill>
                            <a:srgbClr val="E5E9F0"/>
                          </a:solidFill>
                          <a:latin typeface="Calibri (MS)"/>
                          <a:ea typeface="Calibri (MS)"/>
                          <a:cs typeface="Calibri (MS)"/>
                          <a:sym typeface="Calibri (MS)"/>
                        </a:rPr>
                        <a:t>SE184693</a:t>
                      </a:r>
                      <a:endParaRPr lang="en-US" sz="1100"/>
                    </a:p>
                  </a:txBody>
                  <a:tcPr marL="190500" marR="190500" marT="190500" marB="190500" anchor="ctr">
                    <a:lnL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cmpd="sng" algn="ctr" cap="flat" w="38100">
                      <a:solidFill>
                        <a:srgbClr val="00000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480060"/>
            <a:ext cx="10972257" cy="410937"/>
            <a:chOff x="0" y="0"/>
            <a:chExt cx="14629676" cy="5479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29681" cy="547920"/>
            </a:xfrm>
            <a:custGeom>
              <a:avLst/>
              <a:gdLst/>
              <a:ahLst/>
              <a:cxnLst/>
              <a:rect r="r" b="b" t="t" l="l"/>
              <a:pathLst>
                <a:path h="547920" w="14629681">
                  <a:moveTo>
                    <a:pt x="0" y="0"/>
                  </a:moveTo>
                  <a:lnTo>
                    <a:pt x="14629681" y="0"/>
                  </a:lnTo>
                  <a:lnTo>
                    <a:pt x="14629681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0258" r="0" b="-47025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29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98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THE PROBLEM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850497"/>
            <a:ext cx="15910017" cy="959577"/>
            <a:chOff x="0" y="0"/>
            <a:chExt cx="21213356" cy="12794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213359" cy="1279440"/>
            </a:xfrm>
            <a:custGeom>
              <a:avLst/>
              <a:gdLst/>
              <a:ahLst/>
              <a:cxnLst/>
              <a:rect r="r" b="b" t="t" l="l"/>
              <a:pathLst>
                <a:path h="1279440" w="21213359">
                  <a:moveTo>
                    <a:pt x="0" y="0"/>
                  </a:moveTo>
                  <a:lnTo>
                    <a:pt x="21213359" y="0"/>
                  </a:lnTo>
                  <a:lnTo>
                    <a:pt x="21213359" y="1279440"/>
                  </a:lnTo>
                  <a:lnTo>
                    <a:pt x="0" y="1279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65" r="0" b="-27306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213356" cy="12984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 spc="-1">
                  <a:solidFill>
                    <a:srgbClr val="E5E9F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Contra: a side-scrolling shooter with a large action space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2400300"/>
            <a:ext cx="7611837" cy="1782537"/>
            <a:chOff x="0" y="0"/>
            <a:chExt cx="10149116" cy="237671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149205" cy="2376805"/>
            </a:xfrm>
            <a:custGeom>
              <a:avLst/>
              <a:gdLst/>
              <a:ahLst/>
              <a:cxnLst/>
              <a:rect r="r" b="b" t="t" l="l"/>
              <a:pathLst>
                <a:path h="2376805" w="10149205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002901" y="0"/>
                  </a:lnTo>
                  <a:cubicBezTo>
                    <a:pt x="10083673" y="0"/>
                    <a:pt x="10149205" y="65532"/>
                    <a:pt x="10149205" y="146304"/>
                  </a:cubicBezTo>
                  <a:lnTo>
                    <a:pt x="10149205" y="2230501"/>
                  </a:lnTo>
                  <a:cubicBezTo>
                    <a:pt x="10149205" y="2311273"/>
                    <a:pt x="10083673" y="2376805"/>
                    <a:pt x="10002901" y="2376805"/>
                  </a:cubicBezTo>
                  <a:lnTo>
                    <a:pt x="146304" y="2376805"/>
                  </a:lnTo>
                  <a:cubicBezTo>
                    <a:pt x="65532" y="2376678"/>
                    <a:pt x="0" y="2311273"/>
                    <a:pt x="0" y="2230501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24817" y="2743200"/>
            <a:ext cx="1096737" cy="1096737"/>
            <a:chOff x="0" y="0"/>
            <a:chExt cx="1462316" cy="14623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62278" cy="1462278"/>
            </a:xfrm>
            <a:custGeom>
              <a:avLst/>
              <a:gdLst/>
              <a:ahLst/>
              <a:cxnLst/>
              <a:rect r="r" b="b" t="t" l="l"/>
              <a:pathLst>
                <a:path h="1462278" w="1462278">
                  <a:moveTo>
                    <a:pt x="0" y="731139"/>
                  </a:moveTo>
                  <a:cubicBezTo>
                    <a:pt x="0" y="327406"/>
                    <a:pt x="327406" y="0"/>
                    <a:pt x="731139" y="0"/>
                  </a:cubicBezTo>
                  <a:cubicBezTo>
                    <a:pt x="1134872" y="0"/>
                    <a:pt x="1462278" y="327406"/>
                    <a:pt x="1462278" y="731139"/>
                  </a:cubicBezTo>
                  <a:cubicBezTo>
                    <a:pt x="1462278" y="1134872"/>
                    <a:pt x="1134872" y="1462278"/>
                    <a:pt x="731139" y="1462278"/>
                  </a:cubicBezTo>
                  <a:cubicBezTo>
                    <a:pt x="327406" y="1462278"/>
                    <a:pt x="0" y="1134999"/>
                    <a:pt x="0" y="73113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87802" y="3006719"/>
            <a:ext cx="570243" cy="570243"/>
            <a:chOff x="0" y="0"/>
            <a:chExt cx="760324" cy="760324"/>
          </a:xfrm>
        </p:grpSpPr>
        <p:sp>
          <p:nvSpPr>
            <p:cNvPr name="Freeform 13" id="13" descr="/tmp/claude-1000/-media-hung-Work-Project-AI-Engineer-RL-contra-PPO/70c7dc7d-8f3f-4139-8f25-95b0e9e6dca5/scratchpad/build/icons/crosshair.png"/>
            <p:cNvSpPr/>
            <p:nvPr/>
          </p:nvSpPr>
          <p:spPr>
            <a:xfrm flipH="false" flipV="false" rot="0">
              <a:off x="0" y="0"/>
              <a:ext cx="760349" cy="760349"/>
            </a:xfrm>
            <a:custGeom>
              <a:avLst/>
              <a:gdLst/>
              <a:ahLst/>
              <a:cxnLst/>
              <a:rect r="r" b="b" t="t" l="l"/>
              <a:pathLst>
                <a:path h="760349" w="760349">
                  <a:moveTo>
                    <a:pt x="0" y="0"/>
                  </a:moveTo>
                  <a:lnTo>
                    <a:pt x="760349" y="0"/>
                  </a:lnTo>
                  <a:lnTo>
                    <a:pt x="760349" y="760349"/>
                  </a:lnTo>
                  <a:lnTo>
                    <a:pt x="0" y="7603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3" b="3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468880" y="2647083"/>
            <a:ext cx="5691597" cy="548097"/>
            <a:chOff x="0" y="0"/>
            <a:chExt cx="7588796" cy="73079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588800" cy="730800"/>
            </a:xfrm>
            <a:custGeom>
              <a:avLst/>
              <a:gdLst/>
              <a:ahLst/>
              <a:cxnLst/>
              <a:rect r="r" b="b" t="t" l="l"/>
              <a:pathLst>
                <a:path h="730800" w="7588800">
                  <a:moveTo>
                    <a:pt x="0" y="0"/>
                  </a:moveTo>
                  <a:lnTo>
                    <a:pt x="7588800" y="0"/>
                  </a:lnTo>
                  <a:lnTo>
                    <a:pt x="7588800" y="730800"/>
                  </a:lnTo>
                  <a:lnTo>
                    <a:pt x="0" y="730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2337" r="0" b="-152336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7588796" cy="78794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b="true" sz="2250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Terrain navigation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468880" y="3195723"/>
            <a:ext cx="5691597" cy="891000"/>
            <a:chOff x="0" y="0"/>
            <a:chExt cx="7588796" cy="118800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7588800" cy="1188004"/>
            </a:xfrm>
            <a:custGeom>
              <a:avLst/>
              <a:gdLst/>
              <a:ahLst/>
              <a:cxnLst/>
              <a:rect r="r" b="b" t="t" l="l"/>
              <a:pathLst>
                <a:path h="1188004" w="7588800">
                  <a:moveTo>
                    <a:pt x="0" y="0"/>
                  </a:moveTo>
                  <a:lnTo>
                    <a:pt x="7588800" y="0"/>
                  </a:lnTo>
                  <a:lnTo>
                    <a:pt x="7588800" y="1188004"/>
                  </a:lnTo>
                  <a:lnTo>
                    <a:pt x="0" y="11880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4467" r="0" b="-74467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57150"/>
              <a:ext cx="7588796" cy="12451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2"/>
                </a:lnSpc>
              </a:pPr>
              <a:r>
                <a:rPr lang="en-US" sz="202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Climb, jump, and dodge obstacles while the screen auto-scrolls in real time.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121140" y="2400300"/>
            <a:ext cx="7611837" cy="1782537"/>
            <a:chOff x="0" y="0"/>
            <a:chExt cx="10149116" cy="237671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149205" cy="2376805"/>
            </a:xfrm>
            <a:custGeom>
              <a:avLst/>
              <a:gdLst/>
              <a:ahLst/>
              <a:cxnLst/>
              <a:rect r="r" b="b" t="t" l="l"/>
              <a:pathLst>
                <a:path h="2376805" w="10149205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002901" y="0"/>
                  </a:lnTo>
                  <a:cubicBezTo>
                    <a:pt x="10083673" y="0"/>
                    <a:pt x="10149205" y="65532"/>
                    <a:pt x="10149205" y="146304"/>
                  </a:cubicBezTo>
                  <a:lnTo>
                    <a:pt x="10149205" y="2230501"/>
                  </a:lnTo>
                  <a:cubicBezTo>
                    <a:pt x="10149205" y="2311273"/>
                    <a:pt x="10083673" y="2376805"/>
                    <a:pt x="10002901" y="2376805"/>
                  </a:cubicBezTo>
                  <a:lnTo>
                    <a:pt x="146304" y="2376805"/>
                  </a:lnTo>
                  <a:cubicBezTo>
                    <a:pt x="65532" y="2376678"/>
                    <a:pt x="0" y="2311273"/>
                    <a:pt x="0" y="2230501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9422997" y="2743200"/>
            <a:ext cx="1096737" cy="1096737"/>
            <a:chOff x="0" y="0"/>
            <a:chExt cx="1462316" cy="146231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462278" cy="1462278"/>
            </a:xfrm>
            <a:custGeom>
              <a:avLst/>
              <a:gdLst/>
              <a:ahLst/>
              <a:cxnLst/>
              <a:rect r="r" b="b" t="t" l="l"/>
              <a:pathLst>
                <a:path h="1462278" w="1462278">
                  <a:moveTo>
                    <a:pt x="0" y="731139"/>
                  </a:moveTo>
                  <a:cubicBezTo>
                    <a:pt x="0" y="327406"/>
                    <a:pt x="327406" y="0"/>
                    <a:pt x="731139" y="0"/>
                  </a:cubicBezTo>
                  <a:cubicBezTo>
                    <a:pt x="1134872" y="0"/>
                    <a:pt x="1462278" y="327406"/>
                    <a:pt x="1462278" y="731139"/>
                  </a:cubicBezTo>
                  <a:cubicBezTo>
                    <a:pt x="1462278" y="1134872"/>
                    <a:pt x="1134872" y="1462278"/>
                    <a:pt x="731139" y="1462278"/>
                  </a:cubicBezTo>
                  <a:cubicBezTo>
                    <a:pt x="327406" y="1462278"/>
                    <a:pt x="0" y="1134999"/>
                    <a:pt x="0" y="73113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9685982" y="3006719"/>
            <a:ext cx="570243" cy="570243"/>
            <a:chOff x="0" y="0"/>
            <a:chExt cx="760324" cy="760324"/>
          </a:xfrm>
        </p:grpSpPr>
        <p:sp>
          <p:nvSpPr>
            <p:cNvPr name="Freeform 25" id="25" descr="/tmp/claude-1000/-media-hung-Work-Project-AI-Engineer-RL-contra-PPO/70c7dc7d-8f3f-4139-8f25-95b0e9e6dca5/scratchpad/build/icons/crosshair.png"/>
            <p:cNvSpPr/>
            <p:nvPr/>
          </p:nvSpPr>
          <p:spPr>
            <a:xfrm flipH="false" flipV="false" rot="0">
              <a:off x="0" y="0"/>
              <a:ext cx="760349" cy="760349"/>
            </a:xfrm>
            <a:custGeom>
              <a:avLst/>
              <a:gdLst/>
              <a:ahLst/>
              <a:cxnLst/>
              <a:rect r="r" b="b" t="t" l="l"/>
              <a:pathLst>
                <a:path h="760349" w="760349">
                  <a:moveTo>
                    <a:pt x="0" y="0"/>
                  </a:moveTo>
                  <a:lnTo>
                    <a:pt x="760349" y="0"/>
                  </a:lnTo>
                  <a:lnTo>
                    <a:pt x="760349" y="760349"/>
                  </a:lnTo>
                  <a:lnTo>
                    <a:pt x="0" y="7603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3" b="3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0767060" y="2647083"/>
            <a:ext cx="5691597" cy="548097"/>
            <a:chOff x="0" y="0"/>
            <a:chExt cx="7588796" cy="730796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7588800" cy="730800"/>
            </a:xfrm>
            <a:custGeom>
              <a:avLst/>
              <a:gdLst/>
              <a:ahLst/>
              <a:cxnLst/>
              <a:rect r="r" b="b" t="t" l="l"/>
              <a:pathLst>
                <a:path h="730800" w="7588800">
                  <a:moveTo>
                    <a:pt x="0" y="0"/>
                  </a:moveTo>
                  <a:lnTo>
                    <a:pt x="7588800" y="0"/>
                  </a:lnTo>
                  <a:lnTo>
                    <a:pt x="7588800" y="730800"/>
                  </a:lnTo>
                  <a:lnTo>
                    <a:pt x="0" y="730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2337" r="0" b="-152336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57150"/>
              <a:ext cx="7588796" cy="78794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b="true" sz="2250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Dodging attacks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0767060" y="3195723"/>
            <a:ext cx="5691597" cy="891000"/>
            <a:chOff x="0" y="0"/>
            <a:chExt cx="7588796" cy="11880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7588800" cy="1188004"/>
            </a:xfrm>
            <a:custGeom>
              <a:avLst/>
              <a:gdLst/>
              <a:ahLst/>
              <a:cxnLst/>
              <a:rect r="r" b="b" t="t" l="l"/>
              <a:pathLst>
                <a:path h="1188004" w="7588800">
                  <a:moveTo>
                    <a:pt x="0" y="0"/>
                  </a:moveTo>
                  <a:lnTo>
                    <a:pt x="7588800" y="0"/>
                  </a:lnTo>
                  <a:lnTo>
                    <a:pt x="7588800" y="1188004"/>
                  </a:lnTo>
                  <a:lnTo>
                    <a:pt x="0" y="11880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4467" r="0" b="-74467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57150"/>
              <a:ext cx="7588796" cy="12451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2"/>
                </a:lnSpc>
              </a:pPr>
              <a:r>
                <a:rPr lang="en-US" sz="202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Bullets and enemies spawn continuously, with no fixed pattern across playthroughs.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822960" y="4526280"/>
            <a:ext cx="7611837" cy="1782537"/>
            <a:chOff x="0" y="0"/>
            <a:chExt cx="10149116" cy="237671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149205" cy="2376805"/>
            </a:xfrm>
            <a:custGeom>
              <a:avLst/>
              <a:gdLst/>
              <a:ahLst/>
              <a:cxnLst/>
              <a:rect r="r" b="b" t="t" l="l"/>
              <a:pathLst>
                <a:path h="2376805" w="10149205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002901" y="0"/>
                  </a:lnTo>
                  <a:cubicBezTo>
                    <a:pt x="10083673" y="0"/>
                    <a:pt x="10149205" y="65532"/>
                    <a:pt x="10149205" y="146304"/>
                  </a:cubicBezTo>
                  <a:lnTo>
                    <a:pt x="10149205" y="2230501"/>
                  </a:lnTo>
                  <a:cubicBezTo>
                    <a:pt x="10149205" y="2311273"/>
                    <a:pt x="10083673" y="2376805"/>
                    <a:pt x="10002901" y="2376805"/>
                  </a:cubicBezTo>
                  <a:lnTo>
                    <a:pt x="146304" y="2376805"/>
                  </a:lnTo>
                  <a:cubicBezTo>
                    <a:pt x="65532" y="2376678"/>
                    <a:pt x="0" y="2311273"/>
                    <a:pt x="0" y="2230501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124817" y="4869180"/>
            <a:ext cx="1096737" cy="1096737"/>
            <a:chOff x="0" y="0"/>
            <a:chExt cx="1462316" cy="146231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462278" cy="1462278"/>
            </a:xfrm>
            <a:custGeom>
              <a:avLst/>
              <a:gdLst/>
              <a:ahLst/>
              <a:cxnLst/>
              <a:rect r="r" b="b" t="t" l="l"/>
              <a:pathLst>
                <a:path h="1462278" w="1462278">
                  <a:moveTo>
                    <a:pt x="0" y="731139"/>
                  </a:moveTo>
                  <a:cubicBezTo>
                    <a:pt x="0" y="327406"/>
                    <a:pt x="327406" y="0"/>
                    <a:pt x="731139" y="0"/>
                  </a:cubicBezTo>
                  <a:cubicBezTo>
                    <a:pt x="1134872" y="0"/>
                    <a:pt x="1462278" y="327406"/>
                    <a:pt x="1462278" y="731139"/>
                  </a:cubicBezTo>
                  <a:cubicBezTo>
                    <a:pt x="1462278" y="1134872"/>
                    <a:pt x="1134872" y="1462278"/>
                    <a:pt x="731139" y="1462278"/>
                  </a:cubicBezTo>
                  <a:cubicBezTo>
                    <a:pt x="327406" y="1462278"/>
                    <a:pt x="0" y="1134999"/>
                    <a:pt x="0" y="73113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387802" y="5132699"/>
            <a:ext cx="570243" cy="570243"/>
            <a:chOff x="0" y="0"/>
            <a:chExt cx="760324" cy="760324"/>
          </a:xfrm>
        </p:grpSpPr>
        <p:sp>
          <p:nvSpPr>
            <p:cNvPr name="Freeform 37" id="37" descr="/tmp/claude-1000/-media-hung-Work-Project-AI-Engineer-RL-contra-PPO/70c7dc7d-8f3f-4139-8f25-95b0e9e6dca5/scratchpad/build/icons/crosshair.png"/>
            <p:cNvSpPr/>
            <p:nvPr/>
          </p:nvSpPr>
          <p:spPr>
            <a:xfrm flipH="false" flipV="false" rot="0">
              <a:off x="0" y="0"/>
              <a:ext cx="760349" cy="760349"/>
            </a:xfrm>
            <a:custGeom>
              <a:avLst/>
              <a:gdLst/>
              <a:ahLst/>
              <a:cxnLst/>
              <a:rect r="r" b="b" t="t" l="l"/>
              <a:pathLst>
                <a:path h="760349" w="760349">
                  <a:moveTo>
                    <a:pt x="0" y="0"/>
                  </a:moveTo>
                  <a:lnTo>
                    <a:pt x="760349" y="0"/>
                  </a:lnTo>
                  <a:lnTo>
                    <a:pt x="760349" y="760349"/>
                  </a:lnTo>
                  <a:lnTo>
                    <a:pt x="0" y="7603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3" b="3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2468880" y="4773063"/>
            <a:ext cx="5691597" cy="548097"/>
            <a:chOff x="0" y="0"/>
            <a:chExt cx="7588796" cy="73079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7588800" cy="730800"/>
            </a:xfrm>
            <a:custGeom>
              <a:avLst/>
              <a:gdLst/>
              <a:ahLst/>
              <a:cxnLst/>
              <a:rect r="r" b="b" t="t" l="l"/>
              <a:pathLst>
                <a:path h="730800" w="7588800">
                  <a:moveTo>
                    <a:pt x="0" y="0"/>
                  </a:moveTo>
                  <a:lnTo>
                    <a:pt x="7588800" y="0"/>
                  </a:lnTo>
                  <a:lnTo>
                    <a:pt x="7588800" y="730800"/>
                  </a:lnTo>
                  <a:lnTo>
                    <a:pt x="0" y="730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2337" r="0" b="-152336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57150"/>
              <a:ext cx="7588796" cy="78794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b="true" sz="2250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Defeating enemies &amp; bosses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2468880" y="5321703"/>
            <a:ext cx="5691597" cy="891000"/>
            <a:chOff x="0" y="0"/>
            <a:chExt cx="7588796" cy="118800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7588800" cy="1188004"/>
            </a:xfrm>
            <a:custGeom>
              <a:avLst/>
              <a:gdLst/>
              <a:ahLst/>
              <a:cxnLst/>
              <a:rect r="r" b="b" t="t" l="l"/>
              <a:pathLst>
                <a:path h="1188004" w="7588800">
                  <a:moveTo>
                    <a:pt x="0" y="0"/>
                  </a:moveTo>
                  <a:lnTo>
                    <a:pt x="7588800" y="0"/>
                  </a:lnTo>
                  <a:lnTo>
                    <a:pt x="7588800" y="1188004"/>
                  </a:lnTo>
                  <a:lnTo>
                    <a:pt x="0" y="11880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4467" r="0" b="-74467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57150"/>
              <a:ext cx="7588796" cy="12451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2"/>
                </a:lnSpc>
              </a:pPr>
              <a:r>
                <a:rPr lang="en-US" sz="202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Aiming accurately while still keeping up the pace of movement.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121140" y="4526280"/>
            <a:ext cx="7611837" cy="1782537"/>
            <a:chOff x="0" y="0"/>
            <a:chExt cx="10149116" cy="237671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149205" cy="2376805"/>
            </a:xfrm>
            <a:custGeom>
              <a:avLst/>
              <a:gdLst/>
              <a:ahLst/>
              <a:cxnLst/>
              <a:rect r="r" b="b" t="t" l="l"/>
              <a:pathLst>
                <a:path h="2376805" w="10149205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002901" y="0"/>
                  </a:lnTo>
                  <a:cubicBezTo>
                    <a:pt x="10083673" y="0"/>
                    <a:pt x="10149205" y="65532"/>
                    <a:pt x="10149205" y="146304"/>
                  </a:cubicBezTo>
                  <a:lnTo>
                    <a:pt x="10149205" y="2230501"/>
                  </a:lnTo>
                  <a:cubicBezTo>
                    <a:pt x="10149205" y="2311273"/>
                    <a:pt x="10083673" y="2376805"/>
                    <a:pt x="10002901" y="2376805"/>
                  </a:cubicBezTo>
                  <a:lnTo>
                    <a:pt x="146304" y="2376805"/>
                  </a:lnTo>
                  <a:cubicBezTo>
                    <a:pt x="65532" y="2376678"/>
                    <a:pt x="0" y="2311273"/>
                    <a:pt x="0" y="2230501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9422997" y="4869180"/>
            <a:ext cx="1096737" cy="1096737"/>
            <a:chOff x="0" y="0"/>
            <a:chExt cx="1462316" cy="146231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462278" cy="1462278"/>
            </a:xfrm>
            <a:custGeom>
              <a:avLst/>
              <a:gdLst/>
              <a:ahLst/>
              <a:cxnLst/>
              <a:rect r="r" b="b" t="t" l="l"/>
              <a:pathLst>
                <a:path h="1462278" w="1462278">
                  <a:moveTo>
                    <a:pt x="0" y="731139"/>
                  </a:moveTo>
                  <a:cubicBezTo>
                    <a:pt x="0" y="327406"/>
                    <a:pt x="327406" y="0"/>
                    <a:pt x="731139" y="0"/>
                  </a:cubicBezTo>
                  <a:cubicBezTo>
                    <a:pt x="1134872" y="0"/>
                    <a:pt x="1462278" y="327406"/>
                    <a:pt x="1462278" y="731139"/>
                  </a:cubicBezTo>
                  <a:cubicBezTo>
                    <a:pt x="1462278" y="1134872"/>
                    <a:pt x="1134872" y="1462278"/>
                    <a:pt x="731139" y="1462278"/>
                  </a:cubicBezTo>
                  <a:cubicBezTo>
                    <a:pt x="327406" y="1462278"/>
                    <a:pt x="0" y="1134999"/>
                    <a:pt x="0" y="73113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9685982" y="5132699"/>
            <a:ext cx="570243" cy="570243"/>
            <a:chOff x="0" y="0"/>
            <a:chExt cx="760324" cy="760324"/>
          </a:xfrm>
        </p:grpSpPr>
        <p:sp>
          <p:nvSpPr>
            <p:cNvPr name="Freeform 49" id="49" descr="/tmp/claude-1000/-media-hung-Work-Project-AI-Engineer-RL-contra-PPO/70c7dc7d-8f3f-4139-8f25-95b0e9e6dca5/scratchpad/build/icons/crosshair.png"/>
            <p:cNvSpPr/>
            <p:nvPr/>
          </p:nvSpPr>
          <p:spPr>
            <a:xfrm flipH="false" flipV="false" rot="0">
              <a:off x="0" y="0"/>
              <a:ext cx="760349" cy="760349"/>
            </a:xfrm>
            <a:custGeom>
              <a:avLst/>
              <a:gdLst/>
              <a:ahLst/>
              <a:cxnLst/>
              <a:rect r="r" b="b" t="t" l="l"/>
              <a:pathLst>
                <a:path h="760349" w="760349">
                  <a:moveTo>
                    <a:pt x="0" y="0"/>
                  </a:moveTo>
                  <a:lnTo>
                    <a:pt x="760349" y="0"/>
                  </a:lnTo>
                  <a:lnTo>
                    <a:pt x="760349" y="760349"/>
                  </a:lnTo>
                  <a:lnTo>
                    <a:pt x="0" y="7603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3" b="3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0767060" y="4773063"/>
            <a:ext cx="5691597" cy="548097"/>
            <a:chOff x="0" y="0"/>
            <a:chExt cx="7588796" cy="73079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7588800" cy="730800"/>
            </a:xfrm>
            <a:custGeom>
              <a:avLst/>
              <a:gdLst/>
              <a:ahLst/>
              <a:cxnLst/>
              <a:rect r="r" b="b" t="t" l="l"/>
              <a:pathLst>
                <a:path h="730800" w="7588800">
                  <a:moveTo>
                    <a:pt x="0" y="0"/>
                  </a:moveTo>
                  <a:lnTo>
                    <a:pt x="7588800" y="0"/>
                  </a:lnTo>
                  <a:lnTo>
                    <a:pt x="7588800" y="730800"/>
                  </a:lnTo>
                  <a:lnTo>
                    <a:pt x="0" y="730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2337" r="0" b="-152336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57150"/>
              <a:ext cx="7588796" cy="78794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b="true" sz="2250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Reaching the end of the stage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0767060" y="5321703"/>
            <a:ext cx="5691597" cy="891000"/>
            <a:chOff x="0" y="0"/>
            <a:chExt cx="7588796" cy="118800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7588800" cy="1188004"/>
            </a:xfrm>
            <a:custGeom>
              <a:avLst/>
              <a:gdLst/>
              <a:ahLst/>
              <a:cxnLst/>
              <a:rect r="r" b="b" t="t" l="l"/>
              <a:pathLst>
                <a:path h="1188004" w="7588800">
                  <a:moveTo>
                    <a:pt x="0" y="0"/>
                  </a:moveTo>
                  <a:lnTo>
                    <a:pt x="7588800" y="0"/>
                  </a:lnTo>
                  <a:lnTo>
                    <a:pt x="7588800" y="1188004"/>
                  </a:lnTo>
                  <a:lnTo>
                    <a:pt x="0" y="11880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4467" r="0" b="-74467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57150"/>
              <a:ext cx="7588796" cy="124515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72"/>
                </a:lnSpc>
              </a:pPr>
              <a:r>
                <a:rPr lang="en-US" sz="202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 long-horizon goal that requires hundreds of consecutive correct decisions.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822960" y="6926580"/>
            <a:ext cx="16636860" cy="2125437"/>
            <a:chOff x="0" y="0"/>
            <a:chExt cx="22182480" cy="2833916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22182582" cy="2834005"/>
            </a:xfrm>
            <a:custGeom>
              <a:avLst/>
              <a:gdLst/>
              <a:ahLst/>
              <a:cxnLst/>
              <a:rect r="r" b="b" t="t" l="l"/>
              <a:pathLst>
                <a:path h="2834005" w="22182582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2036278" y="0"/>
                  </a:lnTo>
                  <a:cubicBezTo>
                    <a:pt x="22117050" y="0"/>
                    <a:pt x="22182582" y="65532"/>
                    <a:pt x="22182582" y="146304"/>
                  </a:cubicBezTo>
                  <a:lnTo>
                    <a:pt x="22182582" y="2687701"/>
                  </a:lnTo>
                  <a:cubicBezTo>
                    <a:pt x="22182582" y="2768473"/>
                    <a:pt x="22117050" y="2834005"/>
                    <a:pt x="22036278" y="2834005"/>
                  </a:cubicBezTo>
                  <a:lnTo>
                    <a:pt x="146304" y="2834005"/>
                  </a:lnTo>
                  <a:cubicBezTo>
                    <a:pt x="65532" y="2833878"/>
                    <a:pt x="0" y="2768473"/>
                    <a:pt x="0" y="2687701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58" id="58"/>
          <p:cNvGrpSpPr/>
          <p:nvPr/>
        </p:nvGrpSpPr>
        <p:grpSpPr>
          <a:xfrm rot="0">
            <a:off x="1371600" y="7200900"/>
            <a:ext cx="15087057" cy="479517"/>
            <a:chOff x="0" y="0"/>
            <a:chExt cx="20116076" cy="639356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20116081" cy="639360"/>
            </a:xfrm>
            <a:custGeom>
              <a:avLst/>
              <a:gdLst/>
              <a:ahLst/>
              <a:cxnLst/>
              <a:rect r="r" b="b" t="t" l="l"/>
              <a:pathLst>
                <a:path h="639360" w="20116081">
                  <a:moveTo>
                    <a:pt x="0" y="0"/>
                  </a:moveTo>
                  <a:lnTo>
                    <a:pt x="20116081" y="0"/>
                  </a:lnTo>
                  <a:lnTo>
                    <a:pt x="20116081" y="639360"/>
                  </a:lnTo>
                  <a:lnTo>
                    <a:pt x="0" y="639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3054" r="0" b="-563054"/>
              </a:stretch>
            </a:blipFill>
          </p:spPr>
        </p:sp>
        <p:sp>
          <p:nvSpPr>
            <p:cNvPr name="TextBox 60" id="60"/>
            <p:cNvSpPr txBox="true"/>
            <p:nvPr/>
          </p:nvSpPr>
          <p:spPr>
            <a:xfrm>
              <a:off x="0" y="-47625"/>
              <a:ext cx="20116076" cy="6869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Why isn’t rule-based AI enough?</a:t>
              </a:r>
            </a:p>
          </p:txBody>
        </p:sp>
      </p:grpSp>
      <p:grpSp>
        <p:nvGrpSpPr>
          <p:cNvPr name="Group 61" id="61"/>
          <p:cNvGrpSpPr/>
          <p:nvPr/>
        </p:nvGrpSpPr>
        <p:grpSpPr>
          <a:xfrm rot="0">
            <a:off x="1371600" y="7680960"/>
            <a:ext cx="15498537" cy="1233900"/>
            <a:chOff x="0" y="0"/>
            <a:chExt cx="20664716" cy="1645200"/>
          </a:xfrm>
        </p:grpSpPr>
        <p:sp>
          <p:nvSpPr>
            <p:cNvPr name="Freeform 62" id="62"/>
            <p:cNvSpPr/>
            <p:nvPr/>
          </p:nvSpPr>
          <p:spPr>
            <a:xfrm flipH="false" flipV="false" rot="0">
              <a:off x="0" y="0"/>
              <a:ext cx="20664720" cy="1645204"/>
            </a:xfrm>
            <a:custGeom>
              <a:avLst/>
              <a:gdLst/>
              <a:ahLst/>
              <a:cxnLst/>
              <a:rect r="r" b="b" t="t" l="l"/>
              <a:pathLst>
                <a:path h="1645204" w="20664720">
                  <a:moveTo>
                    <a:pt x="0" y="0"/>
                  </a:moveTo>
                  <a:lnTo>
                    <a:pt x="20664720" y="0"/>
                  </a:lnTo>
                  <a:lnTo>
                    <a:pt x="20664720" y="1645204"/>
                  </a:lnTo>
                  <a:lnTo>
                    <a:pt x="0" y="16452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4743" r="0" b="-194743"/>
              </a:stretch>
            </a:blipFill>
          </p:spPr>
        </p:sp>
        <p:sp>
          <p:nvSpPr>
            <p:cNvPr name="TextBox 63" id="63"/>
            <p:cNvSpPr txBox="true"/>
            <p:nvPr/>
          </p:nvSpPr>
          <p:spPr>
            <a:xfrm>
              <a:off x="0" y="-85725"/>
              <a:ext cx="20664716" cy="17309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25"/>
                </a:lnSpc>
              </a:pPr>
              <a:r>
                <a:rPr lang="en-US" sz="1974" spc="-1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Enemy/scroll state changes continuously and randomly based on the game's RAM — a fixed set of if/else rules cannot cover the resulting space of situations. Contra-PPO uses Deep RL: the agent learns optimal behavior (movement, shooting, dodging) directly from interaction with the environment, instead of being hand-coded with rules.</a:t>
              </a:r>
            </a:p>
          </p:txBody>
        </p:sp>
      </p:grpSp>
      <p:grpSp>
        <p:nvGrpSpPr>
          <p:cNvPr name="Group 64" id="64"/>
          <p:cNvGrpSpPr/>
          <p:nvPr/>
        </p:nvGrpSpPr>
        <p:grpSpPr>
          <a:xfrm rot="0">
            <a:off x="685800" y="9710823"/>
            <a:ext cx="4114257" cy="410937"/>
            <a:chOff x="0" y="0"/>
            <a:chExt cx="5485676" cy="547916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5485680" cy="547920"/>
            </a:xfrm>
            <a:custGeom>
              <a:avLst/>
              <a:gdLst/>
              <a:ahLst/>
              <a:cxnLst/>
              <a:rect r="r" b="b" t="t" l="l"/>
              <a:pathLst>
                <a:path h="547920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081" r="0" b="-145080"/>
              </a:stretch>
            </a:blipFill>
          </p:spPr>
        </p:sp>
        <p:sp>
          <p:nvSpPr>
            <p:cNvPr name="TextBox 66" id="66"/>
            <p:cNvSpPr txBox="true"/>
            <p:nvPr/>
          </p:nvSpPr>
          <p:spPr>
            <a:xfrm>
              <a:off x="0" y="-38100"/>
              <a:ext cx="5485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Contra-PPO</a:t>
              </a:r>
            </a:p>
          </p:txBody>
        </p:sp>
      </p:grpSp>
      <p:grpSp>
        <p:nvGrpSpPr>
          <p:cNvPr name="Group 67" id="67"/>
          <p:cNvGrpSpPr/>
          <p:nvPr/>
        </p:nvGrpSpPr>
        <p:grpSpPr>
          <a:xfrm rot="0">
            <a:off x="16911723" y="9710823"/>
            <a:ext cx="822417" cy="410937"/>
            <a:chOff x="0" y="0"/>
            <a:chExt cx="1096556" cy="547916"/>
          </a:xfrm>
        </p:grpSpPr>
        <p:sp>
          <p:nvSpPr>
            <p:cNvPr name="Freeform 68" id="68"/>
            <p:cNvSpPr/>
            <p:nvPr/>
          </p:nvSpPr>
          <p:spPr>
            <a:xfrm flipH="false" flipV="false" rot="0">
              <a:off x="0" y="0"/>
              <a:ext cx="1096560" cy="547920"/>
            </a:xfrm>
            <a:custGeom>
              <a:avLst/>
              <a:gdLst/>
              <a:ahLst/>
              <a:cxnLst/>
              <a:rect r="r" b="b" t="t" l="l"/>
              <a:pathLst>
                <a:path h="547920" w="1096560">
                  <a:moveTo>
                    <a:pt x="0" y="0"/>
                  </a:moveTo>
                  <a:lnTo>
                    <a:pt x="1096560" y="0"/>
                  </a:lnTo>
                  <a:lnTo>
                    <a:pt x="109656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09" t="0" r="-14109" b="0"/>
              </a:stretch>
            </a:blipFill>
          </p:spPr>
        </p:sp>
        <p:sp>
          <p:nvSpPr>
            <p:cNvPr name="TextBox 69" id="69"/>
            <p:cNvSpPr txBox="true"/>
            <p:nvPr/>
          </p:nvSpPr>
          <p:spPr>
            <a:xfrm>
              <a:off x="0" y="-38100"/>
              <a:ext cx="109655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480060"/>
            <a:ext cx="10972257" cy="410937"/>
            <a:chOff x="0" y="0"/>
            <a:chExt cx="14629676" cy="5479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29681" cy="547920"/>
            </a:xfrm>
            <a:custGeom>
              <a:avLst/>
              <a:gdLst/>
              <a:ahLst/>
              <a:cxnLst/>
              <a:rect r="r" b="b" t="t" l="l"/>
              <a:pathLst>
                <a:path h="547920" w="14629681">
                  <a:moveTo>
                    <a:pt x="0" y="0"/>
                  </a:moveTo>
                  <a:lnTo>
                    <a:pt x="14629681" y="0"/>
                  </a:lnTo>
                  <a:lnTo>
                    <a:pt x="14629681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0258" r="0" b="-47025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29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98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ALGORITHM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850497"/>
            <a:ext cx="15910017" cy="959577"/>
            <a:chOff x="0" y="0"/>
            <a:chExt cx="21213356" cy="12794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213359" cy="1279440"/>
            </a:xfrm>
            <a:custGeom>
              <a:avLst/>
              <a:gdLst/>
              <a:ahLst/>
              <a:cxnLst/>
              <a:rect r="r" b="b" t="t" l="l"/>
              <a:pathLst>
                <a:path h="1279440" w="21213359">
                  <a:moveTo>
                    <a:pt x="0" y="0"/>
                  </a:moveTo>
                  <a:lnTo>
                    <a:pt x="21213359" y="0"/>
                  </a:lnTo>
                  <a:lnTo>
                    <a:pt x="21213359" y="1279440"/>
                  </a:lnTo>
                  <a:lnTo>
                    <a:pt x="0" y="1279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65" r="0" b="-27306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213356" cy="12984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 spc="-1">
                  <a:solidFill>
                    <a:srgbClr val="E5E9F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PPO Overview (Proximal Policy Optimization)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2195103"/>
            <a:ext cx="1233897" cy="1233897"/>
            <a:chOff x="0" y="0"/>
            <a:chExt cx="1645196" cy="16451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645158" cy="1645158"/>
            </a:xfrm>
            <a:custGeom>
              <a:avLst/>
              <a:gdLst/>
              <a:ahLst/>
              <a:cxnLst/>
              <a:rect r="r" b="b" t="t" l="l"/>
              <a:pathLst>
                <a:path h="1645158" w="1645158">
                  <a:moveTo>
                    <a:pt x="0" y="822579"/>
                  </a:moveTo>
                  <a:cubicBezTo>
                    <a:pt x="0" y="368300"/>
                    <a:pt x="368300" y="0"/>
                    <a:pt x="822579" y="0"/>
                  </a:cubicBezTo>
                  <a:cubicBezTo>
                    <a:pt x="1276858" y="0"/>
                    <a:pt x="1645158" y="368300"/>
                    <a:pt x="1645158" y="822579"/>
                  </a:cubicBezTo>
                  <a:cubicBezTo>
                    <a:pt x="1645158" y="1276858"/>
                    <a:pt x="1276858" y="1645158"/>
                    <a:pt x="822579" y="1645158"/>
                  </a:cubicBezTo>
                  <a:cubicBezTo>
                    <a:pt x="368300" y="1645158"/>
                    <a:pt x="0" y="1276858"/>
                    <a:pt x="0" y="82257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19416" y="2444582"/>
            <a:ext cx="641518" cy="641518"/>
            <a:chOff x="0" y="0"/>
            <a:chExt cx="855358" cy="855358"/>
          </a:xfrm>
        </p:grpSpPr>
        <p:sp>
          <p:nvSpPr>
            <p:cNvPr name="Freeform 11" id="11" descr="/tmp/claude-1000/-media-hung-Work-Project-AI-Engineer-RL-contra-PPO/70c7dc7d-8f3f-4139-8f25-95b0e9e6dca5/scratchpad/build/icons/brain.png"/>
            <p:cNvSpPr/>
            <p:nvPr/>
          </p:nvSpPr>
          <p:spPr>
            <a:xfrm flipH="false" flipV="false" rot="0">
              <a:off x="0" y="0"/>
              <a:ext cx="855345" cy="855345"/>
            </a:xfrm>
            <a:custGeom>
              <a:avLst/>
              <a:gdLst/>
              <a:ahLst/>
              <a:cxnLst/>
              <a:rect r="r" b="b" t="t" l="l"/>
              <a:pathLst>
                <a:path h="855345" w="855345">
                  <a:moveTo>
                    <a:pt x="0" y="0"/>
                  </a:moveTo>
                  <a:lnTo>
                    <a:pt x="855345" y="0"/>
                  </a:lnTo>
                  <a:lnTo>
                    <a:pt x="855345" y="855345"/>
                  </a:lnTo>
                  <a:lnTo>
                    <a:pt x="0" y="855345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1" b="-1"/>
              </a:stretch>
            </a:blip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263140" y="2578503"/>
            <a:ext cx="6857457" cy="479517"/>
            <a:chOff x="0" y="0"/>
            <a:chExt cx="9143276" cy="639356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9143280" cy="639360"/>
            </a:xfrm>
            <a:custGeom>
              <a:avLst/>
              <a:gdLst/>
              <a:ahLst/>
              <a:cxnLst/>
              <a:rect r="r" b="b" t="t" l="l"/>
              <a:pathLst>
                <a:path h="639360" w="9143280">
                  <a:moveTo>
                    <a:pt x="0" y="0"/>
                  </a:moveTo>
                  <a:lnTo>
                    <a:pt x="9143280" y="0"/>
                  </a:lnTo>
                  <a:lnTo>
                    <a:pt x="9143280" y="639360"/>
                  </a:lnTo>
                  <a:lnTo>
                    <a:pt x="0" y="639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28649" r="0" b="-228648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57150"/>
              <a:ext cx="9143276" cy="69650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00"/>
                </a:lnSpc>
              </a:pPr>
              <a:r>
                <a:rPr lang="en-US" b="true" sz="2250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Policy Gradient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822960" y="3223260"/>
            <a:ext cx="8229057" cy="1576800"/>
            <a:chOff x="0" y="0"/>
            <a:chExt cx="10972076" cy="210240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10972080" cy="2102404"/>
            </a:xfrm>
            <a:custGeom>
              <a:avLst/>
              <a:gdLst/>
              <a:ahLst/>
              <a:cxnLst/>
              <a:rect r="r" b="b" t="t" l="l"/>
              <a:pathLst>
                <a:path h="2102404" w="10972080">
                  <a:moveTo>
                    <a:pt x="0" y="0"/>
                  </a:moveTo>
                  <a:lnTo>
                    <a:pt x="10972080" y="0"/>
                  </a:lnTo>
                  <a:lnTo>
                    <a:pt x="10972080" y="2102404"/>
                  </a:lnTo>
                  <a:lnTo>
                    <a:pt x="0" y="21024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689" r="0" b="-5168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85725"/>
              <a:ext cx="10972076" cy="21881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59"/>
                </a:lnSpc>
              </a:pPr>
              <a:r>
                <a:rPr lang="en-US" sz="199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agent has a policy network πθ(a|s) that outputs action probabilities directly from the observation. It is trained by increasing the probability of actions that lead to higher-than-expected reward (positive advantage), and decreasing it for negative advantage.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22960" y="4869180"/>
            <a:ext cx="8229057" cy="1028160"/>
            <a:chOff x="0" y="0"/>
            <a:chExt cx="10972076" cy="1370880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10972080" cy="1370884"/>
            </a:xfrm>
            <a:custGeom>
              <a:avLst/>
              <a:gdLst/>
              <a:ahLst/>
              <a:cxnLst/>
              <a:rect r="r" b="b" t="t" l="l"/>
              <a:pathLst>
                <a:path h="1370884" w="10972080">
                  <a:moveTo>
                    <a:pt x="0" y="0"/>
                  </a:moveTo>
                  <a:lnTo>
                    <a:pt x="10972080" y="0"/>
                  </a:lnTo>
                  <a:lnTo>
                    <a:pt x="10972080" y="1370884"/>
                  </a:lnTo>
                  <a:lnTo>
                    <a:pt x="0" y="1370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05951" r="0" b="-105951"/>
              </a:stretch>
            </a:blipFill>
          </p:spPr>
        </p:sp>
        <p:sp>
          <p:nvSpPr>
            <p:cNvPr name="TextBox 20" id="20"/>
            <p:cNvSpPr txBox="true"/>
            <p:nvPr/>
          </p:nvSpPr>
          <p:spPr>
            <a:xfrm>
              <a:off x="0" y="-85725"/>
              <a:ext cx="10972076" cy="14566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59"/>
                </a:lnSpc>
              </a:pPr>
              <a:r>
                <a:rPr lang="en-US" sz="1999" i="true" spc="-1">
                  <a:solidFill>
                    <a:srgbClr val="E5E9F0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problem with plain policy gradient: an update step that is too large can break an otherwise good policy, with no way to recover (no "undo").</a:t>
              </a:r>
            </a:p>
          </p:txBody>
        </p:sp>
      </p:grpSp>
      <p:grpSp>
        <p:nvGrpSpPr>
          <p:cNvPr name="Group 21" id="21"/>
          <p:cNvGrpSpPr/>
          <p:nvPr/>
        </p:nvGrpSpPr>
        <p:grpSpPr>
          <a:xfrm rot="0">
            <a:off x="822960" y="6103620"/>
            <a:ext cx="8229057" cy="2948397"/>
            <a:chOff x="0" y="0"/>
            <a:chExt cx="10972076" cy="3931196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10972165" cy="3931285"/>
            </a:xfrm>
            <a:custGeom>
              <a:avLst/>
              <a:gdLst/>
              <a:ahLst/>
              <a:cxnLst/>
              <a:rect r="r" b="b" t="t" l="l"/>
              <a:pathLst>
                <a:path h="3931285" w="10972165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825861" y="0"/>
                  </a:lnTo>
                  <a:cubicBezTo>
                    <a:pt x="10906633" y="0"/>
                    <a:pt x="10972165" y="65532"/>
                    <a:pt x="10972165" y="146304"/>
                  </a:cubicBezTo>
                  <a:lnTo>
                    <a:pt x="10972165" y="3784981"/>
                  </a:lnTo>
                  <a:cubicBezTo>
                    <a:pt x="10972165" y="3865753"/>
                    <a:pt x="10906633" y="3931285"/>
                    <a:pt x="10825861" y="3931285"/>
                  </a:cubicBezTo>
                  <a:lnTo>
                    <a:pt x="146304" y="3931285"/>
                  </a:lnTo>
                  <a:cubicBezTo>
                    <a:pt x="65532" y="3931158"/>
                    <a:pt x="0" y="3865753"/>
                    <a:pt x="0" y="3784981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23" id="23"/>
          <p:cNvGrpSpPr/>
          <p:nvPr/>
        </p:nvGrpSpPr>
        <p:grpSpPr>
          <a:xfrm rot="0">
            <a:off x="1234440" y="6350403"/>
            <a:ext cx="7406097" cy="479517"/>
            <a:chOff x="0" y="0"/>
            <a:chExt cx="9874796" cy="63935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9874800" cy="639360"/>
            </a:xfrm>
            <a:custGeom>
              <a:avLst/>
              <a:gdLst/>
              <a:ahLst/>
              <a:cxnLst/>
              <a:rect r="r" b="b" t="t" l="l"/>
              <a:pathLst>
                <a:path h="639360" w="9874800">
                  <a:moveTo>
                    <a:pt x="0" y="0"/>
                  </a:moveTo>
                  <a:lnTo>
                    <a:pt x="9874800" y="0"/>
                  </a:lnTo>
                  <a:lnTo>
                    <a:pt x="9874800" y="639360"/>
                  </a:lnTo>
                  <a:lnTo>
                    <a:pt x="0" y="63936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50943" r="0" b="-250942"/>
              </a:stretch>
            </a:blipFill>
          </p:spPr>
        </p:sp>
        <p:sp>
          <p:nvSpPr>
            <p:cNvPr name="TextBox 25" id="25"/>
            <p:cNvSpPr txBox="true"/>
            <p:nvPr/>
          </p:nvSpPr>
          <p:spPr>
            <a:xfrm>
              <a:off x="0" y="-47625"/>
              <a:ext cx="9874796" cy="68698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20"/>
                </a:lnSpc>
              </a:pPr>
              <a:r>
                <a:rPr lang="en-US" b="true" sz="2100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Clipped Surrogate Objective</a:t>
              </a:r>
            </a:p>
          </p:txBody>
        </p:sp>
      </p:grpSp>
      <p:grpSp>
        <p:nvGrpSpPr>
          <p:cNvPr name="Group 26" id="26"/>
          <p:cNvGrpSpPr/>
          <p:nvPr/>
        </p:nvGrpSpPr>
        <p:grpSpPr>
          <a:xfrm rot="0">
            <a:off x="1234440" y="6858000"/>
            <a:ext cx="7406097" cy="2056860"/>
            <a:chOff x="0" y="0"/>
            <a:chExt cx="9874796" cy="274248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9874800" cy="2742484"/>
            </a:xfrm>
            <a:custGeom>
              <a:avLst/>
              <a:gdLst/>
              <a:ahLst/>
              <a:cxnLst/>
              <a:rect r="r" b="b" t="t" l="l"/>
              <a:pathLst>
                <a:path h="2742484" w="9874800">
                  <a:moveTo>
                    <a:pt x="0" y="0"/>
                  </a:moveTo>
                  <a:lnTo>
                    <a:pt x="9874800" y="0"/>
                  </a:lnTo>
                  <a:lnTo>
                    <a:pt x="9874800" y="2742484"/>
                  </a:lnTo>
                  <a:lnTo>
                    <a:pt x="0" y="27424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0159" r="0" b="-20159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95250"/>
              <a:ext cx="9874796" cy="283773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31"/>
                </a:lnSpc>
              </a:pPr>
              <a:r>
                <a:rPr lang="en-US" sz="1999" spc="-1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PPO clips the ratio between the new and old action probabilities to a small range [1-ε, 1+ε]. If the new policy tries to change too much from the old one, the reward for that change gets cut off — the update is "held back" close to the old policy, keeping training stable over thousands of updates.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9806940" y="2537460"/>
            <a:ext cx="7680417" cy="6514557"/>
            <a:chOff x="0" y="0"/>
            <a:chExt cx="10240556" cy="868607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240645" cy="8686165"/>
            </a:xfrm>
            <a:custGeom>
              <a:avLst/>
              <a:gdLst/>
              <a:ahLst/>
              <a:cxnLst/>
              <a:rect r="r" b="b" t="t" l="l"/>
              <a:pathLst>
                <a:path h="8686165" w="10240645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094341" y="0"/>
                  </a:lnTo>
                  <a:cubicBezTo>
                    <a:pt x="10175113" y="0"/>
                    <a:pt x="10240645" y="65532"/>
                    <a:pt x="10240645" y="146304"/>
                  </a:cubicBezTo>
                  <a:lnTo>
                    <a:pt x="10240645" y="8539861"/>
                  </a:lnTo>
                  <a:cubicBezTo>
                    <a:pt x="10240645" y="8620633"/>
                    <a:pt x="10175113" y="8686165"/>
                    <a:pt x="10094341" y="8686165"/>
                  </a:cubicBezTo>
                  <a:lnTo>
                    <a:pt x="146304" y="8686165"/>
                  </a:lnTo>
                  <a:cubicBezTo>
                    <a:pt x="65532" y="8686038"/>
                    <a:pt x="0" y="8620633"/>
                    <a:pt x="0" y="8539861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10218420" y="2811780"/>
            <a:ext cx="6857457" cy="548097"/>
            <a:chOff x="0" y="0"/>
            <a:chExt cx="9143276" cy="73079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9143280" cy="730800"/>
            </a:xfrm>
            <a:custGeom>
              <a:avLst/>
              <a:gdLst/>
              <a:ahLst/>
              <a:cxnLst/>
              <a:rect r="r" b="b" t="t" l="l"/>
              <a:pathLst>
                <a:path h="730800" w="9143280">
                  <a:moveTo>
                    <a:pt x="0" y="0"/>
                  </a:moveTo>
                  <a:lnTo>
                    <a:pt x="9143280" y="0"/>
                  </a:lnTo>
                  <a:lnTo>
                    <a:pt x="9143280" y="730800"/>
                  </a:lnTo>
                  <a:lnTo>
                    <a:pt x="0" y="7308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3783" r="0" b="-193783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47625"/>
              <a:ext cx="9143276" cy="7784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40"/>
                </a:lnSpc>
              </a:pPr>
              <a:r>
                <a:rPr lang="en-US" b="true" sz="1950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Visualizing the "safe zone" of an update step</a:t>
              </a:r>
            </a:p>
          </p:txBody>
        </p:sp>
      </p:grpSp>
      <p:sp>
        <p:nvSpPr>
          <p:cNvPr name="AutoShape 34" id="34"/>
          <p:cNvSpPr/>
          <p:nvPr/>
        </p:nvSpPr>
        <p:spPr>
          <a:xfrm rot="11400">
            <a:off x="10757516" y="7402144"/>
            <a:ext cx="5916959" cy="0"/>
          </a:xfrm>
          <a:prstGeom prst="line">
            <a:avLst/>
          </a:prstGeom>
          <a:ln cap="rnd" w="9525">
            <a:solidFill>
              <a:srgbClr val="9AA6C1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5" id="35"/>
          <p:cNvSpPr/>
          <p:nvPr/>
        </p:nvSpPr>
        <p:spPr>
          <a:xfrm rot="5381880">
            <a:off x="8906123" y="5550218"/>
            <a:ext cx="3722418" cy="0"/>
          </a:xfrm>
          <a:prstGeom prst="line">
            <a:avLst/>
          </a:prstGeom>
          <a:ln cap="rnd" w="9525">
            <a:solidFill>
              <a:srgbClr val="9AA6C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36" id="36"/>
          <p:cNvGrpSpPr/>
          <p:nvPr/>
        </p:nvGrpSpPr>
        <p:grpSpPr>
          <a:xfrm rot="0">
            <a:off x="12831480" y="3703320"/>
            <a:ext cx="1769040" cy="3702777"/>
            <a:chOff x="0" y="0"/>
            <a:chExt cx="2358720" cy="493703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2358771" cy="4936998"/>
            </a:xfrm>
            <a:custGeom>
              <a:avLst/>
              <a:gdLst/>
              <a:ahLst/>
              <a:cxnLst/>
              <a:rect r="r" b="b" t="t" l="l"/>
              <a:pathLst>
                <a:path h="4936998" w="2358771">
                  <a:moveTo>
                    <a:pt x="0" y="0"/>
                  </a:moveTo>
                  <a:lnTo>
                    <a:pt x="2358771" y="0"/>
                  </a:lnTo>
                  <a:lnTo>
                    <a:pt x="2358771" y="4936998"/>
                  </a:lnTo>
                  <a:lnTo>
                    <a:pt x="0" y="4936998"/>
                  </a:lnTo>
                  <a:close/>
                </a:path>
              </a:pathLst>
            </a:custGeom>
            <a:solidFill>
              <a:srgbClr val="06D6A0">
                <a:alpha val="3137"/>
              </a:srgbClr>
            </a:solidFill>
          </p:spPr>
        </p:sp>
      </p:grpSp>
      <p:sp>
        <p:nvSpPr>
          <p:cNvPr name="AutoShape 38" id="38"/>
          <p:cNvSpPr/>
          <p:nvPr/>
        </p:nvSpPr>
        <p:spPr>
          <a:xfrm rot="-2677860">
            <a:off x="10315451" y="5447814"/>
            <a:ext cx="2967085" cy="0"/>
          </a:xfrm>
          <a:prstGeom prst="line">
            <a:avLst/>
          </a:prstGeom>
          <a:ln cap="rnd" w="28575">
            <a:solidFill>
              <a:srgbClr val="FFB70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39" id="39"/>
          <p:cNvSpPr/>
          <p:nvPr/>
        </p:nvSpPr>
        <p:spPr>
          <a:xfrm rot="91080">
            <a:off x="12806810" y="4429639"/>
            <a:ext cx="1817846" cy="0"/>
          </a:xfrm>
          <a:prstGeom prst="line">
            <a:avLst/>
          </a:prstGeom>
          <a:ln cap="rnd" w="28575">
            <a:solidFill>
              <a:srgbClr val="FFB70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0" id="40"/>
          <p:cNvSpPr/>
          <p:nvPr/>
        </p:nvSpPr>
        <p:spPr>
          <a:xfrm rot="78360">
            <a:off x="14576431" y="4429639"/>
            <a:ext cx="2112597" cy="0"/>
          </a:xfrm>
          <a:prstGeom prst="line">
            <a:avLst/>
          </a:prstGeom>
          <a:ln cap="rnd" w="28575">
            <a:solidFill>
              <a:srgbClr val="FFB703"/>
            </a:solidFill>
            <a:prstDash val="solid"/>
            <a:headEnd type="none" len="sm" w="sm"/>
            <a:tailEnd type="none" len="sm" w="sm"/>
          </a:ln>
        </p:spPr>
      </p:sp>
      <p:sp>
        <p:nvSpPr>
          <p:cNvPr name="AutoShape 41" id="41"/>
          <p:cNvSpPr/>
          <p:nvPr/>
        </p:nvSpPr>
        <p:spPr>
          <a:xfrm rot="-935760">
            <a:off x="14546228" y="4156300"/>
            <a:ext cx="2173005" cy="0"/>
          </a:xfrm>
          <a:prstGeom prst="line">
            <a:avLst/>
          </a:prstGeom>
          <a:ln cap="rnd" w="19050">
            <a:solidFill>
              <a:srgbClr val="9AA6C1"/>
            </a:solidFill>
            <a:prstDash val="solid"/>
            <a:headEnd type="none" len="sm" w="sm"/>
            <a:tailEnd type="none" len="sm" w="sm"/>
          </a:ln>
        </p:spPr>
      </p:sp>
      <p:grpSp>
        <p:nvGrpSpPr>
          <p:cNvPr name="Group 42" id="42"/>
          <p:cNvGrpSpPr/>
          <p:nvPr/>
        </p:nvGrpSpPr>
        <p:grpSpPr>
          <a:xfrm rot="0">
            <a:off x="10767060" y="7543800"/>
            <a:ext cx="5897337" cy="328860"/>
            <a:chOff x="0" y="0"/>
            <a:chExt cx="7863116" cy="43848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7863120" cy="438480"/>
            </a:xfrm>
            <a:custGeom>
              <a:avLst/>
              <a:gdLst/>
              <a:ahLst/>
              <a:cxnLst/>
              <a:rect r="r" b="b" t="t" l="l"/>
              <a:pathLst>
                <a:path h="438480" w="7863120">
                  <a:moveTo>
                    <a:pt x="0" y="0"/>
                  </a:moveTo>
                  <a:lnTo>
                    <a:pt x="7863120" y="0"/>
                  </a:lnTo>
                  <a:lnTo>
                    <a:pt x="7863120" y="438480"/>
                  </a:lnTo>
                  <a:lnTo>
                    <a:pt x="0" y="438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99418" r="0" b="-299418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38100"/>
              <a:ext cx="7863116" cy="476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r(θ) = πθ / πθ_old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12008520" y="7900197"/>
            <a:ext cx="3414960" cy="328860"/>
            <a:chOff x="0" y="0"/>
            <a:chExt cx="4553280" cy="43848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4553280" cy="438480"/>
            </a:xfrm>
            <a:custGeom>
              <a:avLst/>
              <a:gdLst/>
              <a:ahLst/>
              <a:cxnLst/>
              <a:rect r="r" b="b" t="t" l="l"/>
              <a:pathLst>
                <a:path h="438480" w="4553280">
                  <a:moveTo>
                    <a:pt x="0" y="0"/>
                  </a:moveTo>
                  <a:lnTo>
                    <a:pt x="4553280" y="0"/>
                  </a:lnTo>
                  <a:lnTo>
                    <a:pt x="4553280" y="438480"/>
                  </a:lnTo>
                  <a:lnTo>
                    <a:pt x="0" y="438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2337" r="0" b="-152337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38100"/>
              <a:ext cx="4553280" cy="47658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spc="-1">
                  <a:solidFill>
                    <a:srgbClr val="06D6A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allowed region (clip range ε)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0218420" y="8202063"/>
            <a:ext cx="6857457" cy="651857"/>
            <a:chOff x="0" y="0"/>
            <a:chExt cx="9143276" cy="869142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9143280" cy="869146"/>
            </a:xfrm>
            <a:custGeom>
              <a:avLst/>
              <a:gdLst/>
              <a:ahLst/>
              <a:cxnLst/>
              <a:rect r="r" b="b" t="t" l="l"/>
              <a:pathLst>
                <a:path h="869146" w="9143280">
                  <a:moveTo>
                    <a:pt x="0" y="0"/>
                  </a:moveTo>
                  <a:lnTo>
                    <a:pt x="9143280" y="0"/>
                  </a:lnTo>
                  <a:lnTo>
                    <a:pt x="9143280" y="869146"/>
                  </a:lnTo>
                  <a:lnTo>
                    <a:pt x="0" y="86914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7678" r="0" b="-152280"/>
              </a:stretch>
            </a:blipFill>
          </p:spPr>
        </p:sp>
        <p:sp>
          <p:nvSpPr>
            <p:cNvPr name="TextBox 50" id="50"/>
            <p:cNvSpPr txBox="true"/>
            <p:nvPr/>
          </p:nvSpPr>
          <p:spPr>
            <a:xfrm>
              <a:off x="0" y="-57150"/>
              <a:ext cx="9143276" cy="92629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375"/>
                </a:lnSpc>
              </a:pPr>
              <a:r>
                <a:rPr lang="en-US" sz="1799" i="true" spc="-1">
                  <a:solidFill>
                    <a:srgbClr val="9AA6C1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the objective is "clipped flat" outside the safe zone — preventing the update step from going too far</a:t>
              </a:r>
            </a:p>
          </p:txBody>
        </p:sp>
      </p:grpSp>
      <p:grpSp>
        <p:nvGrpSpPr>
          <p:cNvPr name="Group 51" id="51"/>
          <p:cNvGrpSpPr/>
          <p:nvPr/>
        </p:nvGrpSpPr>
        <p:grpSpPr>
          <a:xfrm rot="0">
            <a:off x="685800" y="9710823"/>
            <a:ext cx="4114257" cy="410937"/>
            <a:chOff x="0" y="0"/>
            <a:chExt cx="5485676" cy="547916"/>
          </a:xfrm>
        </p:grpSpPr>
        <p:sp>
          <p:nvSpPr>
            <p:cNvPr name="Freeform 52" id="52"/>
            <p:cNvSpPr/>
            <p:nvPr/>
          </p:nvSpPr>
          <p:spPr>
            <a:xfrm flipH="false" flipV="false" rot="0">
              <a:off x="0" y="0"/>
              <a:ext cx="5485680" cy="547920"/>
            </a:xfrm>
            <a:custGeom>
              <a:avLst/>
              <a:gdLst/>
              <a:ahLst/>
              <a:cxnLst/>
              <a:rect r="r" b="b" t="t" l="l"/>
              <a:pathLst>
                <a:path h="547920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081" r="0" b="-145080"/>
              </a:stretch>
            </a:blipFill>
          </p:spPr>
        </p:sp>
        <p:sp>
          <p:nvSpPr>
            <p:cNvPr name="TextBox 53" id="53"/>
            <p:cNvSpPr txBox="true"/>
            <p:nvPr/>
          </p:nvSpPr>
          <p:spPr>
            <a:xfrm>
              <a:off x="0" y="-38100"/>
              <a:ext cx="5485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Contra-PPO</a:t>
              </a:r>
            </a:p>
          </p:txBody>
        </p:sp>
      </p:grpSp>
      <p:grpSp>
        <p:nvGrpSpPr>
          <p:cNvPr name="Group 54" id="54"/>
          <p:cNvGrpSpPr/>
          <p:nvPr/>
        </p:nvGrpSpPr>
        <p:grpSpPr>
          <a:xfrm rot="0">
            <a:off x="16911723" y="9710823"/>
            <a:ext cx="822417" cy="410937"/>
            <a:chOff x="0" y="0"/>
            <a:chExt cx="1096556" cy="547916"/>
          </a:xfrm>
        </p:grpSpPr>
        <p:sp>
          <p:nvSpPr>
            <p:cNvPr name="Freeform 55" id="55"/>
            <p:cNvSpPr/>
            <p:nvPr/>
          </p:nvSpPr>
          <p:spPr>
            <a:xfrm flipH="false" flipV="false" rot="0">
              <a:off x="0" y="0"/>
              <a:ext cx="1096560" cy="547920"/>
            </a:xfrm>
            <a:custGeom>
              <a:avLst/>
              <a:gdLst/>
              <a:ahLst/>
              <a:cxnLst/>
              <a:rect r="r" b="b" t="t" l="l"/>
              <a:pathLst>
                <a:path h="547920" w="1096560">
                  <a:moveTo>
                    <a:pt x="0" y="0"/>
                  </a:moveTo>
                  <a:lnTo>
                    <a:pt x="1096560" y="0"/>
                  </a:lnTo>
                  <a:lnTo>
                    <a:pt x="109656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09" t="0" r="-14109" b="0"/>
              </a:stretch>
            </a:blipFill>
          </p:spPr>
        </p:sp>
        <p:sp>
          <p:nvSpPr>
            <p:cNvPr name="TextBox 56" id="56"/>
            <p:cNvSpPr txBox="true"/>
            <p:nvPr/>
          </p:nvSpPr>
          <p:spPr>
            <a:xfrm>
              <a:off x="0" y="-38100"/>
              <a:ext cx="109655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3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4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480060"/>
            <a:ext cx="10972257" cy="410937"/>
            <a:chOff x="0" y="0"/>
            <a:chExt cx="14629676" cy="5479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29681" cy="547920"/>
            </a:xfrm>
            <a:custGeom>
              <a:avLst/>
              <a:gdLst/>
              <a:ahLst/>
              <a:cxnLst/>
              <a:rect r="r" b="b" t="t" l="l"/>
              <a:pathLst>
                <a:path h="547920" w="14629681">
                  <a:moveTo>
                    <a:pt x="0" y="0"/>
                  </a:moveTo>
                  <a:lnTo>
                    <a:pt x="14629681" y="0"/>
                  </a:lnTo>
                  <a:lnTo>
                    <a:pt x="14629681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0258" r="0" b="-47025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29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98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ARCHITECTURE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850497"/>
            <a:ext cx="15910017" cy="959577"/>
            <a:chOff x="0" y="0"/>
            <a:chExt cx="21213356" cy="12794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213359" cy="1279440"/>
            </a:xfrm>
            <a:custGeom>
              <a:avLst/>
              <a:gdLst/>
              <a:ahLst/>
              <a:cxnLst/>
              <a:rect r="r" b="b" t="t" l="l"/>
              <a:pathLst>
                <a:path h="1279440" w="21213359">
                  <a:moveTo>
                    <a:pt x="0" y="0"/>
                  </a:moveTo>
                  <a:lnTo>
                    <a:pt x="21213359" y="0"/>
                  </a:lnTo>
                  <a:lnTo>
                    <a:pt x="21213359" y="1279440"/>
                  </a:lnTo>
                  <a:lnTo>
                    <a:pt x="0" y="1279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65" r="0" b="-27306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213356" cy="12984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 spc="-1">
                  <a:solidFill>
                    <a:srgbClr val="E5E9F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Gymnasium env + Stable-Baselines3 pipeline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1265958" y="2527935"/>
            <a:ext cx="2967447" cy="2144487"/>
            <a:chOff x="0" y="0"/>
            <a:chExt cx="3956596" cy="285931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956558" cy="2859278"/>
            </a:xfrm>
            <a:custGeom>
              <a:avLst/>
              <a:gdLst/>
              <a:ahLst/>
              <a:cxnLst/>
              <a:rect r="r" b="b" t="t" l="l"/>
              <a:pathLst>
                <a:path h="2859278" w="3956558">
                  <a:moveTo>
                    <a:pt x="0" y="147574"/>
                  </a:moveTo>
                  <a:cubicBezTo>
                    <a:pt x="0" y="66040"/>
                    <a:pt x="66040" y="0"/>
                    <a:pt x="147574" y="0"/>
                  </a:cubicBezTo>
                  <a:lnTo>
                    <a:pt x="3808984" y="0"/>
                  </a:lnTo>
                  <a:cubicBezTo>
                    <a:pt x="3890518" y="0"/>
                    <a:pt x="3956558" y="66040"/>
                    <a:pt x="3956558" y="147574"/>
                  </a:cubicBezTo>
                  <a:lnTo>
                    <a:pt x="3956558" y="2711704"/>
                  </a:lnTo>
                  <a:cubicBezTo>
                    <a:pt x="3956558" y="2793238"/>
                    <a:pt x="3890518" y="2859278"/>
                    <a:pt x="3808984" y="2859278"/>
                  </a:cubicBezTo>
                  <a:lnTo>
                    <a:pt x="147574" y="2859278"/>
                  </a:lnTo>
                  <a:cubicBezTo>
                    <a:pt x="66040" y="2859278"/>
                    <a:pt x="0" y="2793238"/>
                    <a:pt x="0" y="2711704"/>
                  </a:cubicBezTo>
                  <a:close/>
                </a:path>
              </a:pathLst>
            </a:custGeom>
            <a:solidFill>
              <a:srgbClr val="16213E"/>
            </a:solidFill>
            <a:ln w="19050" cap="sq">
              <a:solidFill>
                <a:srgbClr val="2A3B5C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2270160" y="2784243"/>
            <a:ext cx="959577" cy="959577"/>
            <a:chOff x="0" y="0"/>
            <a:chExt cx="1279436" cy="127943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279398" cy="1279398"/>
            </a:xfrm>
            <a:custGeom>
              <a:avLst/>
              <a:gdLst/>
              <a:ahLst/>
              <a:cxnLst/>
              <a:rect r="r" b="b" t="t" l="l"/>
              <a:pathLst>
                <a:path h="1279398" w="1279398">
                  <a:moveTo>
                    <a:pt x="0" y="639699"/>
                  </a:moveTo>
                  <a:cubicBezTo>
                    <a:pt x="0" y="286385"/>
                    <a:pt x="286385" y="0"/>
                    <a:pt x="639699" y="0"/>
                  </a:cubicBezTo>
                  <a:cubicBezTo>
                    <a:pt x="993013" y="0"/>
                    <a:pt x="1279398" y="286385"/>
                    <a:pt x="1279398" y="639699"/>
                  </a:cubicBezTo>
                  <a:cubicBezTo>
                    <a:pt x="1279398" y="993013"/>
                    <a:pt x="993013" y="1279398"/>
                    <a:pt x="639699" y="1279398"/>
                  </a:cubicBezTo>
                  <a:cubicBezTo>
                    <a:pt x="286385" y="1279398"/>
                    <a:pt x="0" y="993013"/>
                    <a:pt x="0" y="63969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2500198" y="3014824"/>
            <a:ext cx="498958" cy="498958"/>
            <a:chOff x="0" y="0"/>
            <a:chExt cx="665277" cy="665277"/>
          </a:xfrm>
        </p:grpSpPr>
        <p:sp>
          <p:nvSpPr>
            <p:cNvPr name="Freeform 13" id="13" descr="/tmp/claude-1000/-media-hung-Work-Project-AI-Engineer-RL-contra-PPO/70c7dc7d-8f3f-4139-8f25-95b0e9e6dca5/scratchpad/build/icons/boxes.png"/>
            <p:cNvSpPr/>
            <p:nvPr/>
          </p:nvSpPr>
          <p:spPr>
            <a:xfrm flipH="false" flipV="false" rot="0">
              <a:off x="0" y="0"/>
              <a:ext cx="665226" cy="665226"/>
            </a:xfrm>
            <a:custGeom>
              <a:avLst/>
              <a:gdLst/>
              <a:ahLst/>
              <a:cxnLst/>
              <a:rect r="r" b="b" t="t" l="l"/>
              <a:pathLst>
                <a:path h="665226" w="665226">
                  <a:moveTo>
                    <a:pt x="0" y="0"/>
                  </a:moveTo>
                  <a:lnTo>
                    <a:pt x="665226" y="0"/>
                  </a:lnTo>
                  <a:lnTo>
                    <a:pt x="665226" y="665226"/>
                  </a:lnTo>
                  <a:lnTo>
                    <a:pt x="0" y="6652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7" b="-7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1275483" y="3840480"/>
            <a:ext cx="2948397" cy="431076"/>
            <a:chOff x="0" y="0"/>
            <a:chExt cx="3931196" cy="574768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3931200" cy="574771"/>
            </a:xfrm>
            <a:custGeom>
              <a:avLst/>
              <a:gdLst/>
              <a:ahLst/>
              <a:cxnLst/>
              <a:rect r="r" b="b" t="t" l="l"/>
              <a:pathLst>
                <a:path h="574771" w="3931200">
                  <a:moveTo>
                    <a:pt x="0" y="0"/>
                  </a:moveTo>
                  <a:lnTo>
                    <a:pt x="3931200" y="0"/>
                  </a:lnTo>
                  <a:lnTo>
                    <a:pt x="3931200" y="574771"/>
                  </a:lnTo>
                  <a:lnTo>
                    <a:pt x="0" y="57477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05" r="0" b="-80933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47625"/>
              <a:ext cx="3931196" cy="6223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09"/>
                </a:lnSpc>
              </a:pPr>
              <a:r>
                <a:rPr lang="en-US" b="true" sz="2174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Environment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344063" y="4238463"/>
            <a:ext cx="2811237" cy="410940"/>
            <a:chOff x="0" y="0"/>
            <a:chExt cx="3748316" cy="5479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3748320" cy="547924"/>
            </a:xfrm>
            <a:custGeom>
              <a:avLst/>
              <a:gdLst/>
              <a:ahLst/>
              <a:cxnLst/>
              <a:rect r="r" b="b" t="t" l="l"/>
              <a:pathLst>
                <a:path h="547924" w="3748320">
                  <a:moveTo>
                    <a:pt x="0" y="0"/>
                  </a:moveTo>
                  <a:lnTo>
                    <a:pt x="3748320" y="0"/>
                  </a:lnTo>
                  <a:lnTo>
                    <a:pt x="3748320" y="547924"/>
                  </a:lnTo>
                  <a:lnTo>
                    <a:pt x="0" y="547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296" r="0" b="-83295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28575"/>
              <a:ext cx="3748316" cy="5764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79"/>
                </a:lnSpc>
              </a:pPr>
              <a:r>
                <a:rPr lang="en-US" sz="164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ContraEnv (NESEnv)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4224423" y="3463557"/>
            <a:ext cx="246240" cy="273777"/>
            <a:chOff x="0" y="0"/>
            <a:chExt cx="328320" cy="36503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328295" cy="364998"/>
            </a:xfrm>
            <a:custGeom>
              <a:avLst/>
              <a:gdLst/>
              <a:ahLst/>
              <a:cxnLst/>
              <a:rect r="r" b="b" t="t" l="l"/>
              <a:pathLst>
                <a:path h="364998" w="328295">
                  <a:moveTo>
                    <a:pt x="0" y="91313"/>
                  </a:moveTo>
                  <a:lnTo>
                    <a:pt x="164211" y="91313"/>
                  </a:lnTo>
                  <a:lnTo>
                    <a:pt x="164211" y="0"/>
                  </a:lnTo>
                  <a:lnTo>
                    <a:pt x="328295" y="182499"/>
                  </a:lnTo>
                  <a:lnTo>
                    <a:pt x="164211" y="364998"/>
                  </a:lnTo>
                  <a:lnTo>
                    <a:pt x="164211" y="273812"/>
                  </a:lnTo>
                  <a:lnTo>
                    <a:pt x="0" y="273812"/>
                  </a:lnTo>
                  <a:close/>
                </a:path>
              </a:pathLst>
            </a:custGeom>
            <a:solidFill>
              <a:srgbClr val="FFB703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4461672" y="2527935"/>
            <a:ext cx="2967447" cy="2144487"/>
            <a:chOff x="0" y="0"/>
            <a:chExt cx="3956596" cy="285931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3956558" cy="2859278"/>
            </a:xfrm>
            <a:custGeom>
              <a:avLst/>
              <a:gdLst/>
              <a:ahLst/>
              <a:cxnLst/>
              <a:rect r="r" b="b" t="t" l="l"/>
              <a:pathLst>
                <a:path h="2859278" w="3956558">
                  <a:moveTo>
                    <a:pt x="0" y="147574"/>
                  </a:moveTo>
                  <a:cubicBezTo>
                    <a:pt x="0" y="66040"/>
                    <a:pt x="66040" y="0"/>
                    <a:pt x="147574" y="0"/>
                  </a:cubicBezTo>
                  <a:lnTo>
                    <a:pt x="3808984" y="0"/>
                  </a:lnTo>
                  <a:cubicBezTo>
                    <a:pt x="3890518" y="0"/>
                    <a:pt x="3956558" y="66040"/>
                    <a:pt x="3956558" y="147574"/>
                  </a:cubicBezTo>
                  <a:lnTo>
                    <a:pt x="3956558" y="2711704"/>
                  </a:lnTo>
                  <a:cubicBezTo>
                    <a:pt x="3956558" y="2793238"/>
                    <a:pt x="3890518" y="2859278"/>
                    <a:pt x="3808984" y="2859278"/>
                  </a:cubicBezTo>
                  <a:lnTo>
                    <a:pt x="147574" y="2859278"/>
                  </a:lnTo>
                  <a:cubicBezTo>
                    <a:pt x="66040" y="2859278"/>
                    <a:pt x="0" y="2793238"/>
                    <a:pt x="0" y="2711704"/>
                  </a:cubicBezTo>
                  <a:close/>
                </a:path>
              </a:pathLst>
            </a:custGeom>
            <a:solidFill>
              <a:srgbClr val="16213E"/>
            </a:solidFill>
            <a:ln w="19050" cap="sq">
              <a:solidFill>
                <a:srgbClr val="2A3B5C"/>
              </a:solidFill>
              <a:prstDash val="solid"/>
              <a:miter/>
            </a:ln>
          </p:spPr>
        </p:sp>
      </p:grpSp>
      <p:grpSp>
        <p:nvGrpSpPr>
          <p:cNvPr name="Group 24" id="24"/>
          <p:cNvGrpSpPr/>
          <p:nvPr/>
        </p:nvGrpSpPr>
        <p:grpSpPr>
          <a:xfrm rot="0">
            <a:off x="5465883" y="2784243"/>
            <a:ext cx="959577" cy="959577"/>
            <a:chOff x="0" y="0"/>
            <a:chExt cx="1279436" cy="1279436"/>
          </a:xfrm>
        </p:grpSpPr>
        <p:sp>
          <p:nvSpPr>
            <p:cNvPr name="Freeform 25" id="25"/>
            <p:cNvSpPr/>
            <p:nvPr/>
          </p:nvSpPr>
          <p:spPr>
            <a:xfrm flipH="false" flipV="false" rot="0">
              <a:off x="0" y="0"/>
              <a:ext cx="1279398" cy="1279398"/>
            </a:xfrm>
            <a:custGeom>
              <a:avLst/>
              <a:gdLst/>
              <a:ahLst/>
              <a:cxnLst/>
              <a:rect r="r" b="b" t="t" l="l"/>
              <a:pathLst>
                <a:path h="1279398" w="1279398">
                  <a:moveTo>
                    <a:pt x="0" y="639699"/>
                  </a:moveTo>
                  <a:cubicBezTo>
                    <a:pt x="0" y="286385"/>
                    <a:pt x="286385" y="0"/>
                    <a:pt x="639699" y="0"/>
                  </a:cubicBezTo>
                  <a:cubicBezTo>
                    <a:pt x="993013" y="0"/>
                    <a:pt x="1279398" y="286385"/>
                    <a:pt x="1279398" y="639699"/>
                  </a:cubicBezTo>
                  <a:cubicBezTo>
                    <a:pt x="1279398" y="993013"/>
                    <a:pt x="993013" y="1279398"/>
                    <a:pt x="639699" y="1279398"/>
                  </a:cubicBezTo>
                  <a:cubicBezTo>
                    <a:pt x="286385" y="1279398"/>
                    <a:pt x="0" y="993013"/>
                    <a:pt x="0" y="63969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5696464" y="3014824"/>
            <a:ext cx="498958" cy="498958"/>
            <a:chOff x="0" y="0"/>
            <a:chExt cx="665277" cy="665277"/>
          </a:xfrm>
        </p:grpSpPr>
        <p:sp>
          <p:nvSpPr>
            <p:cNvPr name="Freeform 27" id="27" descr="/tmp/claude-1000/-media-hung-Work-Project-AI-Engineer-RL-contra-PPO/70c7dc7d-8f3f-4139-8f25-95b0e9e6dca5/scratchpad/build/icons/eye.png"/>
            <p:cNvSpPr/>
            <p:nvPr/>
          </p:nvSpPr>
          <p:spPr>
            <a:xfrm flipH="false" flipV="false" rot="0">
              <a:off x="0" y="0"/>
              <a:ext cx="665226" cy="665226"/>
            </a:xfrm>
            <a:custGeom>
              <a:avLst/>
              <a:gdLst/>
              <a:ahLst/>
              <a:cxnLst/>
              <a:rect r="r" b="b" t="t" l="l"/>
              <a:pathLst>
                <a:path h="665226" w="665226">
                  <a:moveTo>
                    <a:pt x="0" y="0"/>
                  </a:moveTo>
                  <a:lnTo>
                    <a:pt x="665226" y="0"/>
                  </a:lnTo>
                  <a:lnTo>
                    <a:pt x="665226" y="665226"/>
                  </a:lnTo>
                  <a:lnTo>
                    <a:pt x="0" y="6652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7" b="-7"/>
              </a:stretch>
            </a:blipFill>
          </p:spPr>
        </p:sp>
      </p:grpSp>
      <p:grpSp>
        <p:nvGrpSpPr>
          <p:cNvPr name="Group 28" id="28"/>
          <p:cNvGrpSpPr/>
          <p:nvPr/>
        </p:nvGrpSpPr>
        <p:grpSpPr>
          <a:xfrm rot="0">
            <a:off x="4471197" y="3840480"/>
            <a:ext cx="2948397" cy="431076"/>
            <a:chOff x="0" y="0"/>
            <a:chExt cx="3931196" cy="574768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931200" cy="574771"/>
            </a:xfrm>
            <a:custGeom>
              <a:avLst/>
              <a:gdLst/>
              <a:ahLst/>
              <a:cxnLst/>
              <a:rect r="r" b="b" t="t" l="l"/>
              <a:pathLst>
                <a:path h="574771" w="3931200">
                  <a:moveTo>
                    <a:pt x="0" y="0"/>
                  </a:moveTo>
                  <a:lnTo>
                    <a:pt x="3931200" y="0"/>
                  </a:lnTo>
                  <a:lnTo>
                    <a:pt x="3931200" y="574771"/>
                  </a:lnTo>
                  <a:lnTo>
                    <a:pt x="0" y="57477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05" r="0" b="-80933"/>
              </a:stretch>
            </a:blipFill>
          </p:spPr>
        </p:sp>
        <p:sp>
          <p:nvSpPr>
            <p:cNvPr name="TextBox 30" id="30"/>
            <p:cNvSpPr txBox="true"/>
            <p:nvPr/>
          </p:nvSpPr>
          <p:spPr>
            <a:xfrm>
              <a:off x="0" y="-47625"/>
              <a:ext cx="3931196" cy="6223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09"/>
                </a:lnSpc>
              </a:pPr>
              <a:r>
                <a:rPr lang="en-US" b="true" sz="2174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Observation</a:t>
              </a:r>
            </a:p>
          </p:txBody>
        </p:sp>
      </p:grpSp>
      <p:grpSp>
        <p:nvGrpSpPr>
          <p:cNvPr name="Group 31" id="31"/>
          <p:cNvGrpSpPr/>
          <p:nvPr/>
        </p:nvGrpSpPr>
        <p:grpSpPr>
          <a:xfrm rot="0">
            <a:off x="4539777" y="4238463"/>
            <a:ext cx="2811237" cy="410940"/>
            <a:chOff x="0" y="0"/>
            <a:chExt cx="3748316" cy="547920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3748320" cy="547924"/>
            </a:xfrm>
            <a:custGeom>
              <a:avLst/>
              <a:gdLst/>
              <a:ahLst/>
              <a:cxnLst/>
              <a:rect r="r" b="b" t="t" l="l"/>
              <a:pathLst>
                <a:path h="547924" w="3748320">
                  <a:moveTo>
                    <a:pt x="0" y="0"/>
                  </a:moveTo>
                  <a:lnTo>
                    <a:pt x="3748320" y="0"/>
                  </a:lnTo>
                  <a:lnTo>
                    <a:pt x="3748320" y="547924"/>
                  </a:lnTo>
                  <a:lnTo>
                    <a:pt x="0" y="547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296" r="0" b="-83295"/>
              </a:stretch>
            </a:blipFill>
          </p:spPr>
        </p:sp>
        <p:sp>
          <p:nvSpPr>
            <p:cNvPr name="TextBox 33" id="33"/>
            <p:cNvSpPr txBox="true"/>
            <p:nvPr/>
          </p:nvSpPr>
          <p:spPr>
            <a:xfrm>
              <a:off x="0" y="-28575"/>
              <a:ext cx="3748316" cy="5764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79"/>
                </a:lnSpc>
              </a:pPr>
              <a:r>
                <a:rPr lang="en-US" sz="164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84×84×4 grayscale</a:t>
              </a:r>
            </a:p>
          </p:txBody>
        </p:sp>
      </p:grpSp>
      <p:grpSp>
        <p:nvGrpSpPr>
          <p:cNvPr name="Group 34" id="34"/>
          <p:cNvGrpSpPr/>
          <p:nvPr/>
        </p:nvGrpSpPr>
        <p:grpSpPr>
          <a:xfrm rot="0">
            <a:off x="7420137" y="3463557"/>
            <a:ext cx="246240" cy="273777"/>
            <a:chOff x="0" y="0"/>
            <a:chExt cx="328320" cy="36503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328295" cy="364998"/>
            </a:xfrm>
            <a:custGeom>
              <a:avLst/>
              <a:gdLst/>
              <a:ahLst/>
              <a:cxnLst/>
              <a:rect r="r" b="b" t="t" l="l"/>
              <a:pathLst>
                <a:path h="364998" w="328295">
                  <a:moveTo>
                    <a:pt x="0" y="91313"/>
                  </a:moveTo>
                  <a:lnTo>
                    <a:pt x="164211" y="91313"/>
                  </a:lnTo>
                  <a:lnTo>
                    <a:pt x="164211" y="0"/>
                  </a:lnTo>
                  <a:lnTo>
                    <a:pt x="328295" y="182499"/>
                  </a:lnTo>
                  <a:lnTo>
                    <a:pt x="164211" y="364998"/>
                  </a:lnTo>
                  <a:lnTo>
                    <a:pt x="164211" y="273812"/>
                  </a:lnTo>
                  <a:lnTo>
                    <a:pt x="0" y="273812"/>
                  </a:lnTo>
                  <a:close/>
                </a:path>
              </a:pathLst>
            </a:custGeom>
            <a:solidFill>
              <a:srgbClr val="FFB703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7657938" y="2527935"/>
            <a:ext cx="2967447" cy="2144487"/>
            <a:chOff x="0" y="0"/>
            <a:chExt cx="3956596" cy="2859316"/>
          </a:xfrm>
        </p:grpSpPr>
        <p:sp>
          <p:nvSpPr>
            <p:cNvPr name="Freeform 37" id="37"/>
            <p:cNvSpPr/>
            <p:nvPr/>
          </p:nvSpPr>
          <p:spPr>
            <a:xfrm flipH="false" flipV="false" rot="0">
              <a:off x="0" y="0"/>
              <a:ext cx="3956558" cy="2859278"/>
            </a:xfrm>
            <a:custGeom>
              <a:avLst/>
              <a:gdLst/>
              <a:ahLst/>
              <a:cxnLst/>
              <a:rect r="r" b="b" t="t" l="l"/>
              <a:pathLst>
                <a:path h="2859278" w="3956558">
                  <a:moveTo>
                    <a:pt x="0" y="147574"/>
                  </a:moveTo>
                  <a:cubicBezTo>
                    <a:pt x="0" y="66040"/>
                    <a:pt x="66040" y="0"/>
                    <a:pt x="147574" y="0"/>
                  </a:cubicBezTo>
                  <a:lnTo>
                    <a:pt x="3808984" y="0"/>
                  </a:lnTo>
                  <a:cubicBezTo>
                    <a:pt x="3890518" y="0"/>
                    <a:pt x="3956558" y="66040"/>
                    <a:pt x="3956558" y="147574"/>
                  </a:cubicBezTo>
                  <a:lnTo>
                    <a:pt x="3956558" y="2711704"/>
                  </a:lnTo>
                  <a:cubicBezTo>
                    <a:pt x="3956558" y="2793238"/>
                    <a:pt x="3890518" y="2859278"/>
                    <a:pt x="3808984" y="2859278"/>
                  </a:cubicBezTo>
                  <a:lnTo>
                    <a:pt x="147574" y="2859278"/>
                  </a:lnTo>
                  <a:cubicBezTo>
                    <a:pt x="66040" y="2859278"/>
                    <a:pt x="0" y="2793238"/>
                    <a:pt x="0" y="2711704"/>
                  </a:cubicBezTo>
                  <a:close/>
                </a:path>
              </a:pathLst>
            </a:custGeom>
            <a:solidFill>
              <a:srgbClr val="16213E"/>
            </a:solidFill>
            <a:ln w="19050" cap="sq">
              <a:solidFill>
                <a:srgbClr val="2A3B5C"/>
              </a:solidFill>
              <a:prstDash val="solid"/>
              <a:miter/>
            </a:ln>
          </p:spPr>
        </p:sp>
      </p:grpSp>
      <p:grpSp>
        <p:nvGrpSpPr>
          <p:cNvPr name="Group 38" id="38"/>
          <p:cNvGrpSpPr/>
          <p:nvPr/>
        </p:nvGrpSpPr>
        <p:grpSpPr>
          <a:xfrm rot="0">
            <a:off x="8661597" y="2784243"/>
            <a:ext cx="959577" cy="959577"/>
            <a:chOff x="0" y="0"/>
            <a:chExt cx="1279436" cy="127943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279398" cy="1279398"/>
            </a:xfrm>
            <a:custGeom>
              <a:avLst/>
              <a:gdLst/>
              <a:ahLst/>
              <a:cxnLst/>
              <a:rect r="r" b="b" t="t" l="l"/>
              <a:pathLst>
                <a:path h="1279398" w="1279398">
                  <a:moveTo>
                    <a:pt x="0" y="639699"/>
                  </a:moveTo>
                  <a:cubicBezTo>
                    <a:pt x="0" y="286385"/>
                    <a:pt x="286385" y="0"/>
                    <a:pt x="639699" y="0"/>
                  </a:cubicBezTo>
                  <a:cubicBezTo>
                    <a:pt x="993013" y="0"/>
                    <a:pt x="1279398" y="286385"/>
                    <a:pt x="1279398" y="639699"/>
                  </a:cubicBezTo>
                  <a:cubicBezTo>
                    <a:pt x="1279398" y="993013"/>
                    <a:pt x="993013" y="1279398"/>
                    <a:pt x="639699" y="1279398"/>
                  </a:cubicBezTo>
                  <a:cubicBezTo>
                    <a:pt x="286385" y="1279398"/>
                    <a:pt x="0" y="993013"/>
                    <a:pt x="0" y="63969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40" id="40"/>
          <p:cNvGrpSpPr/>
          <p:nvPr/>
        </p:nvGrpSpPr>
        <p:grpSpPr>
          <a:xfrm rot="0">
            <a:off x="8892178" y="3014824"/>
            <a:ext cx="498958" cy="498958"/>
            <a:chOff x="0" y="0"/>
            <a:chExt cx="665277" cy="665277"/>
          </a:xfrm>
        </p:grpSpPr>
        <p:sp>
          <p:nvSpPr>
            <p:cNvPr name="Freeform 41" id="41" descr="/tmp/claude-1000/-media-hung-Work-Project-AI-Engineer-RL-contra-PPO/70c7dc7d-8f3f-4139-8f25-95b0e9e6dca5/scratchpad/build/icons/robot.png"/>
            <p:cNvSpPr/>
            <p:nvPr/>
          </p:nvSpPr>
          <p:spPr>
            <a:xfrm flipH="false" flipV="false" rot="0">
              <a:off x="0" y="0"/>
              <a:ext cx="665226" cy="665226"/>
            </a:xfrm>
            <a:custGeom>
              <a:avLst/>
              <a:gdLst/>
              <a:ahLst/>
              <a:cxnLst/>
              <a:rect r="r" b="b" t="t" l="l"/>
              <a:pathLst>
                <a:path h="665226" w="665226">
                  <a:moveTo>
                    <a:pt x="0" y="0"/>
                  </a:moveTo>
                  <a:lnTo>
                    <a:pt x="665226" y="0"/>
                  </a:lnTo>
                  <a:lnTo>
                    <a:pt x="665226" y="665226"/>
                  </a:lnTo>
                  <a:lnTo>
                    <a:pt x="0" y="6652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7" b="-7"/>
              </a:stretch>
            </a:blip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7667463" y="3840480"/>
            <a:ext cx="2948397" cy="431076"/>
            <a:chOff x="0" y="0"/>
            <a:chExt cx="3931196" cy="574768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3931200" cy="574771"/>
            </a:xfrm>
            <a:custGeom>
              <a:avLst/>
              <a:gdLst/>
              <a:ahLst/>
              <a:cxnLst/>
              <a:rect r="r" b="b" t="t" l="l"/>
              <a:pathLst>
                <a:path h="574771" w="3931200">
                  <a:moveTo>
                    <a:pt x="0" y="0"/>
                  </a:moveTo>
                  <a:lnTo>
                    <a:pt x="3931200" y="0"/>
                  </a:lnTo>
                  <a:lnTo>
                    <a:pt x="3931200" y="574771"/>
                  </a:lnTo>
                  <a:lnTo>
                    <a:pt x="0" y="57477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05" r="0" b="-80933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47625"/>
              <a:ext cx="3931196" cy="6223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09"/>
                </a:lnSpc>
              </a:pPr>
              <a:r>
                <a:rPr lang="en-US" b="true" sz="2174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PPO Agent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7736043" y="4238463"/>
            <a:ext cx="2811237" cy="410940"/>
            <a:chOff x="0" y="0"/>
            <a:chExt cx="3748316" cy="54792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3748320" cy="547924"/>
            </a:xfrm>
            <a:custGeom>
              <a:avLst/>
              <a:gdLst/>
              <a:ahLst/>
              <a:cxnLst/>
              <a:rect r="r" b="b" t="t" l="l"/>
              <a:pathLst>
                <a:path h="547924" w="3748320">
                  <a:moveTo>
                    <a:pt x="0" y="0"/>
                  </a:moveTo>
                  <a:lnTo>
                    <a:pt x="3748320" y="0"/>
                  </a:lnTo>
                  <a:lnTo>
                    <a:pt x="3748320" y="547924"/>
                  </a:lnTo>
                  <a:lnTo>
                    <a:pt x="0" y="547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296" r="0" b="-83295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28575"/>
              <a:ext cx="3748316" cy="5764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79"/>
                </a:lnSpc>
              </a:pPr>
              <a:r>
                <a:rPr lang="en-US" sz="164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CnnPolicy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10616403" y="3463557"/>
            <a:ext cx="246240" cy="273777"/>
            <a:chOff x="0" y="0"/>
            <a:chExt cx="328320" cy="365036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28295" cy="364998"/>
            </a:xfrm>
            <a:custGeom>
              <a:avLst/>
              <a:gdLst/>
              <a:ahLst/>
              <a:cxnLst/>
              <a:rect r="r" b="b" t="t" l="l"/>
              <a:pathLst>
                <a:path h="364998" w="328295">
                  <a:moveTo>
                    <a:pt x="0" y="91313"/>
                  </a:moveTo>
                  <a:lnTo>
                    <a:pt x="164211" y="91313"/>
                  </a:lnTo>
                  <a:lnTo>
                    <a:pt x="164211" y="0"/>
                  </a:lnTo>
                  <a:lnTo>
                    <a:pt x="328295" y="182499"/>
                  </a:lnTo>
                  <a:lnTo>
                    <a:pt x="164211" y="364998"/>
                  </a:lnTo>
                  <a:lnTo>
                    <a:pt x="164211" y="273812"/>
                  </a:lnTo>
                  <a:lnTo>
                    <a:pt x="0" y="273812"/>
                  </a:lnTo>
                  <a:close/>
                </a:path>
              </a:pathLst>
            </a:custGeom>
            <a:solidFill>
              <a:srgbClr val="FFB703"/>
            </a:solid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0853652" y="2527935"/>
            <a:ext cx="2967447" cy="2144487"/>
            <a:chOff x="0" y="0"/>
            <a:chExt cx="3956596" cy="285931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956558" cy="2859278"/>
            </a:xfrm>
            <a:custGeom>
              <a:avLst/>
              <a:gdLst/>
              <a:ahLst/>
              <a:cxnLst/>
              <a:rect r="r" b="b" t="t" l="l"/>
              <a:pathLst>
                <a:path h="2859278" w="3956558">
                  <a:moveTo>
                    <a:pt x="0" y="147574"/>
                  </a:moveTo>
                  <a:cubicBezTo>
                    <a:pt x="0" y="66040"/>
                    <a:pt x="66040" y="0"/>
                    <a:pt x="147574" y="0"/>
                  </a:cubicBezTo>
                  <a:lnTo>
                    <a:pt x="3808984" y="0"/>
                  </a:lnTo>
                  <a:cubicBezTo>
                    <a:pt x="3890518" y="0"/>
                    <a:pt x="3956558" y="66040"/>
                    <a:pt x="3956558" y="147574"/>
                  </a:cubicBezTo>
                  <a:lnTo>
                    <a:pt x="3956558" y="2711704"/>
                  </a:lnTo>
                  <a:cubicBezTo>
                    <a:pt x="3956558" y="2793238"/>
                    <a:pt x="3890518" y="2859278"/>
                    <a:pt x="3808984" y="2859278"/>
                  </a:cubicBezTo>
                  <a:lnTo>
                    <a:pt x="147574" y="2859278"/>
                  </a:lnTo>
                  <a:cubicBezTo>
                    <a:pt x="66040" y="2859278"/>
                    <a:pt x="0" y="2793238"/>
                    <a:pt x="0" y="2711704"/>
                  </a:cubicBezTo>
                  <a:close/>
                </a:path>
              </a:pathLst>
            </a:custGeom>
            <a:solidFill>
              <a:srgbClr val="16213E"/>
            </a:solidFill>
            <a:ln w="19050" cap="sq">
              <a:solidFill>
                <a:srgbClr val="2A3B5C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1857320" y="2784243"/>
            <a:ext cx="959577" cy="959577"/>
            <a:chOff x="0" y="0"/>
            <a:chExt cx="1279436" cy="1279436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1279398" cy="1279398"/>
            </a:xfrm>
            <a:custGeom>
              <a:avLst/>
              <a:gdLst/>
              <a:ahLst/>
              <a:cxnLst/>
              <a:rect r="r" b="b" t="t" l="l"/>
              <a:pathLst>
                <a:path h="1279398" w="1279398">
                  <a:moveTo>
                    <a:pt x="0" y="639699"/>
                  </a:moveTo>
                  <a:cubicBezTo>
                    <a:pt x="0" y="286385"/>
                    <a:pt x="286385" y="0"/>
                    <a:pt x="639699" y="0"/>
                  </a:cubicBezTo>
                  <a:cubicBezTo>
                    <a:pt x="993013" y="0"/>
                    <a:pt x="1279398" y="286385"/>
                    <a:pt x="1279398" y="639699"/>
                  </a:cubicBezTo>
                  <a:cubicBezTo>
                    <a:pt x="1279398" y="993013"/>
                    <a:pt x="993013" y="1279398"/>
                    <a:pt x="639699" y="1279398"/>
                  </a:cubicBezTo>
                  <a:cubicBezTo>
                    <a:pt x="286385" y="1279398"/>
                    <a:pt x="0" y="993013"/>
                    <a:pt x="0" y="63969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54" id="54"/>
          <p:cNvGrpSpPr/>
          <p:nvPr/>
        </p:nvGrpSpPr>
        <p:grpSpPr>
          <a:xfrm rot="0">
            <a:off x="12087901" y="3014824"/>
            <a:ext cx="498958" cy="498958"/>
            <a:chOff x="0" y="0"/>
            <a:chExt cx="665277" cy="665277"/>
          </a:xfrm>
        </p:grpSpPr>
        <p:sp>
          <p:nvSpPr>
            <p:cNvPr name="Freeform 55" id="55" descr="/tmp/claude-1000/-media-hung-Work-Project-AI-Engineer-RL-contra-PPO/70c7dc7d-8f3f-4139-8f25-95b0e9e6dca5/scratchpad/build/icons/arrowright.png"/>
            <p:cNvSpPr/>
            <p:nvPr/>
          </p:nvSpPr>
          <p:spPr>
            <a:xfrm flipH="false" flipV="false" rot="0">
              <a:off x="0" y="0"/>
              <a:ext cx="665226" cy="665226"/>
            </a:xfrm>
            <a:custGeom>
              <a:avLst/>
              <a:gdLst/>
              <a:ahLst/>
              <a:cxnLst/>
              <a:rect r="r" b="b" t="t" l="l"/>
              <a:pathLst>
                <a:path h="665226" w="665226">
                  <a:moveTo>
                    <a:pt x="0" y="0"/>
                  </a:moveTo>
                  <a:lnTo>
                    <a:pt x="665226" y="0"/>
                  </a:lnTo>
                  <a:lnTo>
                    <a:pt x="665226" y="665226"/>
                  </a:lnTo>
                  <a:lnTo>
                    <a:pt x="0" y="6652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7" b="-7"/>
              </a:stretch>
            </a:blipFill>
          </p:spPr>
        </p:sp>
      </p:grpSp>
      <p:grpSp>
        <p:nvGrpSpPr>
          <p:cNvPr name="Group 56" id="56"/>
          <p:cNvGrpSpPr/>
          <p:nvPr/>
        </p:nvGrpSpPr>
        <p:grpSpPr>
          <a:xfrm rot="0">
            <a:off x="10863177" y="3840480"/>
            <a:ext cx="2948397" cy="431076"/>
            <a:chOff x="0" y="0"/>
            <a:chExt cx="3931196" cy="574768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3931200" cy="574771"/>
            </a:xfrm>
            <a:custGeom>
              <a:avLst/>
              <a:gdLst/>
              <a:ahLst/>
              <a:cxnLst/>
              <a:rect r="r" b="b" t="t" l="l"/>
              <a:pathLst>
                <a:path h="574771" w="3931200">
                  <a:moveTo>
                    <a:pt x="0" y="0"/>
                  </a:moveTo>
                  <a:lnTo>
                    <a:pt x="3931200" y="0"/>
                  </a:lnTo>
                  <a:lnTo>
                    <a:pt x="3931200" y="574771"/>
                  </a:lnTo>
                  <a:lnTo>
                    <a:pt x="0" y="57477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05" r="0" b="-80933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47625"/>
              <a:ext cx="3931196" cy="6223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09"/>
                </a:lnSpc>
              </a:pPr>
              <a:r>
                <a:rPr lang="en-US" b="true" sz="2174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Action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10931757" y="4238463"/>
            <a:ext cx="2811237" cy="410940"/>
            <a:chOff x="0" y="0"/>
            <a:chExt cx="3748316" cy="547920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3748320" cy="547924"/>
            </a:xfrm>
            <a:custGeom>
              <a:avLst/>
              <a:gdLst/>
              <a:ahLst/>
              <a:cxnLst/>
              <a:rect r="r" b="b" t="t" l="l"/>
              <a:pathLst>
                <a:path h="547924" w="3748320">
                  <a:moveTo>
                    <a:pt x="0" y="0"/>
                  </a:moveTo>
                  <a:lnTo>
                    <a:pt x="3748320" y="0"/>
                  </a:lnTo>
                  <a:lnTo>
                    <a:pt x="3748320" y="547924"/>
                  </a:lnTo>
                  <a:lnTo>
                    <a:pt x="0" y="547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296" r="0" b="-83295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28575"/>
              <a:ext cx="3748316" cy="5764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79"/>
                </a:lnSpc>
              </a:pPr>
              <a:r>
                <a:rPr lang="en-US" sz="164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21 discrete choices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3812117" y="3463557"/>
            <a:ext cx="246240" cy="273777"/>
            <a:chOff x="0" y="0"/>
            <a:chExt cx="328320" cy="365036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328295" cy="364998"/>
            </a:xfrm>
            <a:custGeom>
              <a:avLst/>
              <a:gdLst/>
              <a:ahLst/>
              <a:cxnLst/>
              <a:rect r="r" b="b" t="t" l="l"/>
              <a:pathLst>
                <a:path h="364998" w="328295">
                  <a:moveTo>
                    <a:pt x="0" y="91313"/>
                  </a:moveTo>
                  <a:lnTo>
                    <a:pt x="164211" y="91313"/>
                  </a:lnTo>
                  <a:lnTo>
                    <a:pt x="164211" y="0"/>
                  </a:lnTo>
                  <a:lnTo>
                    <a:pt x="328295" y="182499"/>
                  </a:lnTo>
                  <a:lnTo>
                    <a:pt x="164211" y="364998"/>
                  </a:lnTo>
                  <a:lnTo>
                    <a:pt x="164211" y="273812"/>
                  </a:lnTo>
                  <a:lnTo>
                    <a:pt x="0" y="273812"/>
                  </a:lnTo>
                  <a:close/>
                </a:path>
              </a:pathLst>
            </a:custGeom>
            <a:solidFill>
              <a:srgbClr val="FFB703"/>
            </a:solidFill>
          </p:spPr>
        </p:sp>
      </p:grpSp>
      <p:grpSp>
        <p:nvGrpSpPr>
          <p:cNvPr name="Group 64" id="64"/>
          <p:cNvGrpSpPr/>
          <p:nvPr/>
        </p:nvGrpSpPr>
        <p:grpSpPr>
          <a:xfrm rot="0">
            <a:off x="14049375" y="2527935"/>
            <a:ext cx="2967447" cy="2144487"/>
            <a:chOff x="0" y="0"/>
            <a:chExt cx="3956596" cy="2859316"/>
          </a:xfrm>
        </p:grpSpPr>
        <p:sp>
          <p:nvSpPr>
            <p:cNvPr name="Freeform 65" id="65"/>
            <p:cNvSpPr/>
            <p:nvPr/>
          </p:nvSpPr>
          <p:spPr>
            <a:xfrm flipH="false" flipV="false" rot="0">
              <a:off x="0" y="0"/>
              <a:ext cx="3956558" cy="2859278"/>
            </a:xfrm>
            <a:custGeom>
              <a:avLst/>
              <a:gdLst/>
              <a:ahLst/>
              <a:cxnLst/>
              <a:rect r="r" b="b" t="t" l="l"/>
              <a:pathLst>
                <a:path h="2859278" w="3956558">
                  <a:moveTo>
                    <a:pt x="0" y="147574"/>
                  </a:moveTo>
                  <a:cubicBezTo>
                    <a:pt x="0" y="66040"/>
                    <a:pt x="66040" y="0"/>
                    <a:pt x="147574" y="0"/>
                  </a:cubicBezTo>
                  <a:lnTo>
                    <a:pt x="3808984" y="0"/>
                  </a:lnTo>
                  <a:cubicBezTo>
                    <a:pt x="3890518" y="0"/>
                    <a:pt x="3956558" y="66040"/>
                    <a:pt x="3956558" y="147574"/>
                  </a:cubicBezTo>
                  <a:lnTo>
                    <a:pt x="3956558" y="2711704"/>
                  </a:lnTo>
                  <a:cubicBezTo>
                    <a:pt x="3956558" y="2793238"/>
                    <a:pt x="3890518" y="2859278"/>
                    <a:pt x="3808984" y="2859278"/>
                  </a:cubicBezTo>
                  <a:lnTo>
                    <a:pt x="147574" y="2859278"/>
                  </a:lnTo>
                  <a:cubicBezTo>
                    <a:pt x="66040" y="2859278"/>
                    <a:pt x="0" y="2793238"/>
                    <a:pt x="0" y="2711704"/>
                  </a:cubicBezTo>
                  <a:close/>
                </a:path>
              </a:pathLst>
            </a:custGeom>
            <a:solidFill>
              <a:srgbClr val="16213E"/>
            </a:solidFill>
            <a:ln w="19050" cap="sq">
              <a:solidFill>
                <a:srgbClr val="2A3B5C"/>
              </a:solidFill>
              <a:prstDash val="solid"/>
              <a:miter/>
            </a:ln>
          </p:spPr>
        </p:sp>
      </p:grpSp>
      <p:grpSp>
        <p:nvGrpSpPr>
          <p:cNvPr name="Group 66" id="66"/>
          <p:cNvGrpSpPr/>
          <p:nvPr/>
        </p:nvGrpSpPr>
        <p:grpSpPr>
          <a:xfrm rot="0">
            <a:off x="15053577" y="2784243"/>
            <a:ext cx="959577" cy="959577"/>
            <a:chOff x="0" y="0"/>
            <a:chExt cx="1279436" cy="1279436"/>
          </a:xfrm>
        </p:grpSpPr>
        <p:sp>
          <p:nvSpPr>
            <p:cNvPr name="Freeform 67" id="67"/>
            <p:cNvSpPr/>
            <p:nvPr/>
          </p:nvSpPr>
          <p:spPr>
            <a:xfrm flipH="false" flipV="false" rot="0">
              <a:off x="0" y="0"/>
              <a:ext cx="1279398" cy="1279398"/>
            </a:xfrm>
            <a:custGeom>
              <a:avLst/>
              <a:gdLst/>
              <a:ahLst/>
              <a:cxnLst/>
              <a:rect r="r" b="b" t="t" l="l"/>
              <a:pathLst>
                <a:path h="1279398" w="1279398">
                  <a:moveTo>
                    <a:pt x="0" y="639699"/>
                  </a:moveTo>
                  <a:cubicBezTo>
                    <a:pt x="0" y="286385"/>
                    <a:pt x="286385" y="0"/>
                    <a:pt x="639699" y="0"/>
                  </a:cubicBezTo>
                  <a:cubicBezTo>
                    <a:pt x="993013" y="0"/>
                    <a:pt x="1279398" y="286385"/>
                    <a:pt x="1279398" y="639699"/>
                  </a:cubicBezTo>
                  <a:cubicBezTo>
                    <a:pt x="1279398" y="993013"/>
                    <a:pt x="993013" y="1279398"/>
                    <a:pt x="639699" y="1279398"/>
                  </a:cubicBezTo>
                  <a:cubicBezTo>
                    <a:pt x="286385" y="1279398"/>
                    <a:pt x="0" y="993013"/>
                    <a:pt x="0" y="63969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68" id="68"/>
          <p:cNvGrpSpPr/>
          <p:nvPr/>
        </p:nvGrpSpPr>
        <p:grpSpPr>
          <a:xfrm rot="0">
            <a:off x="15283624" y="3014824"/>
            <a:ext cx="498958" cy="498958"/>
            <a:chOff x="0" y="0"/>
            <a:chExt cx="665277" cy="665277"/>
          </a:xfrm>
        </p:grpSpPr>
        <p:sp>
          <p:nvSpPr>
            <p:cNvPr name="Freeform 69" id="69" descr="/tmp/claude-1000/-media-hung-Work-Project-AI-Engineer-RL-contra-PPO/70c7dc7d-8f3f-4139-8f25-95b0e9e6dca5/scratchpad/build/icons/trophy.png"/>
            <p:cNvSpPr/>
            <p:nvPr/>
          </p:nvSpPr>
          <p:spPr>
            <a:xfrm flipH="false" flipV="false" rot="0">
              <a:off x="0" y="0"/>
              <a:ext cx="665226" cy="665226"/>
            </a:xfrm>
            <a:custGeom>
              <a:avLst/>
              <a:gdLst/>
              <a:ahLst/>
              <a:cxnLst/>
              <a:rect r="r" b="b" t="t" l="l"/>
              <a:pathLst>
                <a:path h="665226" w="665226">
                  <a:moveTo>
                    <a:pt x="0" y="0"/>
                  </a:moveTo>
                  <a:lnTo>
                    <a:pt x="665226" y="0"/>
                  </a:lnTo>
                  <a:lnTo>
                    <a:pt x="665226" y="665226"/>
                  </a:lnTo>
                  <a:lnTo>
                    <a:pt x="0" y="665226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8"/>
              <a:stretch>
                <a:fillRect l="0" t="0" r="-7" b="-7"/>
              </a:stretch>
            </a:blipFill>
          </p:spPr>
        </p:sp>
      </p:grpSp>
      <p:grpSp>
        <p:nvGrpSpPr>
          <p:cNvPr name="Group 70" id="70"/>
          <p:cNvGrpSpPr/>
          <p:nvPr/>
        </p:nvGrpSpPr>
        <p:grpSpPr>
          <a:xfrm rot="0">
            <a:off x="14058900" y="3840480"/>
            <a:ext cx="2948397" cy="431076"/>
            <a:chOff x="0" y="0"/>
            <a:chExt cx="3931196" cy="574768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931200" cy="574771"/>
            </a:xfrm>
            <a:custGeom>
              <a:avLst/>
              <a:gdLst/>
              <a:ahLst/>
              <a:cxnLst/>
              <a:rect r="r" b="b" t="t" l="l"/>
              <a:pathLst>
                <a:path h="574771" w="3931200">
                  <a:moveTo>
                    <a:pt x="0" y="0"/>
                  </a:moveTo>
                  <a:lnTo>
                    <a:pt x="3931200" y="0"/>
                  </a:lnTo>
                  <a:lnTo>
                    <a:pt x="3931200" y="574771"/>
                  </a:lnTo>
                  <a:lnTo>
                    <a:pt x="0" y="57477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5605" r="0" b="-80933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47625"/>
              <a:ext cx="3931196" cy="62239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609"/>
                </a:lnSpc>
              </a:pPr>
              <a:r>
                <a:rPr lang="en-US" b="true" sz="2174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Reward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14127480" y="4238463"/>
            <a:ext cx="2811237" cy="410940"/>
            <a:chOff x="0" y="0"/>
            <a:chExt cx="3748316" cy="547920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3748320" cy="547924"/>
            </a:xfrm>
            <a:custGeom>
              <a:avLst/>
              <a:gdLst/>
              <a:ahLst/>
              <a:cxnLst/>
              <a:rect r="r" b="b" t="t" l="l"/>
              <a:pathLst>
                <a:path h="547924" w="3748320">
                  <a:moveTo>
                    <a:pt x="0" y="0"/>
                  </a:moveTo>
                  <a:lnTo>
                    <a:pt x="3748320" y="0"/>
                  </a:lnTo>
                  <a:lnTo>
                    <a:pt x="3748320" y="547924"/>
                  </a:lnTo>
                  <a:lnTo>
                    <a:pt x="0" y="547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3296" r="0" b="-83295"/>
              </a:stretch>
            </a:blipFill>
          </p:spPr>
        </p:sp>
        <p:sp>
          <p:nvSpPr>
            <p:cNvPr name="TextBox 75" id="75"/>
            <p:cNvSpPr txBox="true"/>
            <p:nvPr/>
          </p:nvSpPr>
          <p:spPr>
            <a:xfrm>
              <a:off x="0" y="-28575"/>
              <a:ext cx="3748316" cy="57649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979"/>
                </a:lnSpc>
              </a:pPr>
              <a:r>
                <a:rPr lang="en-US" sz="164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progress+score+risk</a:t>
              </a:r>
            </a:p>
          </p:txBody>
        </p:sp>
      </p:grpSp>
      <p:sp>
        <p:nvSpPr>
          <p:cNvPr name="AutoShape 76" id="76"/>
          <p:cNvSpPr/>
          <p:nvPr/>
        </p:nvSpPr>
        <p:spPr>
          <a:xfrm rot="6360">
            <a:off x="1261177" y="5038125"/>
            <a:ext cx="15760960" cy="0"/>
          </a:xfrm>
          <a:prstGeom prst="line">
            <a:avLst/>
          </a:prstGeom>
          <a:ln cap="rnd" w="19050">
            <a:solidFill>
              <a:srgbClr val="FFB703"/>
            </a:solidFill>
            <a:prstDash val="solid"/>
            <a:headEnd type="none" len="sm" w="sm"/>
            <a:tailEnd type="triangle" len="med" w="lg"/>
          </a:ln>
        </p:spPr>
      </p:sp>
      <p:grpSp>
        <p:nvGrpSpPr>
          <p:cNvPr name="Group 77" id="77"/>
          <p:cNvGrpSpPr/>
          <p:nvPr/>
        </p:nvGrpSpPr>
        <p:grpSpPr>
          <a:xfrm rot="0">
            <a:off x="1275483" y="5239617"/>
            <a:ext cx="15731823" cy="410940"/>
            <a:chOff x="0" y="0"/>
            <a:chExt cx="20975764" cy="547920"/>
          </a:xfrm>
        </p:grpSpPr>
        <p:sp>
          <p:nvSpPr>
            <p:cNvPr name="Freeform 78" id="78"/>
            <p:cNvSpPr/>
            <p:nvPr/>
          </p:nvSpPr>
          <p:spPr>
            <a:xfrm flipH="false" flipV="false" rot="0">
              <a:off x="0" y="0"/>
              <a:ext cx="20975760" cy="547924"/>
            </a:xfrm>
            <a:custGeom>
              <a:avLst/>
              <a:gdLst/>
              <a:ahLst/>
              <a:cxnLst/>
              <a:rect r="r" b="b" t="t" l="l"/>
              <a:pathLst>
                <a:path h="547924" w="20975760">
                  <a:moveTo>
                    <a:pt x="0" y="0"/>
                  </a:moveTo>
                  <a:lnTo>
                    <a:pt x="20975760" y="0"/>
                  </a:lnTo>
                  <a:lnTo>
                    <a:pt x="20975760" y="547924"/>
                  </a:lnTo>
                  <a:lnTo>
                    <a:pt x="0" y="5479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95931" r="0" b="-695930"/>
              </a:stretch>
            </a:blipFill>
          </p:spPr>
        </p:sp>
        <p:sp>
          <p:nvSpPr>
            <p:cNvPr name="TextBox 79" id="79"/>
            <p:cNvSpPr txBox="true"/>
            <p:nvPr/>
          </p:nvSpPr>
          <p:spPr>
            <a:xfrm>
              <a:off x="0" y="-47625"/>
              <a:ext cx="20975764" cy="59554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2399"/>
                </a:lnSpc>
              </a:pPr>
              <a:r>
                <a:rPr lang="en-US" sz="1999" i="true" spc="-1">
                  <a:solidFill>
                    <a:srgbClr val="9AA6C1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reward + next observation loop back into the cycle</a:t>
              </a:r>
            </a:p>
          </p:txBody>
        </p:sp>
      </p:grpSp>
      <p:grpSp>
        <p:nvGrpSpPr>
          <p:cNvPr name="Group 80" id="80"/>
          <p:cNvGrpSpPr/>
          <p:nvPr/>
        </p:nvGrpSpPr>
        <p:grpSpPr>
          <a:xfrm rot="0">
            <a:off x="822960" y="5966460"/>
            <a:ext cx="16636860" cy="685257"/>
            <a:chOff x="0" y="0"/>
            <a:chExt cx="22182480" cy="913676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22182455" cy="913638"/>
            </a:xfrm>
            <a:custGeom>
              <a:avLst/>
              <a:gdLst/>
              <a:ahLst/>
              <a:cxnLst/>
              <a:rect r="r" b="b" t="t" l="l"/>
              <a:pathLst>
                <a:path h="913638" w="22182455">
                  <a:moveTo>
                    <a:pt x="0" y="109601"/>
                  </a:moveTo>
                  <a:cubicBezTo>
                    <a:pt x="0" y="49149"/>
                    <a:pt x="49149" y="0"/>
                    <a:pt x="109601" y="0"/>
                  </a:cubicBezTo>
                  <a:lnTo>
                    <a:pt x="22072854" y="0"/>
                  </a:lnTo>
                  <a:cubicBezTo>
                    <a:pt x="22133433" y="0"/>
                    <a:pt x="22182455" y="49149"/>
                    <a:pt x="22182455" y="109601"/>
                  </a:cubicBezTo>
                  <a:lnTo>
                    <a:pt x="22182455" y="804037"/>
                  </a:lnTo>
                  <a:cubicBezTo>
                    <a:pt x="22182455" y="864616"/>
                    <a:pt x="22133306" y="913638"/>
                    <a:pt x="22072854" y="913638"/>
                  </a:cubicBezTo>
                  <a:lnTo>
                    <a:pt x="109601" y="913638"/>
                  </a:lnTo>
                  <a:cubicBezTo>
                    <a:pt x="49149" y="913638"/>
                    <a:pt x="0" y="864616"/>
                    <a:pt x="0" y="804037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82" id="82"/>
          <p:cNvGrpSpPr/>
          <p:nvPr/>
        </p:nvGrpSpPr>
        <p:grpSpPr>
          <a:xfrm rot="0">
            <a:off x="1165860" y="5966460"/>
            <a:ext cx="16088220" cy="685257"/>
            <a:chOff x="0" y="0"/>
            <a:chExt cx="21450960" cy="913676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21450960" cy="913680"/>
            </a:xfrm>
            <a:custGeom>
              <a:avLst/>
              <a:gdLst/>
              <a:ahLst/>
              <a:cxnLst/>
              <a:rect r="r" b="b" t="t" l="l"/>
              <a:pathLst>
                <a:path h="913680" w="21450960">
                  <a:moveTo>
                    <a:pt x="0" y="0"/>
                  </a:moveTo>
                  <a:lnTo>
                    <a:pt x="21450960" y="0"/>
                  </a:lnTo>
                  <a:lnTo>
                    <a:pt x="21450960" y="913680"/>
                  </a:lnTo>
                  <a:lnTo>
                    <a:pt x="0" y="913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07461" r="0" b="-407460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38100"/>
              <a:ext cx="21450960" cy="9517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spc="-1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ContraEnv (NESEnv subclass, reads RAM)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1206903" y="6734337"/>
            <a:ext cx="15868983" cy="685257"/>
            <a:chOff x="0" y="0"/>
            <a:chExt cx="21158644" cy="913676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21158581" cy="913638"/>
            </a:xfrm>
            <a:custGeom>
              <a:avLst/>
              <a:gdLst/>
              <a:ahLst/>
              <a:cxnLst/>
              <a:rect r="r" b="b" t="t" l="l"/>
              <a:pathLst>
                <a:path h="913638" w="21158581">
                  <a:moveTo>
                    <a:pt x="0" y="109601"/>
                  </a:moveTo>
                  <a:cubicBezTo>
                    <a:pt x="0" y="49149"/>
                    <a:pt x="49149" y="0"/>
                    <a:pt x="109601" y="0"/>
                  </a:cubicBezTo>
                  <a:lnTo>
                    <a:pt x="21048980" y="0"/>
                  </a:lnTo>
                  <a:cubicBezTo>
                    <a:pt x="21109560" y="0"/>
                    <a:pt x="21158581" y="49149"/>
                    <a:pt x="21158581" y="109601"/>
                  </a:cubicBezTo>
                  <a:lnTo>
                    <a:pt x="21158581" y="804037"/>
                  </a:lnTo>
                  <a:cubicBezTo>
                    <a:pt x="21158581" y="864616"/>
                    <a:pt x="21109432" y="913638"/>
                    <a:pt x="21048980" y="913638"/>
                  </a:cubicBezTo>
                  <a:lnTo>
                    <a:pt x="109601" y="913638"/>
                  </a:lnTo>
                  <a:cubicBezTo>
                    <a:pt x="49149" y="913638"/>
                    <a:pt x="0" y="864616"/>
                    <a:pt x="0" y="804037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87" id="87"/>
          <p:cNvGrpSpPr/>
          <p:nvPr/>
        </p:nvGrpSpPr>
        <p:grpSpPr>
          <a:xfrm rot="0">
            <a:off x="1549803" y="6734337"/>
            <a:ext cx="15320343" cy="685257"/>
            <a:chOff x="0" y="0"/>
            <a:chExt cx="20427124" cy="913676"/>
          </a:xfrm>
        </p:grpSpPr>
        <p:sp>
          <p:nvSpPr>
            <p:cNvPr name="Freeform 88" id="88"/>
            <p:cNvSpPr/>
            <p:nvPr/>
          </p:nvSpPr>
          <p:spPr>
            <a:xfrm flipH="false" flipV="false" rot="0">
              <a:off x="0" y="0"/>
              <a:ext cx="20427121" cy="913680"/>
            </a:xfrm>
            <a:custGeom>
              <a:avLst/>
              <a:gdLst/>
              <a:ahLst/>
              <a:cxnLst/>
              <a:rect r="r" b="b" t="t" l="l"/>
              <a:pathLst>
                <a:path h="913680" w="20427121">
                  <a:moveTo>
                    <a:pt x="0" y="0"/>
                  </a:moveTo>
                  <a:lnTo>
                    <a:pt x="20427121" y="0"/>
                  </a:lnTo>
                  <a:lnTo>
                    <a:pt x="20427121" y="913680"/>
                  </a:lnTo>
                  <a:lnTo>
                    <a:pt x="0" y="913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85626" r="0" b="-385626"/>
              </a:stretch>
            </a:blipFill>
          </p:spPr>
        </p:sp>
        <p:sp>
          <p:nvSpPr>
            <p:cNvPr name="TextBox 89" id="89"/>
            <p:cNvSpPr txBox="true"/>
            <p:nvPr/>
          </p:nvSpPr>
          <p:spPr>
            <a:xfrm>
              <a:off x="0" y="-38100"/>
              <a:ext cx="20427124" cy="9517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spc="-1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JoypadSpace — 21 discrete actions (COMPLEX_MOVEMENT)</a:t>
              </a:r>
            </a:p>
          </p:txBody>
        </p:sp>
      </p:grpSp>
      <p:grpSp>
        <p:nvGrpSpPr>
          <p:cNvPr name="Group 90" id="90"/>
          <p:cNvGrpSpPr/>
          <p:nvPr/>
        </p:nvGrpSpPr>
        <p:grpSpPr>
          <a:xfrm rot="0">
            <a:off x="1590837" y="7502757"/>
            <a:ext cx="15100564" cy="685257"/>
            <a:chOff x="0" y="0"/>
            <a:chExt cx="20134085" cy="913676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20134072" cy="913638"/>
            </a:xfrm>
            <a:custGeom>
              <a:avLst/>
              <a:gdLst/>
              <a:ahLst/>
              <a:cxnLst/>
              <a:rect r="r" b="b" t="t" l="l"/>
              <a:pathLst>
                <a:path h="913638" w="20134072">
                  <a:moveTo>
                    <a:pt x="0" y="109601"/>
                  </a:moveTo>
                  <a:cubicBezTo>
                    <a:pt x="0" y="49149"/>
                    <a:pt x="49149" y="0"/>
                    <a:pt x="109601" y="0"/>
                  </a:cubicBezTo>
                  <a:lnTo>
                    <a:pt x="20024471" y="0"/>
                  </a:lnTo>
                  <a:cubicBezTo>
                    <a:pt x="20085050" y="0"/>
                    <a:pt x="20134072" y="49149"/>
                    <a:pt x="20134072" y="109601"/>
                  </a:cubicBezTo>
                  <a:lnTo>
                    <a:pt x="20134072" y="804037"/>
                  </a:lnTo>
                  <a:cubicBezTo>
                    <a:pt x="20134072" y="864616"/>
                    <a:pt x="20084923" y="913638"/>
                    <a:pt x="20024471" y="913638"/>
                  </a:cubicBezTo>
                  <a:lnTo>
                    <a:pt x="109601" y="913638"/>
                  </a:lnTo>
                  <a:cubicBezTo>
                    <a:pt x="49149" y="913638"/>
                    <a:pt x="0" y="864616"/>
                    <a:pt x="0" y="804037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92" id="92"/>
          <p:cNvGrpSpPr/>
          <p:nvPr/>
        </p:nvGrpSpPr>
        <p:grpSpPr>
          <a:xfrm rot="0">
            <a:off x="1933737" y="7502757"/>
            <a:ext cx="14551924" cy="685257"/>
            <a:chOff x="0" y="0"/>
            <a:chExt cx="19402565" cy="913676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19402560" cy="913680"/>
            </a:xfrm>
            <a:custGeom>
              <a:avLst/>
              <a:gdLst/>
              <a:ahLst/>
              <a:cxnLst/>
              <a:rect r="r" b="b" t="t" l="l"/>
              <a:pathLst>
                <a:path h="913680" w="19402560">
                  <a:moveTo>
                    <a:pt x="0" y="0"/>
                  </a:moveTo>
                  <a:lnTo>
                    <a:pt x="19402560" y="0"/>
                  </a:lnTo>
                  <a:lnTo>
                    <a:pt x="19402560" y="913680"/>
                  </a:lnTo>
                  <a:lnTo>
                    <a:pt x="0" y="913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63777" r="0" b="-363776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38100"/>
              <a:ext cx="19402565" cy="9517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spc="-1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ContraGymnasiumEnv — frame-skip=4, grayscale, resize 84×84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1975323" y="8270643"/>
            <a:ext cx="14332677" cy="685257"/>
            <a:chOff x="0" y="0"/>
            <a:chExt cx="19110236" cy="913676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19110198" cy="913638"/>
            </a:xfrm>
            <a:custGeom>
              <a:avLst/>
              <a:gdLst/>
              <a:ahLst/>
              <a:cxnLst/>
              <a:rect r="r" b="b" t="t" l="l"/>
              <a:pathLst>
                <a:path h="913638" w="19110198">
                  <a:moveTo>
                    <a:pt x="0" y="109601"/>
                  </a:moveTo>
                  <a:cubicBezTo>
                    <a:pt x="0" y="49149"/>
                    <a:pt x="49149" y="0"/>
                    <a:pt x="109601" y="0"/>
                  </a:cubicBezTo>
                  <a:lnTo>
                    <a:pt x="19000597" y="0"/>
                  </a:lnTo>
                  <a:cubicBezTo>
                    <a:pt x="19061176" y="0"/>
                    <a:pt x="19110198" y="49149"/>
                    <a:pt x="19110198" y="109601"/>
                  </a:cubicBezTo>
                  <a:lnTo>
                    <a:pt x="19110198" y="804037"/>
                  </a:lnTo>
                  <a:cubicBezTo>
                    <a:pt x="19110198" y="864616"/>
                    <a:pt x="19061049" y="913638"/>
                    <a:pt x="19000597" y="913638"/>
                  </a:cubicBezTo>
                  <a:lnTo>
                    <a:pt x="109601" y="913638"/>
                  </a:lnTo>
                  <a:cubicBezTo>
                    <a:pt x="49149" y="913638"/>
                    <a:pt x="0" y="864616"/>
                    <a:pt x="0" y="804037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97" id="97"/>
          <p:cNvGrpSpPr/>
          <p:nvPr/>
        </p:nvGrpSpPr>
        <p:grpSpPr>
          <a:xfrm rot="0">
            <a:off x="2318223" y="8270643"/>
            <a:ext cx="13784037" cy="685257"/>
            <a:chOff x="0" y="0"/>
            <a:chExt cx="18378716" cy="913676"/>
          </a:xfrm>
        </p:grpSpPr>
        <p:sp>
          <p:nvSpPr>
            <p:cNvPr name="Freeform 98" id="98"/>
            <p:cNvSpPr/>
            <p:nvPr/>
          </p:nvSpPr>
          <p:spPr>
            <a:xfrm flipH="false" flipV="false" rot="0">
              <a:off x="0" y="0"/>
              <a:ext cx="18378720" cy="913680"/>
            </a:xfrm>
            <a:custGeom>
              <a:avLst/>
              <a:gdLst/>
              <a:ahLst/>
              <a:cxnLst/>
              <a:rect r="r" b="b" t="t" l="l"/>
              <a:pathLst>
                <a:path h="913680" w="18378720">
                  <a:moveTo>
                    <a:pt x="0" y="0"/>
                  </a:moveTo>
                  <a:lnTo>
                    <a:pt x="18378720" y="0"/>
                  </a:lnTo>
                  <a:lnTo>
                    <a:pt x="18378720" y="913680"/>
                  </a:lnTo>
                  <a:lnTo>
                    <a:pt x="0" y="913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41942" r="0" b="-341942"/>
              </a:stretch>
            </a:blipFill>
          </p:spPr>
        </p:sp>
        <p:sp>
          <p:nvSpPr>
            <p:cNvPr name="TextBox 99" id="99"/>
            <p:cNvSpPr txBox="true"/>
            <p:nvPr/>
          </p:nvSpPr>
          <p:spPr>
            <a:xfrm>
              <a:off x="0" y="-38100"/>
              <a:ext cx="18378716" cy="9517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spc="-1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SubprocVecEnv × N parallel → VecFrameStack (n_stack=4) → VecMonitor → VecTransposeImage</a:t>
              </a:r>
            </a:p>
          </p:txBody>
        </p:sp>
      </p:grpSp>
      <p:grpSp>
        <p:nvGrpSpPr>
          <p:cNvPr name="Group 100" id="100"/>
          <p:cNvGrpSpPr/>
          <p:nvPr/>
        </p:nvGrpSpPr>
        <p:grpSpPr>
          <a:xfrm rot="0">
            <a:off x="2359257" y="9039063"/>
            <a:ext cx="13564800" cy="685257"/>
            <a:chOff x="0" y="0"/>
            <a:chExt cx="18086400" cy="913676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18086324" cy="913638"/>
            </a:xfrm>
            <a:custGeom>
              <a:avLst/>
              <a:gdLst/>
              <a:ahLst/>
              <a:cxnLst/>
              <a:rect r="r" b="b" t="t" l="l"/>
              <a:pathLst>
                <a:path h="913638" w="18086324">
                  <a:moveTo>
                    <a:pt x="0" y="109601"/>
                  </a:moveTo>
                  <a:cubicBezTo>
                    <a:pt x="0" y="49149"/>
                    <a:pt x="49149" y="0"/>
                    <a:pt x="109601" y="0"/>
                  </a:cubicBezTo>
                  <a:lnTo>
                    <a:pt x="17976723" y="0"/>
                  </a:lnTo>
                  <a:cubicBezTo>
                    <a:pt x="18037302" y="0"/>
                    <a:pt x="18086324" y="49149"/>
                    <a:pt x="18086324" y="109601"/>
                  </a:cubicBezTo>
                  <a:lnTo>
                    <a:pt x="18086324" y="804037"/>
                  </a:lnTo>
                  <a:cubicBezTo>
                    <a:pt x="18086324" y="864616"/>
                    <a:pt x="18037175" y="913638"/>
                    <a:pt x="17976723" y="913638"/>
                  </a:cubicBezTo>
                  <a:lnTo>
                    <a:pt x="109601" y="913638"/>
                  </a:lnTo>
                  <a:cubicBezTo>
                    <a:pt x="49149" y="913638"/>
                    <a:pt x="0" y="864616"/>
                    <a:pt x="0" y="804037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2702157" y="9039063"/>
            <a:ext cx="13016160" cy="685257"/>
            <a:chOff x="0" y="0"/>
            <a:chExt cx="17354880" cy="913676"/>
          </a:xfrm>
        </p:grpSpPr>
        <p:sp>
          <p:nvSpPr>
            <p:cNvPr name="Freeform 103" id="103"/>
            <p:cNvSpPr/>
            <p:nvPr/>
          </p:nvSpPr>
          <p:spPr>
            <a:xfrm flipH="false" flipV="false" rot="0">
              <a:off x="0" y="0"/>
              <a:ext cx="17354880" cy="913680"/>
            </a:xfrm>
            <a:custGeom>
              <a:avLst/>
              <a:gdLst/>
              <a:ahLst/>
              <a:cxnLst/>
              <a:rect r="r" b="b" t="t" l="l"/>
              <a:pathLst>
                <a:path h="913680" w="17354880">
                  <a:moveTo>
                    <a:pt x="0" y="0"/>
                  </a:moveTo>
                  <a:lnTo>
                    <a:pt x="17354880" y="0"/>
                  </a:lnTo>
                  <a:lnTo>
                    <a:pt x="17354880" y="913680"/>
                  </a:lnTo>
                  <a:lnTo>
                    <a:pt x="0" y="9136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320108" r="0" b="-320108"/>
              </a:stretch>
            </a:blipFill>
          </p:spPr>
        </p:sp>
        <p:sp>
          <p:nvSpPr>
            <p:cNvPr name="TextBox 104" id="104"/>
            <p:cNvSpPr txBox="true"/>
            <p:nvPr/>
          </p:nvSpPr>
          <p:spPr>
            <a:xfrm>
              <a:off x="0" y="-38100"/>
              <a:ext cx="17354880" cy="9517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070"/>
                </a:lnSpc>
              </a:pPr>
              <a:r>
                <a:rPr lang="en-US" sz="1725" spc="-1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PPO (Stable-Baselines3), policy = CnnPolicy</a:t>
              </a:r>
            </a:p>
          </p:txBody>
        </p:sp>
      </p:grpSp>
      <p:grpSp>
        <p:nvGrpSpPr>
          <p:cNvPr name="Group 105" id="105"/>
          <p:cNvGrpSpPr/>
          <p:nvPr/>
        </p:nvGrpSpPr>
        <p:grpSpPr>
          <a:xfrm rot="0">
            <a:off x="685800" y="9710823"/>
            <a:ext cx="4114257" cy="410937"/>
            <a:chOff x="0" y="0"/>
            <a:chExt cx="5485676" cy="547916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5485680" cy="547920"/>
            </a:xfrm>
            <a:custGeom>
              <a:avLst/>
              <a:gdLst/>
              <a:ahLst/>
              <a:cxnLst/>
              <a:rect r="r" b="b" t="t" l="l"/>
              <a:pathLst>
                <a:path h="547920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081" r="0" b="-145080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38100"/>
              <a:ext cx="5485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Contra-PPO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16911723" y="9710823"/>
            <a:ext cx="822417" cy="410937"/>
            <a:chOff x="0" y="0"/>
            <a:chExt cx="1096556" cy="547916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1096560" cy="547920"/>
            </a:xfrm>
            <a:custGeom>
              <a:avLst/>
              <a:gdLst/>
              <a:ahLst/>
              <a:cxnLst/>
              <a:rect r="r" b="b" t="t" l="l"/>
              <a:pathLst>
                <a:path h="547920" w="1096560">
                  <a:moveTo>
                    <a:pt x="0" y="0"/>
                  </a:moveTo>
                  <a:lnTo>
                    <a:pt x="1096560" y="0"/>
                  </a:lnTo>
                  <a:lnTo>
                    <a:pt x="109656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09" t="0" r="-14109" b="0"/>
              </a:stretch>
            </a:blipFill>
          </p:spPr>
        </p:sp>
        <p:sp>
          <p:nvSpPr>
            <p:cNvPr name="TextBox 110" id="110"/>
            <p:cNvSpPr txBox="true"/>
            <p:nvPr/>
          </p:nvSpPr>
          <p:spPr>
            <a:xfrm>
              <a:off x="0" y="-38100"/>
              <a:ext cx="109655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4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5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480060"/>
            <a:ext cx="10972257" cy="410937"/>
            <a:chOff x="0" y="0"/>
            <a:chExt cx="14629676" cy="5479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29681" cy="547920"/>
            </a:xfrm>
            <a:custGeom>
              <a:avLst/>
              <a:gdLst/>
              <a:ahLst/>
              <a:cxnLst/>
              <a:rect r="r" b="b" t="t" l="l"/>
              <a:pathLst>
                <a:path h="547920" w="14629681">
                  <a:moveTo>
                    <a:pt x="0" y="0"/>
                  </a:moveTo>
                  <a:lnTo>
                    <a:pt x="14629681" y="0"/>
                  </a:lnTo>
                  <a:lnTo>
                    <a:pt x="14629681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0258" r="0" b="-47025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29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98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REWARD DESIGN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28700"/>
            <a:ext cx="15910017" cy="959577"/>
            <a:chOff x="0" y="0"/>
            <a:chExt cx="21213356" cy="12794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213359" cy="1279440"/>
            </a:xfrm>
            <a:custGeom>
              <a:avLst/>
              <a:gdLst/>
              <a:ahLst/>
              <a:cxnLst/>
              <a:rect r="r" b="b" t="t" l="l"/>
              <a:pathLst>
                <a:path h="1279440" w="21213359">
                  <a:moveTo>
                    <a:pt x="0" y="0"/>
                  </a:moveTo>
                  <a:lnTo>
                    <a:pt x="21213359" y="0"/>
                  </a:lnTo>
                  <a:lnTo>
                    <a:pt x="21213359" y="1279440"/>
                  </a:lnTo>
                  <a:lnTo>
                    <a:pt x="0" y="1279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65" r="0" b="-27306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213356" cy="12984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 spc="-1">
                  <a:solidFill>
                    <a:srgbClr val="E5E9F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Reward function: progress · score · dodge · boss · level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2331720"/>
            <a:ext cx="2879817" cy="685257"/>
            <a:chOff x="0" y="0"/>
            <a:chExt cx="3839756" cy="91367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3839718" cy="913638"/>
            </a:xfrm>
            <a:custGeom>
              <a:avLst/>
              <a:gdLst/>
              <a:ahLst/>
              <a:cxnLst/>
              <a:rect r="r" b="b" t="t" l="l"/>
              <a:pathLst>
                <a:path h="913638" w="3839718">
                  <a:moveTo>
                    <a:pt x="0" y="0"/>
                  </a:moveTo>
                  <a:lnTo>
                    <a:pt x="3839718" y="0"/>
                  </a:lnTo>
                  <a:lnTo>
                    <a:pt x="3839718" y="913638"/>
                  </a:lnTo>
                  <a:lnTo>
                    <a:pt x="0" y="913638"/>
                  </a:lnTo>
                  <a:close/>
                </a:path>
              </a:pathLst>
            </a:custGeom>
            <a:solidFill>
              <a:srgbClr val="FFB703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960120" y="2331720"/>
            <a:ext cx="2605497" cy="685260"/>
            <a:chOff x="0" y="0"/>
            <a:chExt cx="3473996" cy="913680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3474000" cy="913684"/>
            </a:xfrm>
            <a:custGeom>
              <a:avLst/>
              <a:gdLst/>
              <a:ahLst/>
              <a:cxnLst/>
              <a:rect r="r" b="b" t="t" l="l"/>
              <a:pathLst>
                <a:path h="913684" w="3474000">
                  <a:moveTo>
                    <a:pt x="0" y="0"/>
                  </a:moveTo>
                  <a:lnTo>
                    <a:pt x="3474000" y="0"/>
                  </a:lnTo>
                  <a:lnTo>
                    <a:pt x="3474000" y="913684"/>
                  </a:lnTo>
                  <a:lnTo>
                    <a:pt x="0" y="9136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4086" r="0" b="-24085"/>
              </a:stretch>
            </a:blipFill>
          </p:spPr>
        </p:sp>
        <p:sp>
          <p:nvSpPr>
            <p:cNvPr name="TextBox 12" id="12"/>
            <p:cNvSpPr txBox="true"/>
            <p:nvPr/>
          </p:nvSpPr>
          <p:spPr>
            <a:xfrm>
              <a:off x="0" y="-47625"/>
              <a:ext cx="3473996" cy="9613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89"/>
                </a:lnSpc>
              </a:pPr>
              <a:r>
                <a:rPr lang="en-US" b="true" sz="2324" spc="-2">
                  <a:solidFill>
                    <a:srgbClr val="0B13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Component</a:t>
              </a:r>
            </a:p>
          </p:txBody>
        </p:sp>
      </p:grpSp>
      <p:grpSp>
        <p:nvGrpSpPr>
          <p:cNvPr name="Group 13" id="13"/>
          <p:cNvGrpSpPr/>
          <p:nvPr/>
        </p:nvGrpSpPr>
        <p:grpSpPr>
          <a:xfrm rot="0">
            <a:off x="3703320" y="2331720"/>
            <a:ext cx="6857457" cy="685257"/>
            <a:chOff x="0" y="0"/>
            <a:chExt cx="9143276" cy="913676"/>
          </a:xfrm>
        </p:grpSpPr>
        <p:sp>
          <p:nvSpPr>
            <p:cNvPr name="Freeform 14" id="14"/>
            <p:cNvSpPr/>
            <p:nvPr/>
          </p:nvSpPr>
          <p:spPr>
            <a:xfrm flipH="false" flipV="false" rot="0">
              <a:off x="0" y="0"/>
              <a:ext cx="9143238" cy="913638"/>
            </a:xfrm>
            <a:custGeom>
              <a:avLst/>
              <a:gdLst/>
              <a:ahLst/>
              <a:cxnLst/>
              <a:rect r="r" b="b" t="t" l="l"/>
              <a:pathLst>
                <a:path h="913638" w="9143238">
                  <a:moveTo>
                    <a:pt x="0" y="0"/>
                  </a:moveTo>
                  <a:lnTo>
                    <a:pt x="9143238" y="0"/>
                  </a:lnTo>
                  <a:lnTo>
                    <a:pt x="9143238" y="913638"/>
                  </a:lnTo>
                  <a:lnTo>
                    <a:pt x="0" y="913638"/>
                  </a:lnTo>
                  <a:close/>
                </a:path>
              </a:pathLst>
            </a:custGeom>
            <a:solidFill>
              <a:srgbClr val="FFB703"/>
            </a:solidFill>
          </p:spPr>
        </p:sp>
      </p:grpSp>
      <p:grpSp>
        <p:nvGrpSpPr>
          <p:cNvPr name="Group 15" id="15"/>
          <p:cNvGrpSpPr/>
          <p:nvPr/>
        </p:nvGrpSpPr>
        <p:grpSpPr>
          <a:xfrm rot="0">
            <a:off x="3840480" y="2331720"/>
            <a:ext cx="6583137" cy="685260"/>
            <a:chOff x="0" y="0"/>
            <a:chExt cx="8777516" cy="91368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8777520" cy="913684"/>
            </a:xfrm>
            <a:custGeom>
              <a:avLst/>
              <a:gdLst/>
              <a:ahLst/>
              <a:cxnLst/>
              <a:rect r="r" b="b" t="t" l="l"/>
              <a:pathLst>
                <a:path h="913684" w="8777520">
                  <a:moveTo>
                    <a:pt x="0" y="0"/>
                  </a:moveTo>
                  <a:lnTo>
                    <a:pt x="8777520" y="0"/>
                  </a:lnTo>
                  <a:lnTo>
                    <a:pt x="8777520" y="913684"/>
                  </a:lnTo>
                  <a:lnTo>
                    <a:pt x="0" y="9136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7187" r="0" b="-137187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8777516" cy="9613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89"/>
                </a:lnSpc>
              </a:pPr>
              <a:r>
                <a:rPr lang="en-US" b="true" sz="2324" spc="-2">
                  <a:solidFill>
                    <a:srgbClr val="0B13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Triggered when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10561320" y="2331720"/>
            <a:ext cx="4251417" cy="685257"/>
            <a:chOff x="0" y="0"/>
            <a:chExt cx="5668556" cy="913676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5668518" cy="913638"/>
            </a:xfrm>
            <a:custGeom>
              <a:avLst/>
              <a:gdLst/>
              <a:ahLst/>
              <a:cxnLst/>
              <a:rect r="r" b="b" t="t" l="l"/>
              <a:pathLst>
                <a:path h="913638" w="5668518">
                  <a:moveTo>
                    <a:pt x="0" y="0"/>
                  </a:moveTo>
                  <a:lnTo>
                    <a:pt x="5668518" y="0"/>
                  </a:lnTo>
                  <a:lnTo>
                    <a:pt x="5668518" y="913638"/>
                  </a:lnTo>
                  <a:lnTo>
                    <a:pt x="0" y="913638"/>
                  </a:lnTo>
                  <a:close/>
                </a:path>
              </a:pathLst>
            </a:custGeom>
            <a:solidFill>
              <a:srgbClr val="FFB703"/>
            </a:solidFill>
          </p:spPr>
        </p:sp>
      </p:grpSp>
      <p:grpSp>
        <p:nvGrpSpPr>
          <p:cNvPr name="Group 20" id="20"/>
          <p:cNvGrpSpPr/>
          <p:nvPr/>
        </p:nvGrpSpPr>
        <p:grpSpPr>
          <a:xfrm rot="0">
            <a:off x="10698480" y="2331720"/>
            <a:ext cx="3977097" cy="685260"/>
            <a:chOff x="0" y="0"/>
            <a:chExt cx="5302796" cy="91368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5302800" cy="913684"/>
            </a:xfrm>
            <a:custGeom>
              <a:avLst/>
              <a:gdLst/>
              <a:ahLst/>
              <a:cxnLst/>
              <a:rect r="r" b="b" t="t" l="l"/>
              <a:pathLst>
                <a:path h="913684" w="5302800">
                  <a:moveTo>
                    <a:pt x="0" y="0"/>
                  </a:moveTo>
                  <a:lnTo>
                    <a:pt x="5302800" y="0"/>
                  </a:lnTo>
                  <a:lnTo>
                    <a:pt x="5302800" y="913684"/>
                  </a:lnTo>
                  <a:lnTo>
                    <a:pt x="0" y="9136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3086" r="0" b="-63085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47625"/>
              <a:ext cx="5302796" cy="9613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89"/>
                </a:lnSpc>
              </a:pPr>
              <a:r>
                <a:rPr lang="en-US" b="true" sz="2324" spc="-2">
                  <a:solidFill>
                    <a:srgbClr val="0B13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Raw value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14813280" y="2331720"/>
            <a:ext cx="2646540" cy="685257"/>
            <a:chOff x="0" y="0"/>
            <a:chExt cx="3528720" cy="91367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3528695" cy="913638"/>
            </a:xfrm>
            <a:custGeom>
              <a:avLst/>
              <a:gdLst/>
              <a:ahLst/>
              <a:cxnLst/>
              <a:rect r="r" b="b" t="t" l="l"/>
              <a:pathLst>
                <a:path h="913638" w="3528695">
                  <a:moveTo>
                    <a:pt x="0" y="0"/>
                  </a:moveTo>
                  <a:lnTo>
                    <a:pt x="3528695" y="0"/>
                  </a:lnTo>
                  <a:lnTo>
                    <a:pt x="3528695" y="913638"/>
                  </a:lnTo>
                  <a:lnTo>
                    <a:pt x="0" y="913638"/>
                  </a:lnTo>
                  <a:close/>
                </a:path>
              </a:pathLst>
            </a:custGeom>
            <a:solidFill>
              <a:srgbClr val="FFB703"/>
            </a:solidFill>
          </p:spPr>
        </p:sp>
      </p:grpSp>
      <p:grpSp>
        <p:nvGrpSpPr>
          <p:cNvPr name="Group 25" id="25"/>
          <p:cNvGrpSpPr/>
          <p:nvPr/>
        </p:nvGrpSpPr>
        <p:grpSpPr>
          <a:xfrm rot="0">
            <a:off x="14950440" y="2331720"/>
            <a:ext cx="2372220" cy="819470"/>
            <a:chOff x="0" y="0"/>
            <a:chExt cx="3162960" cy="1092627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162960" cy="1092631"/>
            </a:xfrm>
            <a:custGeom>
              <a:avLst/>
              <a:gdLst/>
              <a:ahLst/>
              <a:cxnLst/>
              <a:rect r="r" b="b" t="t" l="l"/>
              <a:pathLst>
                <a:path h="1092631" w="3162960">
                  <a:moveTo>
                    <a:pt x="0" y="0"/>
                  </a:moveTo>
                  <a:lnTo>
                    <a:pt x="3162960" y="0"/>
                  </a:lnTo>
                  <a:lnTo>
                    <a:pt x="3162960" y="1092631"/>
                  </a:lnTo>
                  <a:lnTo>
                    <a:pt x="0" y="1092631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94" r="0" b="1783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3162960" cy="114025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89"/>
                </a:lnSpc>
              </a:pPr>
              <a:r>
                <a:rPr lang="en-US" b="true" sz="2324" spc="-2">
                  <a:solidFill>
                    <a:srgbClr val="0B132B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Actual contribution (÷10)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815816" y="3010376"/>
            <a:ext cx="2894105" cy="1001411"/>
            <a:chOff x="0" y="0"/>
            <a:chExt cx="3858806" cy="1335214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3858768" cy="1335151"/>
            </a:xfrm>
            <a:custGeom>
              <a:avLst/>
              <a:gdLst/>
              <a:ahLst/>
              <a:cxnLst/>
              <a:rect r="r" b="b" t="t" l="l"/>
              <a:pathLst>
                <a:path h="1335151" w="3858768">
                  <a:moveTo>
                    <a:pt x="0" y="0"/>
                  </a:moveTo>
                  <a:lnTo>
                    <a:pt x="3858768" y="0"/>
                  </a:lnTo>
                  <a:lnTo>
                    <a:pt x="385876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C2B4A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960120" y="3017520"/>
            <a:ext cx="2605497" cy="987120"/>
            <a:chOff x="0" y="0"/>
            <a:chExt cx="3473996" cy="1316160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3474000" cy="1316156"/>
            </a:xfrm>
            <a:custGeom>
              <a:avLst/>
              <a:gdLst/>
              <a:ahLst/>
              <a:cxnLst/>
              <a:rect r="r" b="b" t="t" l="l"/>
              <a:pathLst>
                <a:path h="1316156" w="3474000">
                  <a:moveTo>
                    <a:pt x="0" y="0"/>
                  </a:moveTo>
                  <a:lnTo>
                    <a:pt x="3474000" y="0"/>
                  </a:lnTo>
                  <a:lnTo>
                    <a:pt x="347400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30" r="0" b="-1431"/>
              </a:stretch>
            </a:blipFill>
          </p:spPr>
        </p:sp>
        <p:sp>
          <p:nvSpPr>
            <p:cNvPr name="TextBox 32" id="32"/>
            <p:cNvSpPr txBox="true"/>
            <p:nvPr/>
          </p:nvSpPr>
          <p:spPr>
            <a:xfrm>
              <a:off x="0" y="-57150"/>
              <a:ext cx="347399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b="true" sz="2099" spc="-2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Progress</a:t>
              </a:r>
            </a:p>
          </p:txBody>
        </p:sp>
      </p:grpSp>
      <p:grpSp>
        <p:nvGrpSpPr>
          <p:cNvPr name="Group 33" id="33"/>
          <p:cNvGrpSpPr/>
          <p:nvPr/>
        </p:nvGrpSpPr>
        <p:grpSpPr>
          <a:xfrm rot="0">
            <a:off x="3696176" y="3010376"/>
            <a:ext cx="6871745" cy="1001411"/>
            <a:chOff x="0" y="0"/>
            <a:chExt cx="9162326" cy="1335214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9162288" cy="1335151"/>
            </a:xfrm>
            <a:custGeom>
              <a:avLst/>
              <a:gdLst/>
              <a:ahLst/>
              <a:cxnLst/>
              <a:rect r="r" b="b" t="t" l="l"/>
              <a:pathLst>
                <a:path h="1335151" w="9162288">
                  <a:moveTo>
                    <a:pt x="0" y="0"/>
                  </a:moveTo>
                  <a:lnTo>
                    <a:pt x="9162288" y="0"/>
                  </a:lnTo>
                  <a:lnTo>
                    <a:pt x="916228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C2B4A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35" id="35"/>
          <p:cNvGrpSpPr/>
          <p:nvPr/>
        </p:nvGrpSpPr>
        <p:grpSpPr>
          <a:xfrm rot="0">
            <a:off x="3840480" y="3017520"/>
            <a:ext cx="6583137" cy="987120"/>
            <a:chOff x="0" y="0"/>
            <a:chExt cx="8777516" cy="131616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777520" cy="1316156"/>
            </a:xfrm>
            <a:custGeom>
              <a:avLst/>
              <a:gdLst/>
              <a:ahLst/>
              <a:cxnLst/>
              <a:rect r="r" b="b" t="t" l="l"/>
              <a:pathLst>
                <a:path h="1316156" w="8777520">
                  <a:moveTo>
                    <a:pt x="0" y="0"/>
                  </a:moveTo>
                  <a:lnTo>
                    <a:pt x="8777520" y="0"/>
                  </a:lnTo>
                  <a:lnTo>
                    <a:pt x="877752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46" r="0" b="-79947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57150"/>
              <a:ext cx="877751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Moving while alive, in the normal state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10554176" y="3010376"/>
            <a:ext cx="4265705" cy="1001411"/>
            <a:chOff x="0" y="0"/>
            <a:chExt cx="5687606" cy="1335214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5687568" cy="1335151"/>
            </a:xfrm>
            <a:custGeom>
              <a:avLst/>
              <a:gdLst/>
              <a:ahLst/>
              <a:cxnLst/>
              <a:rect r="r" b="b" t="t" l="l"/>
              <a:pathLst>
                <a:path h="1335151" w="5687568">
                  <a:moveTo>
                    <a:pt x="0" y="0"/>
                  </a:moveTo>
                  <a:lnTo>
                    <a:pt x="5687568" y="0"/>
                  </a:lnTo>
                  <a:lnTo>
                    <a:pt x="568756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C2B4A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0698480" y="3017520"/>
            <a:ext cx="3977097" cy="987120"/>
            <a:chOff x="0" y="0"/>
            <a:chExt cx="5302796" cy="1316160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302800" cy="1316156"/>
            </a:xfrm>
            <a:custGeom>
              <a:avLst/>
              <a:gdLst/>
              <a:ahLst/>
              <a:cxnLst/>
              <a:rect r="r" b="b" t="t" l="l"/>
              <a:pathLst>
                <a:path h="1316156" w="5302800">
                  <a:moveTo>
                    <a:pt x="0" y="0"/>
                  </a:moveTo>
                  <a:lnTo>
                    <a:pt x="5302800" y="0"/>
                  </a:lnTo>
                  <a:lnTo>
                    <a:pt x="530280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504" r="0" b="-28505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57150"/>
              <a:ext cx="530279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clip(Δx-0.5,-4,3) + 1.5·clip(new_progress,0,4)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4806136" y="3010376"/>
            <a:ext cx="2660828" cy="1001411"/>
            <a:chOff x="0" y="0"/>
            <a:chExt cx="3547770" cy="1335214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3547745" cy="1335151"/>
            </a:xfrm>
            <a:custGeom>
              <a:avLst/>
              <a:gdLst/>
              <a:ahLst/>
              <a:cxnLst/>
              <a:rect r="r" b="b" t="t" l="l"/>
              <a:pathLst>
                <a:path h="1335151" w="3547745">
                  <a:moveTo>
                    <a:pt x="0" y="0"/>
                  </a:moveTo>
                  <a:lnTo>
                    <a:pt x="3547745" y="0"/>
                  </a:lnTo>
                  <a:lnTo>
                    <a:pt x="3547745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C2B4A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45" id="45"/>
          <p:cNvGrpSpPr/>
          <p:nvPr/>
        </p:nvGrpSpPr>
        <p:grpSpPr>
          <a:xfrm rot="0">
            <a:off x="14950440" y="3017520"/>
            <a:ext cx="2372220" cy="987120"/>
            <a:chOff x="0" y="0"/>
            <a:chExt cx="3162960" cy="131616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3162960" cy="1316156"/>
            </a:xfrm>
            <a:custGeom>
              <a:avLst/>
              <a:gdLst/>
              <a:ahLst/>
              <a:cxnLst/>
              <a:rect r="r" b="b" t="t" l="l"/>
              <a:pathLst>
                <a:path h="1316156" w="3162960">
                  <a:moveTo>
                    <a:pt x="0" y="0"/>
                  </a:moveTo>
                  <a:lnTo>
                    <a:pt x="3162960" y="0"/>
                  </a:lnTo>
                  <a:lnTo>
                    <a:pt x="316296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389" t="0" r="-3389" b="0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57150"/>
              <a:ext cx="3162960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raw value / 10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815816" y="3998033"/>
            <a:ext cx="2894105" cy="1001411"/>
            <a:chOff x="0" y="0"/>
            <a:chExt cx="3858806" cy="1335214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3858768" cy="1335151"/>
            </a:xfrm>
            <a:custGeom>
              <a:avLst/>
              <a:gdLst/>
              <a:ahLst/>
              <a:cxnLst/>
              <a:rect r="r" b="b" t="t" l="l"/>
              <a:pathLst>
                <a:path h="1335151" w="3858768">
                  <a:moveTo>
                    <a:pt x="0" y="0"/>
                  </a:moveTo>
                  <a:lnTo>
                    <a:pt x="3858768" y="0"/>
                  </a:lnTo>
                  <a:lnTo>
                    <a:pt x="385876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6213E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960120" y="4005177"/>
            <a:ext cx="2605497" cy="987120"/>
            <a:chOff x="0" y="0"/>
            <a:chExt cx="3473996" cy="131616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3474000" cy="1316156"/>
            </a:xfrm>
            <a:custGeom>
              <a:avLst/>
              <a:gdLst/>
              <a:ahLst/>
              <a:cxnLst/>
              <a:rect r="r" b="b" t="t" l="l"/>
              <a:pathLst>
                <a:path h="1316156" w="3474000">
                  <a:moveTo>
                    <a:pt x="0" y="0"/>
                  </a:moveTo>
                  <a:lnTo>
                    <a:pt x="3474000" y="0"/>
                  </a:lnTo>
                  <a:lnTo>
                    <a:pt x="347400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30" r="0" b="-1431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57150"/>
              <a:ext cx="347399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b="true" sz="2099" spc="-2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Score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3696176" y="3998033"/>
            <a:ext cx="6871745" cy="1001411"/>
            <a:chOff x="0" y="0"/>
            <a:chExt cx="9162326" cy="1335214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9162288" cy="1335151"/>
            </a:xfrm>
            <a:custGeom>
              <a:avLst/>
              <a:gdLst/>
              <a:ahLst/>
              <a:cxnLst/>
              <a:rect r="r" b="b" t="t" l="l"/>
              <a:pathLst>
                <a:path h="1335151" w="9162288">
                  <a:moveTo>
                    <a:pt x="0" y="0"/>
                  </a:moveTo>
                  <a:lnTo>
                    <a:pt x="9162288" y="0"/>
                  </a:lnTo>
                  <a:lnTo>
                    <a:pt x="916228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6213E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3840480" y="4005177"/>
            <a:ext cx="6583137" cy="987120"/>
            <a:chOff x="0" y="0"/>
            <a:chExt cx="8777516" cy="131616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8777520" cy="1316156"/>
            </a:xfrm>
            <a:custGeom>
              <a:avLst/>
              <a:gdLst/>
              <a:ahLst/>
              <a:cxnLst/>
              <a:rect r="r" b="b" t="t" l="l"/>
              <a:pathLst>
                <a:path h="1316156" w="8777520">
                  <a:moveTo>
                    <a:pt x="0" y="0"/>
                  </a:moveTo>
                  <a:lnTo>
                    <a:pt x="8777520" y="0"/>
                  </a:lnTo>
                  <a:lnTo>
                    <a:pt x="877752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46" r="0" b="-79947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57150"/>
              <a:ext cx="877751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Score increases near the progress frontier (within 32px) or creates new progress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10554176" y="3998033"/>
            <a:ext cx="4265705" cy="1001411"/>
            <a:chOff x="0" y="0"/>
            <a:chExt cx="5687606" cy="1335214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5687568" cy="1335151"/>
            </a:xfrm>
            <a:custGeom>
              <a:avLst/>
              <a:gdLst/>
              <a:ahLst/>
              <a:cxnLst/>
              <a:rect r="r" b="b" t="t" l="l"/>
              <a:pathLst>
                <a:path h="1335151" w="5687568">
                  <a:moveTo>
                    <a:pt x="0" y="0"/>
                  </a:moveTo>
                  <a:lnTo>
                    <a:pt x="5687568" y="0"/>
                  </a:lnTo>
                  <a:lnTo>
                    <a:pt x="568756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6213E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10698480" y="4005177"/>
            <a:ext cx="3977097" cy="987120"/>
            <a:chOff x="0" y="0"/>
            <a:chExt cx="5302796" cy="1316160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5302800" cy="1316156"/>
            </a:xfrm>
            <a:custGeom>
              <a:avLst/>
              <a:gdLst/>
              <a:ahLst/>
              <a:cxnLst/>
              <a:rect r="r" b="b" t="t" l="l"/>
              <a:pathLst>
                <a:path h="1316156" w="5302800">
                  <a:moveTo>
                    <a:pt x="0" y="0"/>
                  </a:moveTo>
                  <a:lnTo>
                    <a:pt x="5302800" y="0"/>
                  </a:lnTo>
                  <a:lnTo>
                    <a:pt x="530280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504" r="0" b="-28505"/>
              </a:stretch>
            </a:blipFill>
          </p:spPr>
        </p:sp>
        <p:sp>
          <p:nvSpPr>
            <p:cNvPr name="TextBox 62" id="62"/>
            <p:cNvSpPr txBox="true"/>
            <p:nvPr/>
          </p:nvSpPr>
          <p:spPr>
            <a:xfrm>
              <a:off x="0" y="-57150"/>
              <a:ext cx="530279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 or +1</a:t>
              </a:r>
            </a:p>
          </p:txBody>
        </p:sp>
      </p:grpSp>
      <p:grpSp>
        <p:nvGrpSpPr>
          <p:cNvPr name="Group 63" id="63"/>
          <p:cNvGrpSpPr/>
          <p:nvPr/>
        </p:nvGrpSpPr>
        <p:grpSpPr>
          <a:xfrm rot="0">
            <a:off x="14806136" y="3998033"/>
            <a:ext cx="2660828" cy="1001411"/>
            <a:chOff x="0" y="0"/>
            <a:chExt cx="3547770" cy="1335214"/>
          </a:xfrm>
        </p:grpSpPr>
        <p:sp>
          <p:nvSpPr>
            <p:cNvPr name="Freeform 64" id="64"/>
            <p:cNvSpPr/>
            <p:nvPr/>
          </p:nvSpPr>
          <p:spPr>
            <a:xfrm flipH="false" flipV="false" rot="0">
              <a:off x="0" y="0"/>
              <a:ext cx="3547745" cy="1335151"/>
            </a:xfrm>
            <a:custGeom>
              <a:avLst/>
              <a:gdLst/>
              <a:ahLst/>
              <a:cxnLst/>
              <a:rect r="r" b="b" t="t" l="l"/>
              <a:pathLst>
                <a:path h="1335151" w="3547745">
                  <a:moveTo>
                    <a:pt x="0" y="0"/>
                  </a:moveTo>
                  <a:lnTo>
                    <a:pt x="3547745" y="0"/>
                  </a:lnTo>
                  <a:lnTo>
                    <a:pt x="3547745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6213E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65" id="65"/>
          <p:cNvGrpSpPr/>
          <p:nvPr/>
        </p:nvGrpSpPr>
        <p:grpSpPr>
          <a:xfrm rot="0">
            <a:off x="14950440" y="4005177"/>
            <a:ext cx="2372220" cy="987120"/>
            <a:chOff x="0" y="0"/>
            <a:chExt cx="3162960" cy="131616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3162960" cy="1316156"/>
            </a:xfrm>
            <a:custGeom>
              <a:avLst/>
              <a:gdLst/>
              <a:ahLst/>
              <a:cxnLst/>
              <a:rect r="r" b="b" t="t" l="l"/>
              <a:pathLst>
                <a:path h="1316156" w="3162960">
                  <a:moveTo>
                    <a:pt x="0" y="0"/>
                  </a:moveTo>
                  <a:lnTo>
                    <a:pt x="3162960" y="0"/>
                  </a:lnTo>
                  <a:lnTo>
                    <a:pt x="316296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389" t="0" r="-3389" b="0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57150"/>
              <a:ext cx="3162960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0 or +0.1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815816" y="4985699"/>
            <a:ext cx="2894105" cy="1001411"/>
            <a:chOff x="0" y="0"/>
            <a:chExt cx="3858806" cy="1335214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3858768" cy="1335151"/>
            </a:xfrm>
            <a:custGeom>
              <a:avLst/>
              <a:gdLst/>
              <a:ahLst/>
              <a:cxnLst/>
              <a:rect r="r" b="b" t="t" l="l"/>
              <a:pathLst>
                <a:path h="1335151" w="3858768">
                  <a:moveTo>
                    <a:pt x="0" y="0"/>
                  </a:moveTo>
                  <a:lnTo>
                    <a:pt x="3858768" y="0"/>
                  </a:lnTo>
                  <a:lnTo>
                    <a:pt x="385876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C2B4A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70" id="70"/>
          <p:cNvGrpSpPr/>
          <p:nvPr/>
        </p:nvGrpSpPr>
        <p:grpSpPr>
          <a:xfrm rot="0">
            <a:off x="960120" y="4992843"/>
            <a:ext cx="2605497" cy="987120"/>
            <a:chOff x="0" y="0"/>
            <a:chExt cx="3473996" cy="1316160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3474000" cy="1316156"/>
            </a:xfrm>
            <a:custGeom>
              <a:avLst/>
              <a:gdLst/>
              <a:ahLst/>
              <a:cxnLst/>
              <a:rect r="r" b="b" t="t" l="l"/>
              <a:pathLst>
                <a:path h="1316156" w="3474000">
                  <a:moveTo>
                    <a:pt x="0" y="0"/>
                  </a:moveTo>
                  <a:lnTo>
                    <a:pt x="3474000" y="0"/>
                  </a:lnTo>
                  <a:lnTo>
                    <a:pt x="347400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30" r="0" b="-1431"/>
              </a:stretch>
            </a:blipFill>
          </p:spPr>
        </p:sp>
        <p:sp>
          <p:nvSpPr>
            <p:cNvPr name="TextBox 72" id="72"/>
            <p:cNvSpPr txBox="true"/>
            <p:nvPr/>
          </p:nvSpPr>
          <p:spPr>
            <a:xfrm>
              <a:off x="0" y="-57150"/>
              <a:ext cx="347399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b="true" sz="2099" spc="-2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Dodge / survival</a:t>
              </a:r>
            </a:p>
          </p:txBody>
        </p:sp>
      </p:grpSp>
      <p:grpSp>
        <p:nvGrpSpPr>
          <p:cNvPr name="Group 73" id="73"/>
          <p:cNvGrpSpPr/>
          <p:nvPr/>
        </p:nvGrpSpPr>
        <p:grpSpPr>
          <a:xfrm rot="0">
            <a:off x="3696176" y="4985699"/>
            <a:ext cx="6871745" cy="1001411"/>
            <a:chOff x="0" y="0"/>
            <a:chExt cx="9162326" cy="1335214"/>
          </a:xfrm>
        </p:grpSpPr>
        <p:sp>
          <p:nvSpPr>
            <p:cNvPr name="Freeform 74" id="74"/>
            <p:cNvSpPr/>
            <p:nvPr/>
          </p:nvSpPr>
          <p:spPr>
            <a:xfrm flipH="false" flipV="false" rot="0">
              <a:off x="0" y="0"/>
              <a:ext cx="9162288" cy="1335151"/>
            </a:xfrm>
            <a:custGeom>
              <a:avLst/>
              <a:gdLst/>
              <a:ahLst/>
              <a:cxnLst/>
              <a:rect r="r" b="b" t="t" l="l"/>
              <a:pathLst>
                <a:path h="1335151" w="9162288">
                  <a:moveTo>
                    <a:pt x="0" y="0"/>
                  </a:moveTo>
                  <a:lnTo>
                    <a:pt x="9162288" y="0"/>
                  </a:lnTo>
                  <a:lnTo>
                    <a:pt x="916228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C2B4A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75" id="75"/>
          <p:cNvGrpSpPr/>
          <p:nvPr/>
        </p:nvGrpSpPr>
        <p:grpSpPr>
          <a:xfrm rot="0">
            <a:off x="3840480" y="4992843"/>
            <a:ext cx="6583137" cy="987120"/>
            <a:chOff x="0" y="0"/>
            <a:chExt cx="8777516" cy="131616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8777520" cy="1316156"/>
            </a:xfrm>
            <a:custGeom>
              <a:avLst/>
              <a:gdLst/>
              <a:ahLst/>
              <a:cxnLst/>
              <a:rect r="r" b="b" t="t" l="l"/>
              <a:pathLst>
                <a:path h="1316156" w="8777520">
                  <a:moveTo>
                    <a:pt x="0" y="0"/>
                  </a:moveTo>
                  <a:lnTo>
                    <a:pt x="8777520" y="0"/>
                  </a:lnTo>
                  <a:lnTo>
                    <a:pt x="877752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46" r="0" b="-79947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57150"/>
              <a:ext cx="877751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Alive, in the normal state, with at least 1 active enemy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10554176" y="4985699"/>
            <a:ext cx="4265705" cy="1001411"/>
            <a:chOff x="0" y="0"/>
            <a:chExt cx="5687606" cy="1335214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5687568" cy="1335151"/>
            </a:xfrm>
            <a:custGeom>
              <a:avLst/>
              <a:gdLst/>
              <a:ahLst/>
              <a:cxnLst/>
              <a:rect r="r" b="b" t="t" l="l"/>
              <a:pathLst>
                <a:path h="1335151" w="5687568">
                  <a:moveTo>
                    <a:pt x="0" y="0"/>
                  </a:moveTo>
                  <a:lnTo>
                    <a:pt x="5687568" y="0"/>
                  </a:lnTo>
                  <a:lnTo>
                    <a:pt x="568756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C2B4A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80" id="80"/>
          <p:cNvGrpSpPr/>
          <p:nvPr/>
        </p:nvGrpSpPr>
        <p:grpSpPr>
          <a:xfrm rot="0">
            <a:off x="10698480" y="4992843"/>
            <a:ext cx="3977097" cy="987120"/>
            <a:chOff x="0" y="0"/>
            <a:chExt cx="5302796" cy="1316160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5302800" cy="1316156"/>
            </a:xfrm>
            <a:custGeom>
              <a:avLst/>
              <a:gdLst/>
              <a:ahLst/>
              <a:cxnLst/>
              <a:rect r="r" b="b" t="t" l="l"/>
              <a:pathLst>
                <a:path h="1316156" w="5302800">
                  <a:moveTo>
                    <a:pt x="0" y="0"/>
                  </a:moveTo>
                  <a:lnTo>
                    <a:pt x="5302800" y="0"/>
                  </a:lnTo>
                  <a:lnTo>
                    <a:pt x="530280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504" r="0" b="-28505"/>
              </a:stretch>
            </a:blipFill>
          </p:spPr>
        </p:sp>
        <p:sp>
          <p:nvSpPr>
            <p:cNvPr name="TextBox 82" id="82"/>
            <p:cNvSpPr txBox="true"/>
            <p:nvPr/>
          </p:nvSpPr>
          <p:spPr>
            <a:xfrm>
              <a:off x="0" y="-57150"/>
              <a:ext cx="530279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+0.1</a:t>
              </a:r>
            </a:p>
          </p:txBody>
        </p:sp>
      </p:grpSp>
      <p:grpSp>
        <p:nvGrpSpPr>
          <p:cNvPr name="Group 83" id="83"/>
          <p:cNvGrpSpPr/>
          <p:nvPr/>
        </p:nvGrpSpPr>
        <p:grpSpPr>
          <a:xfrm rot="0">
            <a:off x="14806136" y="4985699"/>
            <a:ext cx="2660828" cy="1001411"/>
            <a:chOff x="0" y="0"/>
            <a:chExt cx="3547770" cy="1335214"/>
          </a:xfrm>
        </p:grpSpPr>
        <p:sp>
          <p:nvSpPr>
            <p:cNvPr name="Freeform 84" id="84"/>
            <p:cNvSpPr/>
            <p:nvPr/>
          </p:nvSpPr>
          <p:spPr>
            <a:xfrm flipH="false" flipV="false" rot="0">
              <a:off x="0" y="0"/>
              <a:ext cx="3547745" cy="1335151"/>
            </a:xfrm>
            <a:custGeom>
              <a:avLst/>
              <a:gdLst/>
              <a:ahLst/>
              <a:cxnLst/>
              <a:rect r="r" b="b" t="t" l="l"/>
              <a:pathLst>
                <a:path h="1335151" w="3547745">
                  <a:moveTo>
                    <a:pt x="0" y="0"/>
                  </a:moveTo>
                  <a:lnTo>
                    <a:pt x="3547745" y="0"/>
                  </a:lnTo>
                  <a:lnTo>
                    <a:pt x="3547745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C2B4A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85" id="85"/>
          <p:cNvGrpSpPr/>
          <p:nvPr/>
        </p:nvGrpSpPr>
        <p:grpSpPr>
          <a:xfrm rot="0">
            <a:off x="14950440" y="4992843"/>
            <a:ext cx="2372220" cy="987120"/>
            <a:chOff x="0" y="0"/>
            <a:chExt cx="3162960" cy="131616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3162960" cy="1316156"/>
            </a:xfrm>
            <a:custGeom>
              <a:avLst/>
              <a:gdLst/>
              <a:ahLst/>
              <a:cxnLst/>
              <a:rect r="r" b="b" t="t" l="l"/>
              <a:pathLst>
                <a:path h="1316156" w="3162960">
                  <a:moveTo>
                    <a:pt x="0" y="0"/>
                  </a:moveTo>
                  <a:lnTo>
                    <a:pt x="3162960" y="0"/>
                  </a:lnTo>
                  <a:lnTo>
                    <a:pt x="316296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389" t="0" r="-3389" b="0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57150"/>
              <a:ext cx="3162960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+0.01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815816" y="5972813"/>
            <a:ext cx="2894105" cy="1001411"/>
            <a:chOff x="0" y="0"/>
            <a:chExt cx="3858806" cy="1335214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3858768" cy="1335151"/>
            </a:xfrm>
            <a:custGeom>
              <a:avLst/>
              <a:gdLst/>
              <a:ahLst/>
              <a:cxnLst/>
              <a:rect r="r" b="b" t="t" l="l"/>
              <a:pathLst>
                <a:path h="1335151" w="3858768">
                  <a:moveTo>
                    <a:pt x="0" y="0"/>
                  </a:moveTo>
                  <a:lnTo>
                    <a:pt x="3858768" y="0"/>
                  </a:lnTo>
                  <a:lnTo>
                    <a:pt x="385876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6213E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90" id="90"/>
          <p:cNvGrpSpPr/>
          <p:nvPr/>
        </p:nvGrpSpPr>
        <p:grpSpPr>
          <a:xfrm rot="0">
            <a:off x="960120" y="5979957"/>
            <a:ext cx="2605497" cy="987120"/>
            <a:chOff x="0" y="0"/>
            <a:chExt cx="3473996" cy="1316160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3474000" cy="1316156"/>
            </a:xfrm>
            <a:custGeom>
              <a:avLst/>
              <a:gdLst/>
              <a:ahLst/>
              <a:cxnLst/>
              <a:rect r="r" b="b" t="t" l="l"/>
              <a:pathLst>
                <a:path h="1316156" w="3474000">
                  <a:moveTo>
                    <a:pt x="0" y="0"/>
                  </a:moveTo>
                  <a:lnTo>
                    <a:pt x="3474000" y="0"/>
                  </a:lnTo>
                  <a:lnTo>
                    <a:pt x="347400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30" r="0" b="-1431"/>
              </a:stretch>
            </a:blipFill>
          </p:spPr>
        </p:sp>
        <p:sp>
          <p:nvSpPr>
            <p:cNvPr name="TextBox 92" id="92"/>
            <p:cNvSpPr txBox="true"/>
            <p:nvPr/>
          </p:nvSpPr>
          <p:spPr>
            <a:xfrm>
              <a:off x="0" y="-57150"/>
              <a:ext cx="347399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b="true" sz="2099" spc="-2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Boss defeated</a:t>
              </a:r>
            </a:p>
          </p:txBody>
        </p:sp>
      </p:grpSp>
      <p:grpSp>
        <p:nvGrpSpPr>
          <p:cNvPr name="Group 93" id="93"/>
          <p:cNvGrpSpPr/>
          <p:nvPr/>
        </p:nvGrpSpPr>
        <p:grpSpPr>
          <a:xfrm rot="0">
            <a:off x="3696176" y="5972813"/>
            <a:ext cx="6871745" cy="1001411"/>
            <a:chOff x="0" y="0"/>
            <a:chExt cx="9162326" cy="1335214"/>
          </a:xfrm>
        </p:grpSpPr>
        <p:sp>
          <p:nvSpPr>
            <p:cNvPr name="Freeform 94" id="94"/>
            <p:cNvSpPr/>
            <p:nvPr/>
          </p:nvSpPr>
          <p:spPr>
            <a:xfrm flipH="false" flipV="false" rot="0">
              <a:off x="0" y="0"/>
              <a:ext cx="9162288" cy="1335151"/>
            </a:xfrm>
            <a:custGeom>
              <a:avLst/>
              <a:gdLst/>
              <a:ahLst/>
              <a:cxnLst/>
              <a:rect r="r" b="b" t="t" l="l"/>
              <a:pathLst>
                <a:path h="1335151" w="9162288">
                  <a:moveTo>
                    <a:pt x="0" y="0"/>
                  </a:moveTo>
                  <a:lnTo>
                    <a:pt x="9162288" y="0"/>
                  </a:lnTo>
                  <a:lnTo>
                    <a:pt x="916228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6213E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95" id="95"/>
          <p:cNvGrpSpPr/>
          <p:nvPr/>
        </p:nvGrpSpPr>
        <p:grpSpPr>
          <a:xfrm rot="0">
            <a:off x="3840480" y="5979957"/>
            <a:ext cx="6583137" cy="987120"/>
            <a:chOff x="0" y="0"/>
            <a:chExt cx="8777516" cy="131616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8777520" cy="1316156"/>
            </a:xfrm>
            <a:custGeom>
              <a:avLst/>
              <a:gdLst/>
              <a:ahLst/>
              <a:cxnLst/>
              <a:rect r="r" b="b" t="t" l="l"/>
              <a:pathLst>
                <a:path h="1316156" w="8777520">
                  <a:moveTo>
                    <a:pt x="0" y="0"/>
                  </a:moveTo>
                  <a:lnTo>
                    <a:pt x="8777520" y="0"/>
                  </a:lnTo>
                  <a:lnTo>
                    <a:pt x="877752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46" r="0" b="-79947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57150"/>
              <a:ext cx="877751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Boss-defeated flag switches from false → true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10554176" y="5972813"/>
            <a:ext cx="4265705" cy="1001411"/>
            <a:chOff x="0" y="0"/>
            <a:chExt cx="5687606" cy="1335214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5687568" cy="1335151"/>
            </a:xfrm>
            <a:custGeom>
              <a:avLst/>
              <a:gdLst/>
              <a:ahLst/>
              <a:cxnLst/>
              <a:rect r="r" b="b" t="t" l="l"/>
              <a:pathLst>
                <a:path h="1335151" w="5687568">
                  <a:moveTo>
                    <a:pt x="0" y="0"/>
                  </a:moveTo>
                  <a:lnTo>
                    <a:pt x="5687568" y="0"/>
                  </a:lnTo>
                  <a:lnTo>
                    <a:pt x="568756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6213E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100" id="100"/>
          <p:cNvGrpSpPr/>
          <p:nvPr/>
        </p:nvGrpSpPr>
        <p:grpSpPr>
          <a:xfrm rot="0">
            <a:off x="10698480" y="5979957"/>
            <a:ext cx="3977097" cy="987120"/>
            <a:chOff x="0" y="0"/>
            <a:chExt cx="5302796" cy="1316160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5302800" cy="1316156"/>
            </a:xfrm>
            <a:custGeom>
              <a:avLst/>
              <a:gdLst/>
              <a:ahLst/>
              <a:cxnLst/>
              <a:rect r="r" b="b" t="t" l="l"/>
              <a:pathLst>
                <a:path h="1316156" w="5302800">
                  <a:moveTo>
                    <a:pt x="0" y="0"/>
                  </a:moveTo>
                  <a:lnTo>
                    <a:pt x="5302800" y="0"/>
                  </a:lnTo>
                  <a:lnTo>
                    <a:pt x="530280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504" r="0" b="-28505"/>
              </a:stretch>
            </a:blipFill>
          </p:spPr>
        </p:sp>
        <p:sp>
          <p:nvSpPr>
            <p:cNvPr name="TextBox 102" id="102"/>
            <p:cNvSpPr txBox="true"/>
            <p:nvPr/>
          </p:nvSpPr>
          <p:spPr>
            <a:xfrm>
              <a:off x="0" y="-57150"/>
              <a:ext cx="530279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+120 (one-time)</a:t>
              </a:r>
            </a:p>
          </p:txBody>
        </p:sp>
      </p:grpSp>
      <p:grpSp>
        <p:nvGrpSpPr>
          <p:cNvPr name="Group 103" id="103"/>
          <p:cNvGrpSpPr/>
          <p:nvPr/>
        </p:nvGrpSpPr>
        <p:grpSpPr>
          <a:xfrm rot="0">
            <a:off x="14806136" y="5972813"/>
            <a:ext cx="2660828" cy="1001411"/>
            <a:chOff x="0" y="0"/>
            <a:chExt cx="3547770" cy="1335214"/>
          </a:xfrm>
        </p:grpSpPr>
        <p:sp>
          <p:nvSpPr>
            <p:cNvPr name="Freeform 104" id="104"/>
            <p:cNvSpPr/>
            <p:nvPr/>
          </p:nvSpPr>
          <p:spPr>
            <a:xfrm flipH="false" flipV="false" rot="0">
              <a:off x="0" y="0"/>
              <a:ext cx="3547745" cy="1335151"/>
            </a:xfrm>
            <a:custGeom>
              <a:avLst/>
              <a:gdLst/>
              <a:ahLst/>
              <a:cxnLst/>
              <a:rect r="r" b="b" t="t" l="l"/>
              <a:pathLst>
                <a:path h="1335151" w="3547745">
                  <a:moveTo>
                    <a:pt x="0" y="0"/>
                  </a:moveTo>
                  <a:lnTo>
                    <a:pt x="3547745" y="0"/>
                  </a:lnTo>
                  <a:lnTo>
                    <a:pt x="3547745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6213E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105" id="105"/>
          <p:cNvGrpSpPr/>
          <p:nvPr/>
        </p:nvGrpSpPr>
        <p:grpSpPr>
          <a:xfrm rot="0">
            <a:off x="14950440" y="5979957"/>
            <a:ext cx="2372220" cy="987120"/>
            <a:chOff x="0" y="0"/>
            <a:chExt cx="3162960" cy="1316160"/>
          </a:xfrm>
        </p:grpSpPr>
        <p:sp>
          <p:nvSpPr>
            <p:cNvPr name="Freeform 106" id="106"/>
            <p:cNvSpPr/>
            <p:nvPr/>
          </p:nvSpPr>
          <p:spPr>
            <a:xfrm flipH="false" flipV="false" rot="0">
              <a:off x="0" y="0"/>
              <a:ext cx="3162960" cy="1316156"/>
            </a:xfrm>
            <a:custGeom>
              <a:avLst/>
              <a:gdLst/>
              <a:ahLst/>
              <a:cxnLst/>
              <a:rect r="r" b="b" t="t" l="l"/>
              <a:pathLst>
                <a:path h="1316156" w="3162960">
                  <a:moveTo>
                    <a:pt x="0" y="0"/>
                  </a:moveTo>
                  <a:lnTo>
                    <a:pt x="3162960" y="0"/>
                  </a:lnTo>
                  <a:lnTo>
                    <a:pt x="316296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389" t="0" r="-3389" b="0"/>
              </a:stretch>
            </a:blipFill>
          </p:spPr>
        </p:sp>
        <p:sp>
          <p:nvSpPr>
            <p:cNvPr name="TextBox 107" id="107"/>
            <p:cNvSpPr txBox="true"/>
            <p:nvPr/>
          </p:nvSpPr>
          <p:spPr>
            <a:xfrm>
              <a:off x="0" y="-57150"/>
              <a:ext cx="3162960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+12 (one-time)</a:t>
              </a:r>
            </a:p>
          </p:txBody>
        </p:sp>
      </p:grpSp>
      <p:grpSp>
        <p:nvGrpSpPr>
          <p:cNvPr name="Group 108" id="108"/>
          <p:cNvGrpSpPr/>
          <p:nvPr/>
        </p:nvGrpSpPr>
        <p:grpSpPr>
          <a:xfrm rot="0">
            <a:off x="815816" y="6960479"/>
            <a:ext cx="2894105" cy="1001411"/>
            <a:chOff x="0" y="0"/>
            <a:chExt cx="3858806" cy="1335214"/>
          </a:xfrm>
        </p:grpSpPr>
        <p:sp>
          <p:nvSpPr>
            <p:cNvPr name="Freeform 109" id="109"/>
            <p:cNvSpPr/>
            <p:nvPr/>
          </p:nvSpPr>
          <p:spPr>
            <a:xfrm flipH="false" flipV="false" rot="0">
              <a:off x="0" y="0"/>
              <a:ext cx="3858768" cy="1335151"/>
            </a:xfrm>
            <a:custGeom>
              <a:avLst/>
              <a:gdLst/>
              <a:ahLst/>
              <a:cxnLst/>
              <a:rect r="r" b="b" t="t" l="l"/>
              <a:pathLst>
                <a:path h="1335151" w="3858768">
                  <a:moveTo>
                    <a:pt x="0" y="0"/>
                  </a:moveTo>
                  <a:lnTo>
                    <a:pt x="3858768" y="0"/>
                  </a:lnTo>
                  <a:lnTo>
                    <a:pt x="385876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C2B4A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110" id="110"/>
          <p:cNvGrpSpPr/>
          <p:nvPr/>
        </p:nvGrpSpPr>
        <p:grpSpPr>
          <a:xfrm rot="0">
            <a:off x="960120" y="6967623"/>
            <a:ext cx="2605497" cy="987120"/>
            <a:chOff x="0" y="0"/>
            <a:chExt cx="3473996" cy="1316160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3474000" cy="1316156"/>
            </a:xfrm>
            <a:custGeom>
              <a:avLst/>
              <a:gdLst/>
              <a:ahLst/>
              <a:cxnLst/>
              <a:rect r="r" b="b" t="t" l="l"/>
              <a:pathLst>
                <a:path h="1316156" w="3474000">
                  <a:moveTo>
                    <a:pt x="0" y="0"/>
                  </a:moveTo>
                  <a:lnTo>
                    <a:pt x="3474000" y="0"/>
                  </a:lnTo>
                  <a:lnTo>
                    <a:pt x="347400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30" r="0" b="-1431"/>
              </a:stretch>
            </a:blipFill>
          </p:spPr>
        </p:sp>
        <p:sp>
          <p:nvSpPr>
            <p:cNvPr name="TextBox 112" id="112"/>
            <p:cNvSpPr txBox="true"/>
            <p:nvPr/>
          </p:nvSpPr>
          <p:spPr>
            <a:xfrm>
              <a:off x="0" y="-57150"/>
              <a:ext cx="347399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b="true" sz="2099" spc="-2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Stage over</a:t>
              </a:r>
            </a:p>
          </p:txBody>
        </p:sp>
      </p:grpSp>
      <p:grpSp>
        <p:nvGrpSpPr>
          <p:cNvPr name="Group 113" id="113"/>
          <p:cNvGrpSpPr/>
          <p:nvPr/>
        </p:nvGrpSpPr>
        <p:grpSpPr>
          <a:xfrm rot="0">
            <a:off x="3696176" y="6960479"/>
            <a:ext cx="6871745" cy="1001411"/>
            <a:chOff x="0" y="0"/>
            <a:chExt cx="9162326" cy="1335214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9162288" cy="1335151"/>
            </a:xfrm>
            <a:custGeom>
              <a:avLst/>
              <a:gdLst/>
              <a:ahLst/>
              <a:cxnLst/>
              <a:rect r="r" b="b" t="t" l="l"/>
              <a:pathLst>
                <a:path h="1335151" w="9162288">
                  <a:moveTo>
                    <a:pt x="0" y="0"/>
                  </a:moveTo>
                  <a:lnTo>
                    <a:pt x="9162288" y="0"/>
                  </a:lnTo>
                  <a:lnTo>
                    <a:pt x="916228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C2B4A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115" id="115"/>
          <p:cNvGrpSpPr/>
          <p:nvPr/>
        </p:nvGrpSpPr>
        <p:grpSpPr>
          <a:xfrm rot="0">
            <a:off x="3840480" y="6967623"/>
            <a:ext cx="6583137" cy="987120"/>
            <a:chOff x="0" y="0"/>
            <a:chExt cx="8777516" cy="1316160"/>
          </a:xfrm>
        </p:grpSpPr>
        <p:sp>
          <p:nvSpPr>
            <p:cNvPr name="Freeform 116" id="116"/>
            <p:cNvSpPr/>
            <p:nvPr/>
          </p:nvSpPr>
          <p:spPr>
            <a:xfrm flipH="false" flipV="false" rot="0">
              <a:off x="0" y="0"/>
              <a:ext cx="8777520" cy="1316156"/>
            </a:xfrm>
            <a:custGeom>
              <a:avLst/>
              <a:gdLst/>
              <a:ahLst/>
              <a:cxnLst/>
              <a:rect r="r" b="b" t="t" l="l"/>
              <a:pathLst>
                <a:path h="1316156" w="8777520">
                  <a:moveTo>
                    <a:pt x="0" y="0"/>
                  </a:moveTo>
                  <a:lnTo>
                    <a:pt x="8777520" y="0"/>
                  </a:lnTo>
                  <a:lnTo>
                    <a:pt x="877752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46" r="0" b="-79947"/>
              </a:stretch>
            </a:blipFill>
          </p:spPr>
        </p:sp>
        <p:sp>
          <p:nvSpPr>
            <p:cNvPr name="TextBox 117" id="117"/>
            <p:cNvSpPr txBox="true"/>
            <p:nvPr/>
          </p:nvSpPr>
          <p:spPr>
            <a:xfrm>
              <a:off x="0" y="-57150"/>
              <a:ext cx="877751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End-of-stage sequence begins</a:t>
              </a:r>
            </a:p>
          </p:txBody>
        </p:sp>
      </p:grpSp>
      <p:grpSp>
        <p:nvGrpSpPr>
          <p:cNvPr name="Group 118" id="118"/>
          <p:cNvGrpSpPr/>
          <p:nvPr/>
        </p:nvGrpSpPr>
        <p:grpSpPr>
          <a:xfrm rot="0">
            <a:off x="10554176" y="6960479"/>
            <a:ext cx="4265705" cy="1001411"/>
            <a:chOff x="0" y="0"/>
            <a:chExt cx="5687606" cy="1335214"/>
          </a:xfrm>
        </p:grpSpPr>
        <p:sp>
          <p:nvSpPr>
            <p:cNvPr name="Freeform 119" id="119"/>
            <p:cNvSpPr/>
            <p:nvPr/>
          </p:nvSpPr>
          <p:spPr>
            <a:xfrm flipH="false" flipV="false" rot="0">
              <a:off x="0" y="0"/>
              <a:ext cx="5687568" cy="1335151"/>
            </a:xfrm>
            <a:custGeom>
              <a:avLst/>
              <a:gdLst/>
              <a:ahLst/>
              <a:cxnLst/>
              <a:rect r="r" b="b" t="t" l="l"/>
              <a:pathLst>
                <a:path h="1335151" w="5687568">
                  <a:moveTo>
                    <a:pt x="0" y="0"/>
                  </a:moveTo>
                  <a:lnTo>
                    <a:pt x="5687568" y="0"/>
                  </a:lnTo>
                  <a:lnTo>
                    <a:pt x="568756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C2B4A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120" id="120"/>
          <p:cNvGrpSpPr/>
          <p:nvPr/>
        </p:nvGrpSpPr>
        <p:grpSpPr>
          <a:xfrm rot="0">
            <a:off x="10698480" y="6967623"/>
            <a:ext cx="3977097" cy="987120"/>
            <a:chOff x="0" y="0"/>
            <a:chExt cx="5302796" cy="1316160"/>
          </a:xfrm>
        </p:grpSpPr>
        <p:sp>
          <p:nvSpPr>
            <p:cNvPr name="Freeform 121" id="121"/>
            <p:cNvSpPr/>
            <p:nvPr/>
          </p:nvSpPr>
          <p:spPr>
            <a:xfrm flipH="false" flipV="false" rot="0">
              <a:off x="0" y="0"/>
              <a:ext cx="5302800" cy="1316156"/>
            </a:xfrm>
            <a:custGeom>
              <a:avLst/>
              <a:gdLst/>
              <a:ahLst/>
              <a:cxnLst/>
              <a:rect r="r" b="b" t="t" l="l"/>
              <a:pathLst>
                <a:path h="1316156" w="5302800">
                  <a:moveTo>
                    <a:pt x="0" y="0"/>
                  </a:moveTo>
                  <a:lnTo>
                    <a:pt x="5302800" y="0"/>
                  </a:lnTo>
                  <a:lnTo>
                    <a:pt x="530280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504" r="0" b="-28505"/>
              </a:stretch>
            </a:blipFill>
          </p:spPr>
        </p:sp>
        <p:sp>
          <p:nvSpPr>
            <p:cNvPr name="TextBox 122" id="122"/>
            <p:cNvSpPr txBox="true"/>
            <p:nvPr/>
          </p:nvSpPr>
          <p:spPr>
            <a:xfrm>
              <a:off x="0" y="-57150"/>
              <a:ext cx="530279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+80 (one-time)</a:t>
              </a:r>
            </a:p>
          </p:txBody>
        </p:sp>
      </p:grpSp>
      <p:grpSp>
        <p:nvGrpSpPr>
          <p:cNvPr name="Group 123" id="123"/>
          <p:cNvGrpSpPr/>
          <p:nvPr/>
        </p:nvGrpSpPr>
        <p:grpSpPr>
          <a:xfrm rot="0">
            <a:off x="14806136" y="6960479"/>
            <a:ext cx="2660828" cy="1001411"/>
            <a:chOff x="0" y="0"/>
            <a:chExt cx="3547770" cy="1335214"/>
          </a:xfrm>
        </p:grpSpPr>
        <p:sp>
          <p:nvSpPr>
            <p:cNvPr name="Freeform 124" id="124"/>
            <p:cNvSpPr/>
            <p:nvPr/>
          </p:nvSpPr>
          <p:spPr>
            <a:xfrm flipH="false" flipV="false" rot="0">
              <a:off x="0" y="0"/>
              <a:ext cx="3547745" cy="1335151"/>
            </a:xfrm>
            <a:custGeom>
              <a:avLst/>
              <a:gdLst/>
              <a:ahLst/>
              <a:cxnLst/>
              <a:rect r="r" b="b" t="t" l="l"/>
              <a:pathLst>
                <a:path h="1335151" w="3547745">
                  <a:moveTo>
                    <a:pt x="0" y="0"/>
                  </a:moveTo>
                  <a:lnTo>
                    <a:pt x="3547745" y="0"/>
                  </a:lnTo>
                  <a:lnTo>
                    <a:pt x="3547745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C2B4A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125" id="125"/>
          <p:cNvGrpSpPr/>
          <p:nvPr/>
        </p:nvGrpSpPr>
        <p:grpSpPr>
          <a:xfrm rot="0">
            <a:off x="14950440" y="6967623"/>
            <a:ext cx="2372220" cy="987120"/>
            <a:chOff x="0" y="0"/>
            <a:chExt cx="3162960" cy="1316160"/>
          </a:xfrm>
        </p:grpSpPr>
        <p:sp>
          <p:nvSpPr>
            <p:cNvPr name="Freeform 126" id="126"/>
            <p:cNvSpPr/>
            <p:nvPr/>
          </p:nvSpPr>
          <p:spPr>
            <a:xfrm flipH="false" flipV="false" rot="0">
              <a:off x="0" y="0"/>
              <a:ext cx="3162960" cy="1316156"/>
            </a:xfrm>
            <a:custGeom>
              <a:avLst/>
              <a:gdLst/>
              <a:ahLst/>
              <a:cxnLst/>
              <a:rect r="r" b="b" t="t" l="l"/>
              <a:pathLst>
                <a:path h="1316156" w="3162960">
                  <a:moveTo>
                    <a:pt x="0" y="0"/>
                  </a:moveTo>
                  <a:lnTo>
                    <a:pt x="3162960" y="0"/>
                  </a:lnTo>
                  <a:lnTo>
                    <a:pt x="316296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389" t="0" r="-3389" b="0"/>
              </a:stretch>
            </a:blipFill>
          </p:spPr>
        </p:sp>
        <p:sp>
          <p:nvSpPr>
            <p:cNvPr name="TextBox 127" id="127"/>
            <p:cNvSpPr txBox="true"/>
            <p:nvPr/>
          </p:nvSpPr>
          <p:spPr>
            <a:xfrm>
              <a:off x="0" y="-57150"/>
              <a:ext cx="3162960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+8 (one-time)</a:t>
              </a:r>
            </a:p>
          </p:txBody>
        </p:sp>
      </p:grpSp>
      <p:grpSp>
        <p:nvGrpSpPr>
          <p:cNvPr name="Group 128" id="128"/>
          <p:cNvGrpSpPr/>
          <p:nvPr/>
        </p:nvGrpSpPr>
        <p:grpSpPr>
          <a:xfrm rot="0">
            <a:off x="815816" y="7948136"/>
            <a:ext cx="2894105" cy="1001411"/>
            <a:chOff x="0" y="0"/>
            <a:chExt cx="3858806" cy="1335214"/>
          </a:xfrm>
        </p:grpSpPr>
        <p:sp>
          <p:nvSpPr>
            <p:cNvPr name="Freeform 129" id="129"/>
            <p:cNvSpPr/>
            <p:nvPr/>
          </p:nvSpPr>
          <p:spPr>
            <a:xfrm flipH="false" flipV="false" rot="0">
              <a:off x="0" y="0"/>
              <a:ext cx="3858768" cy="1335151"/>
            </a:xfrm>
            <a:custGeom>
              <a:avLst/>
              <a:gdLst/>
              <a:ahLst/>
              <a:cxnLst/>
              <a:rect r="r" b="b" t="t" l="l"/>
              <a:pathLst>
                <a:path h="1335151" w="3858768">
                  <a:moveTo>
                    <a:pt x="0" y="0"/>
                  </a:moveTo>
                  <a:lnTo>
                    <a:pt x="3858768" y="0"/>
                  </a:lnTo>
                  <a:lnTo>
                    <a:pt x="385876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6213E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130" id="130"/>
          <p:cNvGrpSpPr/>
          <p:nvPr/>
        </p:nvGrpSpPr>
        <p:grpSpPr>
          <a:xfrm rot="0">
            <a:off x="960120" y="7955280"/>
            <a:ext cx="2605497" cy="987120"/>
            <a:chOff x="0" y="0"/>
            <a:chExt cx="3473996" cy="1316160"/>
          </a:xfrm>
        </p:grpSpPr>
        <p:sp>
          <p:nvSpPr>
            <p:cNvPr name="Freeform 131" id="131"/>
            <p:cNvSpPr/>
            <p:nvPr/>
          </p:nvSpPr>
          <p:spPr>
            <a:xfrm flipH="false" flipV="false" rot="0">
              <a:off x="0" y="0"/>
              <a:ext cx="3474000" cy="1316156"/>
            </a:xfrm>
            <a:custGeom>
              <a:avLst/>
              <a:gdLst/>
              <a:ahLst/>
              <a:cxnLst/>
              <a:rect r="r" b="b" t="t" l="l"/>
              <a:pathLst>
                <a:path h="1316156" w="3474000">
                  <a:moveTo>
                    <a:pt x="0" y="0"/>
                  </a:moveTo>
                  <a:lnTo>
                    <a:pt x="3474000" y="0"/>
                  </a:lnTo>
                  <a:lnTo>
                    <a:pt x="347400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30" r="0" b="-1431"/>
              </a:stretch>
            </a:blipFill>
          </p:spPr>
        </p:sp>
        <p:sp>
          <p:nvSpPr>
            <p:cNvPr name="TextBox 132" id="132"/>
            <p:cNvSpPr txBox="true"/>
            <p:nvPr/>
          </p:nvSpPr>
          <p:spPr>
            <a:xfrm>
              <a:off x="0" y="-57150"/>
              <a:ext cx="347399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b="true" sz="2099" spc="-2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Level advance</a:t>
              </a:r>
            </a:p>
          </p:txBody>
        </p:sp>
      </p:grpSp>
      <p:grpSp>
        <p:nvGrpSpPr>
          <p:cNvPr name="Group 133" id="133"/>
          <p:cNvGrpSpPr/>
          <p:nvPr/>
        </p:nvGrpSpPr>
        <p:grpSpPr>
          <a:xfrm rot="0">
            <a:off x="3696176" y="7948136"/>
            <a:ext cx="6871745" cy="1001411"/>
            <a:chOff x="0" y="0"/>
            <a:chExt cx="9162326" cy="1335214"/>
          </a:xfrm>
        </p:grpSpPr>
        <p:sp>
          <p:nvSpPr>
            <p:cNvPr name="Freeform 134" id="134"/>
            <p:cNvSpPr/>
            <p:nvPr/>
          </p:nvSpPr>
          <p:spPr>
            <a:xfrm flipH="false" flipV="false" rot="0">
              <a:off x="0" y="0"/>
              <a:ext cx="9162288" cy="1335151"/>
            </a:xfrm>
            <a:custGeom>
              <a:avLst/>
              <a:gdLst/>
              <a:ahLst/>
              <a:cxnLst/>
              <a:rect r="r" b="b" t="t" l="l"/>
              <a:pathLst>
                <a:path h="1335151" w="9162288">
                  <a:moveTo>
                    <a:pt x="0" y="0"/>
                  </a:moveTo>
                  <a:lnTo>
                    <a:pt x="9162288" y="0"/>
                  </a:lnTo>
                  <a:lnTo>
                    <a:pt x="916228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6213E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135" id="135"/>
          <p:cNvGrpSpPr/>
          <p:nvPr/>
        </p:nvGrpSpPr>
        <p:grpSpPr>
          <a:xfrm rot="0">
            <a:off x="3840480" y="7955280"/>
            <a:ext cx="6583137" cy="987120"/>
            <a:chOff x="0" y="0"/>
            <a:chExt cx="8777516" cy="1316160"/>
          </a:xfrm>
        </p:grpSpPr>
        <p:sp>
          <p:nvSpPr>
            <p:cNvPr name="Freeform 136" id="136"/>
            <p:cNvSpPr/>
            <p:nvPr/>
          </p:nvSpPr>
          <p:spPr>
            <a:xfrm flipH="false" flipV="false" rot="0">
              <a:off x="0" y="0"/>
              <a:ext cx="8777520" cy="1316156"/>
            </a:xfrm>
            <a:custGeom>
              <a:avLst/>
              <a:gdLst/>
              <a:ahLst/>
              <a:cxnLst/>
              <a:rect r="r" b="b" t="t" l="l"/>
              <a:pathLst>
                <a:path h="1316156" w="8777520">
                  <a:moveTo>
                    <a:pt x="0" y="0"/>
                  </a:moveTo>
                  <a:lnTo>
                    <a:pt x="8777520" y="0"/>
                  </a:lnTo>
                  <a:lnTo>
                    <a:pt x="877752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946" r="0" b="-79947"/>
              </a:stretch>
            </a:blipFill>
          </p:spPr>
        </p:sp>
        <p:sp>
          <p:nvSpPr>
            <p:cNvPr name="TextBox 137" id="137"/>
            <p:cNvSpPr txBox="true"/>
            <p:nvPr/>
          </p:nvSpPr>
          <p:spPr>
            <a:xfrm>
              <a:off x="0" y="-57150"/>
              <a:ext cx="877751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Current level &gt; previous level</a:t>
              </a:r>
            </a:p>
          </p:txBody>
        </p:sp>
      </p:grpSp>
      <p:grpSp>
        <p:nvGrpSpPr>
          <p:cNvPr name="Group 138" id="138"/>
          <p:cNvGrpSpPr/>
          <p:nvPr/>
        </p:nvGrpSpPr>
        <p:grpSpPr>
          <a:xfrm rot="0">
            <a:off x="10554176" y="7948136"/>
            <a:ext cx="4265705" cy="1001411"/>
            <a:chOff x="0" y="0"/>
            <a:chExt cx="5687606" cy="1335214"/>
          </a:xfrm>
        </p:grpSpPr>
        <p:sp>
          <p:nvSpPr>
            <p:cNvPr name="Freeform 139" id="139"/>
            <p:cNvSpPr/>
            <p:nvPr/>
          </p:nvSpPr>
          <p:spPr>
            <a:xfrm flipH="false" flipV="false" rot="0">
              <a:off x="0" y="0"/>
              <a:ext cx="5687568" cy="1335151"/>
            </a:xfrm>
            <a:custGeom>
              <a:avLst/>
              <a:gdLst/>
              <a:ahLst/>
              <a:cxnLst/>
              <a:rect r="r" b="b" t="t" l="l"/>
              <a:pathLst>
                <a:path h="1335151" w="5687568">
                  <a:moveTo>
                    <a:pt x="0" y="0"/>
                  </a:moveTo>
                  <a:lnTo>
                    <a:pt x="5687568" y="0"/>
                  </a:lnTo>
                  <a:lnTo>
                    <a:pt x="5687568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6213E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140" id="140"/>
          <p:cNvGrpSpPr/>
          <p:nvPr/>
        </p:nvGrpSpPr>
        <p:grpSpPr>
          <a:xfrm rot="0">
            <a:off x="10698480" y="7955280"/>
            <a:ext cx="3977097" cy="987120"/>
            <a:chOff x="0" y="0"/>
            <a:chExt cx="5302796" cy="1316160"/>
          </a:xfrm>
        </p:grpSpPr>
        <p:sp>
          <p:nvSpPr>
            <p:cNvPr name="Freeform 141" id="141"/>
            <p:cNvSpPr/>
            <p:nvPr/>
          </p:nvSpPr>
          <p:spPr>
            <a:xfrm flipH="false" flipV="false" rot="0">
              <a:off x="0" y="0"/>
              <a:ext cx="5302800" cy="1316156"/>
            </a:xfrm>
            <a:custGeom>
              <a:avLst/>
              <a:gdLst/>
              <a:ahLst/>
              <a:cxnLst/>
              <a:rect r="r" b="b" t="t" l="l"/>
              <a:pathLst>
                <a:path h="1316156" w="5302800">
                  <a:moveTo>
                    <a:pt x="0" y="0"/>
                  </a:moveTo>
                  <a:lnTo>
                    <a:pt x="5302800" y="0"/>
                  </a:lnTo>
                  <a:lnTo>
                    <a:pt x="530280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8504" r="0" b="-28505"/>
              </a:stretch>
            </a:blipFill>
          </p:spPr>
        </p:sp>
        <p:sp>
          <p:nvSpPr>
            <p:cNvPr name="TextBox 142" id="142"/>
            <p:cNvSpPr txBox="true"/>
            <p:nvPr/>
          </p:nvSpPr>
          <p:spPr>
            <a:xfrm>
              <a:off x="0" y="-57150"/>
              <a:ext cx="5302796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+50</a:t>
              </a:r>
            </a:p>
          </p:txBody>
        </p:sp>
      </p:grpSp>
      <p:grpSp>
        <p:nvGrpSpPr>
          <p:cNvPr name="Group 143" id="143"/>
          <p:cNvGrpSpPr/>
          <p:nvPr/>
        </p:nvGrpSpPr>
        <p:grpSpPr>
          <a:xfrm rot="0">
            <a:off x="14806136" y="7948136"/>
            <a:ext cx="2660828" cy="1001411"/>
            <a:chOff x="0" y="0"/>
            <a:chExt cx="3547770" cy="1335214"/>
          </a:xfrm>
        </p:grpSpPr>
        <p:sp>
          <p:nvSpPr>
            <p:cNvPr name="Freeform 144" id="144"/>
            <p:cNvSpPr/>
            <p:nvPr/>
          </p:nvSpPr>
          <p:spPr>
            <a:xfrm flipH="false" flipV="false" rot="0">
              <a:off x="0" y="0"/>
              <a:ext cx="3547745" cy="1335151"/>
            </a:xfrm>
            <a:custGeom>
              <a:avLst/>
              <a:gdLst/>
              <a:ahLst/>
              <a:cxnLst/>
              <a:rect r="r" b="b" t="t" l="l"/>
              <a:pathLst>
                <a:path h="1335151" w="3547745">
                  <a:moveTo>
                    <a:pt x="0" y="0"/>
                  </a:moveTo>
                  <a:lnTo>
                    <a:pt x="3547745" y="0"/>
                  </a:lnTo>
                  <a:lnTo>
                    <a:pt x="3547745" y="1335151"/>
                  </a:lnTo>
                  <a:lnTo>
                    <a:pt x="0" y="1335151"/>
                  </a:lnTo>
                  <a:close/>
                </a:path>
              </a:pathLst>
            </a:custGeom>
            <a:solidFill>
              <a:srgbClr val="16213E"/>
            </a:solidFill>
            <a:ln w="14288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145" id="145"/>
          <p:cNvGrpSpPr/>
          <p:nvPr/>
        </p:nvGrpSpPr>
        <p:grpSpPr>
          <a:xfrm rot="0">
            <a:off x="14950440" y="7955280"/>
            <a:ext cx="2372220" cy="987120"/>
            <a:chOff x="0" y="0"/>
            <a:chExt cx="3162960" cy="1316160"/>
          </a:xfrm>
        </p:grpSpPr>
        <p:sp>
          <p:nvSpPr>
            <p:cNvPr name="Freeform 146" id="146"/>
            <p:cNvSpPr/>
            <p:nvPr/>
          </p:nvSpPr>
          <p:spPr>
            <a:xfrm flipH="false" flipV="false" rot="0">
              <a:off x="0" y="0"/>
              <a:ext cx="3162960" cy="1316156"/>
            </a:xfrm>
            <a:custGeom>
              <a:avLst/>
              <a:gdLst/>
              <a:ahLst/>
              <a:cxnLst/>
              <a:rect r="r" b="b" t="t" l="l"/>
              <a:pathLst>
                <a:path h="1316156" w="3162960">
                  <a:moveTo>
                    <a:pt x="0" y="0"/>
                  </a:moveTo>
                  <a:lnTo>
                    <a:pt x="3162960" y="0"/>
                  </a:lnTo>
                  <a:lnTo>
                    <a:pt x="3162960" y="1316156"/>
                  </a:lnTo>
                  <a:lnTo>
                    <a:pt x="0" y="1316156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3389" t="0" r="-3389" b="0"/>
              </a:stretch>
            </a:blipFill>
          </p:spPr>
        </p:sp>
        <p:sp>
          <p:nvSpPr>
            <p:cNvPr name="TextBox 147" id="147"/>
            <p:cNvSpPr txBox="true"/>
            <p:nvPr/>
          </p:nvSpPr>
          <p:spPr>
            <a:xfrm>
              <a:off x="0" y="-57150"/>
              <a:ext cx="3162960" cy="13733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45"/>
                </a:lnSpc>
              </a:pPr>
              <a:r>
                <a:rPr lang="en-US" sz="2099" spc="-2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+5</a:t>
              </a:r>
            </a:p>
          </p:txBody>
        </p:sp>
      </p:grpSp>
      <p:grpSp>
        <p:nvGrpSpPr>
          <p:cNvPr name="Group 148" id="148"/>
          <p:cNvGrpSpPr/>
          <p:nvPr/>
        </p:nvGrpSpPr>
        <p:grpSpPr>
          <a:xfrm rot="0">
            <a:off x="822960" y="9107643"/>
            <a:ext cx="16636860" cy="479520"/>
            <a:chOff x="0" y="0"/>
            <a:chExt cx="22182480" cy="639360"/>
          </a:xfrm>
        </p:grpSpPr>
        <p:sp>
          <p:nvSpPr>
            <p:cNvPr name="Freeform 149" id="149"/>
            <p:cNvSpPr/>
            <p:nvPr/>
          </p:nvSpPr>
          <p:spPr>
            <a:xfrm flipH="false" flipV="false" rot="0">
              <a:off x="0" y="0"/>
              <a:ext cx="22182480" cy="639364"/>
            </a:xfrm>
            <a:custGeom>
              <a:avLst/>
              <a:gdLst/>
              <a:ahLst/>
              <a:cxnLst/>
              <a:rect r="r" b="b" t="t" l="l"/>
              <a:pathLst>
                <a:path h="639364" w="22182480">
                  <a:moveTo>
                    <a:pt x="0" y="0"/>
                  </a:moveTo>
                  <a:lnTo>
                    <a:pt x="22182480" y="0"/>
                  </a:lnTo>
                  <a:lnTo>
                    <a:pt x="2218248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6026" r="0" b="-626025"/>
              </a:stretch>
            </a:blipFill>
          </p:spPr>
        </p:sp>
        <p:sp>
          <p:nvSpPr>
            <p:cNvPr name="TextBox 150" id="150"/>
            <p:cNvSpPr txBox="true"/>
            <p:nvPr/>
          </p:nvSpPr>
          <p:spPr>
            <a:xfrm>
              <a:off x="0" y="-47625"/>
              <a:ext cx="22182480" cy="686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99"/>
                </a:lnSpc>
              </a:pPr>
              <a:r>
                <a:rPr lang="en-US" sz="2249" i="true" spc="-2">
                  <a:solidFill>
                    <a:srgbClr val="9AA6C1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reward = (progress + score + dodge + boss + terminal + risk) / 10   —   returned to the Agent every step</a:t>
              </a:r>
            </a:p>
          </p:txBody>
        </p:sp>
      </p:grpSp>
      <p:grpSp>
        <p:nvGrpSpPr>
          <p:cNvPr name="Group 151" id="151"/>
          <p:cNvGrpSpPr/>
          <p:nvPr/>
        </p:nvGrpSpPr>
        <p:grpSpPr>
          <a:xfrm rot="0">
            <a:off x="685800" y="9710823"/>
            <a:ext cx="4114257" cy="410937"/>
            <a:chOff x="0" y="0"/>
            <a:chExt cx="5485676" cy="547916"/>
          </a:xfrm>
        </p:grpSpPr>
        <p:sp>
          <p:nvSpPr>
            <p:cNvPr name="Freeform 152" id="152"/>
            <p:cNvSpPr/>
            <p:nvPr/>
          </p:nvSpPr>
          <p:spPr>
            <a:xfrm flipH="false" flipV="false" rot="0">
              <a:off x="0" y="0"/>
              <a:ext cx="5485680" cy="547920"/>
            </a:xfrm>
            <a:custGeom>
              <a:avLst/>
              <a:gdLst/>
              <a:ahLst/>
              <a:cxnLst/>
              <a:rect r="r" b="b" t="t" l="l"/>
              <a:pathLst>
                <a:path h="547920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081" r="0" b="-145080"/>
              </a:stretch>
            </a:blipFill>
          </p:spPr>
        </p:sp>
        <p:sp>
          <p:nvSpPr>
            <p:cNvPr name="TextBox 153" id="153"/>
            <p:cNvSpPr txBox="true"/>
            <p:nvPr/>
          </p:nvSpPr>
          <p:spPr>
            <a:xfrm>
              <a:off x="0" y="-38100"/>
              <a:ext cx="5485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Contra-PPO</a:t>
              </a:r>
            </a:p>
          </p:txBody>
        </p:sp>
      </p:grpSp>
      <p:grpSp>
        <p:nvGrpSpPr>
          <p:cNvPr name="Group 154" id="154"/>
          <p:cNvGrpSpPr/>
          <p:nvPr/>
        </p:nvGrpSpPr>
        <p:grpSpPr>
          <a:xfrm rot="0">
            <a:off x="16911723" y="9710823"/>
            <a:ext cx="822417" cy="410937"/>
            <a:chOff x="0" y="0"/>
            <a:chExt cx="1096556" cy="547916"/>
          </a:xfrm>
        </p:grpSpPr>
        <p:sp>
          <p:nvSpPr>
            <p:cNvPr name="Freeform 155" id="155"/>
            <p:cNvSpPr/>
            <p:nvPr/>
          </p:nvSpPr>
          <p:spPr>
            <a:xfrm flipH="false" flipV="false" rot="0">
              <a:off x="0" y="0"/>
              <a:ext cx="1096560" cy="547920"/>
            </a:xfrm>
            <a:custGeom>
              <a:avLst/>
              <a:gdLst/>
              <a:ahLst/>
              <a:cxnLst/>
              <a:rect r="r" b="b" t="t" l="l"/>
              <a:pathLst>
                <a:path h="547920" w="1096560">
                  <a:moveTo>
                    <a:pt x="0" y="0"/>
                  </a:moveTo>
                  <a:lnTo>
                    <a:pt x="1096560" y="0"/>
                  </a:lnTo>
                  <a:lnTo>
                    <a:pt x="109656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09" t="0" r="-14109" b="0"/>
              </a:stretch>
            </a:blipFill>
          </p:spPr>
        </p:sp>
        <p:sp>
          <p:nvSpPr>
            <p:cNvPr name="TextBox 156" id="156"/>
            <p:cNvSpPr txBox="true"/>
            <p:nvPr/>
          </p:nvSpPr>
          <p:spPr>
            <a:xfrm>
              <a:off x="0" y="-38100"/>
              <a:ext cx="109655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5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6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480060"/>
            <a:ext cx="10972257" cy="410937"/>
            <a:chOff x="0" y="0"/>
            <a:chExt cx="14629676" cy="5479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29681" cy="547920"/>
            </a:xfrm>
            <a:custGeom>
              <a:avLst/>
              <a:gdLst/>
              <a:ahLst/>
              <a:cxnLst/>
              <a:rect r="r" b="b" t="t" l="l"/>
              <a:pathLst>
                <a:path h="547920" w="14629681">
                  <a:moveTo>
                    <a:pt x="0" y="0"/>
                  </a:moveTo>
                  <a:lnTo>
                    <a:pt x="14629681" y="0"/>
                  </a:lnTo>
                  <a:lnTo>
                    <a:pt x="14629681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0258" r="0" b="-47025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29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98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REWARD DESIGN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28700"/>
            <a:ext cx="15910017" cy="959577"/>
            <a:chOff x="0" y="0"/>
            <a:chExt cx="21213356" cy="12794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213359" cy="1279440"/>
            </a:xfrm>
            <a:custGeom>
              <a:avLst/>
              <a:gdLst/>
              <a:ahLst/>
              <a:cxnLst/>
              <a:rect r="r" b="b" t="t" l="l"/>
              <a:pathLst>
                <a:path h="1279440" w="21213359">
                  <a:moveTo>
                    <a:pt x="0" y="0"/>
                  </a:moveTo>
                  <a:lnTo>
                    <a:pt x="21213359" y="0"/>
                  </a:lnTo>
                  <a:lnTo>
                    <a:pt x="21213359" y="1279440"/>
                  </a:lnTo>
                  <a:lnTo>
                    <a:pt x="0" y="1279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65" r="0" b="-27306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213356" cy="12984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 spc="-1">
                  <a:solidFill>
                    <a:srgbClr val="E5E9F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Risk &amp; penalty: keeping unwanted behavior in check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3435" y="2390775"/>
            <a:ext cx="8110947" cy="2624547"/>
            <a:chOff x="0" y="0"/>
            <a:chExt cx="10814596" cy="349939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814558" cy="3499358"/>
            </a:xfrm>
            <a:custGeom>
              <a:avLst/>
              <a:gdLst/>
              <a:ahLst/>
              <a:cxnLst/>
              <a:rect r="r" b="b" t="t" l="l"/>
              <a:pathLst>
                <a:path h="3499358" w="10814558">
                  <a:moveTo>
                    <a:pt x="0" y="147320"/>
                  </a:moveTo>
                  <a:cubicBezTo>
                    <a:pt x="0" y="65913"/>
                    <a:pt x="65913" y="0"/>
                    <a:pt x="147320" y="0"/>
                  </a:cubicBezTo>
                  <a:lnTo>
                    <a:pt x="10667238" y="0"/>
                  </a:lnTo>
                  <a:cubicBezTo>
                    <a:pt x="10748645" y="0"/>
                    <a:pt x="10814558" y="65913"/>
                    <a:pt x="10814558" y="147320"/>
                  </a:cubicBezTo>
                  <a:lnTo>
                    <a:pt x="10814558" y="3352038"/>
                  </a:lnTo>
                  <a:cubicBezTo>
                    <a:pt x="10814558" y="3433445"/>
                    <a:pt x="10748645" y="3499358"/>
                    <a:pt x="10667238" y="3499358"/>
                  </a:cubicBezTo>
                  <a:lnTo>
                    <a:pt x="147320" y="3499358"/>
                  </a:lnTo>
                  <a:cubicBezTo>
                    <a:pt x="65913" y="3499358"/>
                    <a:pt x="0" y="3433445"/>
                    <a:pt x="0" y="3352038"/>
                  </a:cubicBezTo>
                  <a:close/>
                </a:path>
              </a:pathLst>
            </a:custGeom>
            <a:solidFill>
              <a:srgbClr val="16213E"/>
            </a:solidFill>
            <a:ln w="19050" cap="sq">
              <a:solidFill>
                <a:srgbClr val="EF476F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1165860" y="2743200"/>
            <a:ext cx="1165317" cy="1165317"/>
            <a:chOff x="0" y="0"/>
            <a:chExt cx="1553756" cy="155375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53718" cy="1553718"/>
            </a:xfrm>
            <a:custGeom>
              <a:avLst/>
              <a:gdLst/>
              <a:ahLst/>
              <a:cxnLst/>
              <a:rect r="r" b="b" t="t" l="l"/>
              <a:pathLst>
                <a:path h="1553718" w="1553718">
                  <a:moveTo>
                    <a:pt x="0" y="776859"/>
                  </a:moveTo>
                  <a:cubicBezTo>
                    <a:pt x="0" y="347853"/>
                    <a:pt x="347853" y="0"/>
                    <a:pt x="776859" y="0"/>
                  </a:cubicBezTo>
                  <a:cubicBezTo>
                    <a:pt x="1205865" y="0"/>
                    <a:pt x="1553718" y="347853"/>
                    <a:pt x="1553718" y="776859"/>
                  </a:cubicBezTo>
                  <a:cubicBezTo>
                    <a:pt x="1553718" y="1205865"/>
                    <a:pt x="1205865" y="1553718"/>
                    <a:pt x="776859" y="1553718"/>
                  </a:cubicBezTo>
                  <a:cubicBezTo>
                    <a:pt x="347853" y="1553718"/>
                    <a:pt x="0" y="1205992"/>
                    <a:pt x="0" y="77685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445581" y="3022921"/>
            <a:ext cx="605876" cy="605876"/>
            <a:chOff x="0" y="0"/>
            <a:chExt cx="807834" cy="807834"/>
          </a:xfrm>
        </p:grpSpPr>
        <p:sp>
          <p:nvSpPr>
            <p:cNvPr name="Freeform 13" id="13" descr="/tmp/claude-1000/-media-hung-Work-Project-AI-Engineer-RL-contra-PPO/70c7dc7d-8f3f-4139-8f25-95b0e9e6dca5/scratchpad/build/icons/skull.png"/>
            <p:cNvSpPr/>
            <p:nvPr/>
          </p:nvSpPr>
          <p:spPr>
            <a:xfrm flipH="false" flipV="false" rot="0">
              <a:off x="0" y="0"/>
              <a:ext cx="807847" cy="807847"/>
            </a:xfrm>
            <a:custGeom>
              <a:avLst/>
              <a:gdLst/>
              <a:ahLst/>
              <a:cxnLst/>
              <a:rect r="r" b="b" t="t" l="l"/>
              <a:pathLst>
                <a:path h="807847" w="807847">
                  <a:moveTo>
                    <a:pt x="0" y="0"/>
                  </a:moveTo>
                  <a:lnTo>
                    <a:pt x="807847" y="0"/>
                  </a:lnTo>
                  <a:lnTo>
                    <a:pt x="807847" y="807847"/>
                  </a:lnTo>
                  <a:lnTo>
                    <a:pt x="0" y="8078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1" b="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537460" y="2702157"/>
            <a:ext cx="6034497" cy="531925"/>
            <a:chOff x="0" y="0"/>
            <a:chExt cx="8045996" cy="70923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046000" cy="709237"/>
            </a:xfrm>
            <a:custGeom>
              <a:avLst/>
              <a:gdLst/>
              <a:ahLst/>
              <a:cxnLst/>
              <a:rect r="r" b="b" t="t" l="l"/>
              <a:pathLst>
                <a:path h="709237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709237"/>
                  </a:lnTo>
                  <a:lnTo>
                    <a:pt x="0" y="70923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5975" r="0" b="-166122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8045996" cy="76638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09"/>
                </a:lnSpc>
              </a:pPr>
              <a:r>
                <a:rPr lang="en-US" b="true" sz="2674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Backward / wasted movement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537460" y="3195723"/>
            <a:ext cx="6034497" cy="1028160"/>
            <a:chOff x="0" y="0"/>
            <a:chExt cx="8045996" cy="137088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046000" cy="1370884"/>
            </a:xfrm>
            <a:custGeom>
              <a:avLst/>
              <a:gdLst/>
              <a:ahLst/>
              <a:cxnLst/>
              <a:rect r="r" b="b" t="t" l="l"/>
              <a:pathLst>
                <a:path h="1370884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1370884"/>
                  </a:lnTo>
                  <a:lnTo>
                    <a:pt x="0" y="1370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4361" r="0" b="-64361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66675"/>
              <a:ext cx="8045996" cy="14375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38"/>
                </a:lnSpc>
              </a:pP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progress formula goes negative when moving backward or not meeting the per-step threshold.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2537460" y="4320540"/>
            <a:ext cx="6034497" cy="479520"/>
            <a:chOff x="0" y="0"/>
            <a:chExt cx="8045996" cy="6393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8046000" cy="639364"/>
            </a:xfrm>
            <a:custGeom>
              <a:avLst/>
              <a:gdLst/>
              <a:ahLst/>
              <a:cxnLst/>
              <a:rect r="r" b="b" t="t" l="l"/>
              <a:pathLst>
                <a:path h="639364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5207" r="0" b="-195206"/>
              </a:stretch>
            </a:blipFill>
          </p:spPr>
        </p:sp>
        <p:sp>
          <p:nvSpPr>
            <p:cNvPr name="TextBox 22" id="22"/>
            <p:cNvSpPr txBox="true"/>
            <p:nvPr/>
          </p:nvSpPr>
          <p:spPr>
            <a:xfrm>
              <a:off x="0" y="-38100"/>
              <a:ext cx="8045996" cy="677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9"/>
                </a:lnSpc>
              </a:pP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raw: </a:t>
              </a:r>
              <a:r>
                <a:rPr lang="en-US" b="true" sz="2074" spc="-1">
                  <a:solidFill>
                    <a:srgbClr val="EF476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down to -4   </a:t>
              </a: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 </a:t>
              </a:r>
              <a:r>
                <a:rPr lang="en-US" b="true" sz="2074" spc="-1">
                  <a:solidFill>
                    <a:srgbClr val="EF476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down to -0.4</a:t>
              </a:r>
            </a:p>
          </p:txBody>
        </p:sp>
      </p:grpSp>
      <p:grpSp>
        <p:nvGrpSpPr>
          <p:cNvPr name="Group 23" id="23"/>
          <p:cNvGrpSpPr/>
          <p:nvPr/>
        </p:nvGrpSpPr>
        <p:grpSpPr>
          <a:xfrm rot="0">
            <a:off x="9385935" y="2390775"/>
            <a:ext cx="8110947" cy="2624547"/>
            <a:chOff x="0" y="0"/>
            <a:chExt cx="10814596" cy="3499396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0814558" cy="3499358"/>
            </a:xfrm>
            <a:custGeom>
              <a:avLst/>
              <a:gdLst/>
              <a:ahLst/>
              <a:cxnLst/>
              <a:rect r="r" b="b" t="t" l="l"/>
              <a:pathLst>
                <a:path h="3499358" w="10814558">
                  <a:moveTo>
                    <a:pt x="0" y="147320"/>
                  </a:moveTo>
                  <a:cubicBezTo>
                    <a:pt x="0" y="65913"/>
                    <a:pt x="65913" y="0"/>
                    <a:pt x="147320" y="0"/>
                  </a:cubicBezTo>
                  <a:lnTo>
                    <a:pt x="10667238" y="0"/>
                  </a:lnTo>
                  <a:cubicBezTo>
                    <a:pt x="10748645" y="0"/>
                    <a:pt x="10814558" y="65913"/>
                    <a:pt x="10814558" y="147320"/>
                  </a:cubicBezTo>
                  <a:lnTo>
                    <a:pt x="10814558" y="3352038"/>
                  </a:lnTo>
                  <a:cubicBezTo>
                    <a:pt x="10814558" y="3433445"/>
                    <a:pt x="10748645" y="3499358"/>
                    <a:pt x="10667238" y="3499358"/>
                  </a:cubicBezTo>
                  <a:lnTo>
                    <a:pt x="147320" y="3499358"/>
                  </a:lnTo>
                  <a:cubicBezTo>
                    <a:pt x="65913" y="3499358"/>
                    <a:pt x="0" y="3433445"/>
                    <a:pt x="0" y="3352038"/>
                  </a:cubicBezTo>
                  <a:close/>
                </a:path>
              </a:pathLst>
            </a:custGeom>
            <a:solidFill>
              <a:srgbClr val="16213E"/>
            </a:solidFill>
            <a:ln w="19050" cap="sq">
              <a:solidFill>
                <a:srgbClr val="EF476F"/>
              </a:solidFill>
              <a:prstDash val="solid"/>
              <a:miter/>
            </a:ln>
          </p:spPr>
        </p:sp>
      </p:grpSp>
      <p:grpSp>
        <p:nvGrpSpPr>
          <p:cNvPr name="Group 25" id="25"/>
          <p:cNvGrpSpPr/>
          <p:nvPr/>
        </p:nvGrpSpPr>
        <p:grpSpPr>
          <a:xfrm rot="0">
            <a:off x="9738360" y="2743200"/>
            <a:ext cx="1165317" cy="1165317"/>
            <a:chOff x="0" y="0"/>
            <a:chExt cx="1553756" cy="1553756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1553718" cy="1553718"/>
            </a:xfrm>
            <a:custGeom>
              <a:avLst/>
              <a:gdLst/>
              <a:ahLst/>
              <a:cxnLst/>
              <a:rect r="r" b="b" t="t" l="l"/>
              <a:pathLst>
                <a:path h="1553718" w="1553718">
                  <a:moveTo>
                    <a:pt x="0" y="776859"/>
                  </a:moveTo>
                  <a:cubicBezTo>
                    <a:pt x="0" y="347853"/>
                    <a:pt x="347853" y="0"/>
                    <a:pt x="776859" y="0"/>
                  </a:cubicBezTo>
                  <a:cubicBezTo>
                    <a:pt x="1205865" y="0"/>
                    <a:pt x="1553718" y="347853"/>
                    <a:pt x="1553718" y="776859"/>
                  </a:cubicBezTo>
                  <a:cubicBezTo>
                    <a:pt x="1553718" y="1205865"/>
                    <a:pt x="1205865" y="1553718"/>
                    <a:pt x="776859" y="1553718"/>
                  </a:cubicBezTo>
                  <a:cubicBezTo>
                    <a:pt x="347853" y="1553718"/>
                    <a:pt x="0" y="1205992"/>
                    <a:pt x="0" y="77685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27" id="27"/>
          <p:cNvGrpSpPr/>
          <p:nvPr/>
        </p:nvGrpSpPr>
        <p:grpSpPr>
          <a:xfrm rot="0">
            <a:off x="10018081" y="3022921"/>
            <a:ext cx="605876" cy="605876"/>
            <a:chOff x="0" y="0"/>
            <a:chExt cx="807834" cy="807834"/>
          </a:xfrm>
        </p:grpSpPr>
        <p:sp>
          <p:nvSpPr>
            <p:cNvPr name="Freeform 28" id="28" descr="/tmp/claude-1000/-media-hung-Work-Project-AI-Engineer-RL-contra-PPO/70c7dc7d-8f3f-4139-8f25-95b0e9e6dca5/scratchpad/build/icons/warning.png"/>
            <p:cNvSpPr/>
            <p:nvPr/>
          </p:nvSpPr>
          <p:spPr>
            <a:xfrm flipH="false" flipV="false" rot="0">
              <a:off x="0" y="0"/>
              <a:ext cx="807847" cy="807847"/>
            </a:xfrm>
            <a:custGeom>
              <a:avLst/>
              <a:gdLst/>
              <a:ahLst/>
              <a:cxnLst/>
              <a:rect r="r" b="b" t="t" l="l"/>
              <a:pathLst>
                <a:path h="807847" w="807847">
                  <a:moveTo>
                    <a:pt x="0" y="0"/>
                  </a:moveTo>
                  <a:lnTo>
                    <a:pt x="807847" y="0"/>
                  </a:lnTo>
                  <a:lnTo>
                    <a:pt x="807847" y="807847"/>
                  </a:lnTo>
                  <a:lnTo>
                    <a:pt x="0" y="8078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1" b="1"/>
              </a:stretch>
            </a:blipFill>
          </p:spPr>
        </p:sp>
      </p:grpSp>
      <p:grpSp>
        <p:nvGrpSpPr>
          <p:cNvPr name="Group 29" id="29"/>
          <p:cNvGrpSpPr/>
          <p:nvPr/>
        </p:nvGrpSpPr>
        <p:grpSpPr>
          <a:xfrm rot="0">
            <a:off x="11109960" y="2702157"/>
            <a:ext cx="6034497" cy="531925"/>
            <a:chOff x="0" y="0"/>
            <a:chExt cx="8045996" cy="709233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046000" cy="709237"/>
            </a:xfrm>
            <a:custGeom>
              <a:avLst/>
              <a:gdLst/>
              <a:ahLst/>
              <a:cxnLst/>
              <a:rect r="r" b="b" t="t" l="l"/>
              <a:pathLst>
                <a:path h="709237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709237"/>
                  </a:lnTo>
                  <a:lnTo>
                    <a:pt x="0" y="70923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5975" r="0" b="-166122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57150"/>
              <a:ext cx="8045996" cy="76638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09"/>
                </a:lnSpc>
              </a:pPr>
              <a:r>
                <a:rPr lang="en-US" b="true" sz="2674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Death / life lost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11109960" y="3195723"/>
            <a:ext cx="6034497" cy="1028160"/>
            <a:chOff x="0" y="0"/>
            <a:chExt cx="8045996" cy="137088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8046000" cy="1370884"/>
            </a:xfrm>
            <a:custGeom>
              <a:avLst/>
              <a:gdLst/>
              <a:ahLst/>
              <a:cxnLst/>
              <a:rect r="r" b="b" t="t" l="l"/>
              <a:pathLst>
                <a:path h="1370884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1370884"/>
                  </a:lnTo>
                  <a:lnTo>
                    <a:pt x="0" y="1370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4361" r="0" b="-64361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66675"/>
              <a:ext cx="8045996" cy="14375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38"/>
                </a:lnSpc>
              </a:pP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Life count drops compared to the previous step — no separate penalty for taking non-lethal damage.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11109960" y="4320540"/>
            <a:ext cx="6034497" cy="479520"/>
            <a:chOff x="0" y="0"/>
            <a:chExt cx="8045996" cy="63936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8046000" cy="639364"/>
            </a:xfrm>
            <a:custGeom>
              <a:avLst/>
              <a:gdLst/>
              <a:ahLst/>
              <a:cxnLst/>
              <a:rect r="r" b="b" t="t" l="l"/>
              <a:pathLst>
                <a:path h="639364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5207" r="0" b="-195206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38100"/>
              <a:ext cx="8045996" cy="677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9"/>
                </a:lnSpc>
              </a:pP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raw: </a:t>
              </a:r>
              <a:r>
                <a:rPr lang="en-US" b="true" sz="2074" spc="-1">
                  <a:solidFill>
                    <a:srgbClr val="EF476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-15   </a:t>
              </a: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 </a:t>
              </a:r>
              <a:r>
                <a:rPr lang="en-US" b="true" sz="2074" spc="-1">
                  <a:solidFill>
                    <a:srgbClr val="EF476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-1.5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813435" y="5339715"/>
            <a:ext cx="8110947" cy="2624547"/>
            <a:chOff x="0" y="0"/>
            <a:chExt cx="10814596" cy="3499396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0814558" cy="3499358"/>
            </a:xfrm>
            <a:custGeom>
              <a:avLst/>
              <a:gdLst/>
              <a:ahLst/>
              <a:cxnLst/>
              <a:rect r="r" b="b" t="t" l="l"/>
              <a:pathLst>
                <a:path h="3499358" w="10814558">
                  <a:moveTo>
                    <a:pt x="0" y="147320"/>
                  </a:moveTo>
                  <a:cubicBezTo>
                    <a:pt x="0" y="65913"/>
                    <a:pt x="65913" y="0"/>
                    <a:pt x="147320" y="0"/>
                  </a:cubicBezTo>
                  <a:lnTo>
                    <a:pt x="10667238" y="0"/>
                  </a:lnTo>
                  <a:cubicBezTo>
                    <a:pt x="10748645" y="0"/>
                    <a:pt x="10814558" y="65913"/>
                    <a:pt x="10814558" y="147320"/>
                  </a:cubicBezTo>
                  <a:lnTo>
                    <a:pt x="10814558" y="3352038"/>
                  </a:lnTo>
                  <a:cubicBezTo>
                    <a:pt x="10814558" y="3433445"/>
                    <a:pt x="10748645" y="3499358"/>
                    <a:pt x="10667238" y="3499358"/>
                  </a:cubicBezTo>
                  <a:lnTo>
                    <a:pt x="147320" y="3499358"/>
                  </a:lnTo>
                  <a:cubicBezTo>
                    <a:pt x="65913" y="3499358"/>
                    <a:pt x="0" y="3433445"/>
                    <a:pt x="0" y="3352038"/>
                  </a:cubicBezTo>
                  <a:close/>
                </a:path>
              </a:pathLst>
            </a:custGeom>
            <a:solidFill>
              <a:srgbClr val="16213E"/>
            </a:solidFill>
            <a:ln w="19050" cap="sq">
              <a:solidFill>
                <a:srgbClr val="EF476F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1165860" y="5692140"/>
            <a:ext cx="1165317" cy="1165317"/>
            <a:chOff x="0" y="0"/>
            <a:chExt cx="1553756" cy="155375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1553718" cy="1553718"/>
            </a:xfrm>
            <a:custGeom>
              <a:avLst/>
              <a:gdLst/>
              <a:ahLst/>
              <a:cxnLst/>
              <a:rect r="r" b="b" t="t" l="l"/>
              <a:pathLst>
                <a:path h="1553718" w="1553718">
                  <a:moveTo>
                    <a:pt x="0" y="776859"/>
                  </a:moveTo>
                  <a:cubicBezTo>
                    <a:pt x="0" y="347853"/>
                    <a:pt x="347853" y="0"/>
                    <a:pt x="776859" y="0"/>
                  </a:cubicBezTo>
                  <a:cubicBezTo>
                    <a:pt x="1205865" y="0"/>
                    <a:pt x="1553718" y="347853"/>
                    <a:pt x="1553718" y="776859"/>
                  </a:cubicBezTo>
                  <a:cubicBezTo>
                    <a:pt x="1553718" y="1205865"/>
                    <a:pt x="1205865" y="1553718"/>
                    <a:pt x="776859" y="1553718"/>
                  </a:cubicBezTo>
                  <a:cubicBezTo>
                    <a:pt x="347853" y="1553718"/>
                    <a:pt x="0" y="1205992"/>
                    <a:pt x="0" y="77685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42" id="42"/>
          <p:cNvGrpSpPr/>
          <p:nvPr/>
        </p:nvGrpSpPr>
        <p:grpSpPr>
          <a:xfrm rot="0">
            <a:off x="1445581" y="5971861"/>
            <a:ext cx="605876" cy="605876"/>
            <a:chOff x="0" y="0"/>
            <a:chExt cx="807834" cy="807834"/>
          </a:xfrm>
        </p:grpSpPr>
        <p:sp>
          <p:nvSpPr>
            <p:cNvPr name="Freeform 43" id="43" descr="/tmp/claude-1000/-media-hung-Work-Project-AI-Engineer-RL-contra-PPO/70c7dc7d-8f3f-4139-8f25-95b0e9e6dca5/scratchpad/build/icons/bolt.png"/>
            <p:cNvSpPr/>
            <p:nvPr/>
          </p:nvSpPr>
          <p:spPr>
            <a:xfrm flipH="false" flipV="false" rot="0">
              <a:off x="0" y="0"/>
              <a:ext cx="807847" cy="807847"/>
            </a:xfrm>
            <a:custGeom>
              <a:avLst/>
              <a:gdLst/>
              <a:ahLst/>
              <a:cxnLst/>
              <a:rect r="r" b="b" t="t" l="l"/>
              <a:pathLst>
                <a:path h="807847" w="807847">
                  <a:moveTo>
                    <a:pt x="0" y="0"/>
                  </a:moveTo>
                  <a:lnTo>
                    <a:pt x="807847" y="0"/>
                  </a:lnTo>
                  <a:lnTo>
                    <a:pt x="807847" y="807847"/>
                  </a:lnTo>
                  <a:lnTo>
                    <a:pt x="0" y="8078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1" b="1"/>
              </a:stretch>
            </a:blipFill>
          </p:spPr>
        </p:sp>
      </p:grpSp>
      <p:grpSp>
        <p:nvGrpSpPr>
          <p:cNvPr name="Group 44" id="44"/>
          <p:cNvGrpSpPr/>
          <p:nvPr/>
        </p:nvGrpSpPr>
        <p:grpSpPr>
          <a:xfrm rot="0">
            <a:off x="2537460" y="5651097"/>
            <a:ext cx="6034497" cy="531925"/>
            <a:chOff x="0" y="0"/>
            <a:chExt cx="8045996" cy="709233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8046000" cy="709237"/>
            </a:xfrm>
            <a:custGeom>
              <a:avLst/>
              <a:gdLst/>
              <a:ahLst/>
              <a:cxnLst/>
              <a:rect r="r" b="b" t="t" l="l"/>
              <a:pathLst>
                <a:path h="709237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709237"/>
                  </a:lnTo>
                  <a:lnTo>
                    <a:pt x="0" y="70923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5975" r="0" b="-166122"/>
              </a:stretch>
            </a:blipFill>
          </p:spPr>
        </p:sp>
        <p:sp>
          <p:nvSpPr>
            <p:cNvPr name="TextBox 46" id="46"/>
            <p:cNvSpPr txBox="true"/>
            <p:nvPr/>
          </p:nvSpPr>
          <p:spPr>
            <a:xfrm>
              <a:off x="0" y="-57150"/>
              <a:ext cx="8045996" cy="76638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09"/>
                </a:lnSpc>
              </a:pPr>
              <a:r>
                <a:rPr lang="en-US" b="true" sz="2674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Stagnation</a:t>
              </a:r>
            </a:p>
          </p:txBody>
        </p:sp>
      </p:grpSp>
      <p:grpSp>
        <p:nvGrpSpPr>
          <p:cNvPr name="Group 47" id="47"/>
          <p:cNvGrpSpPr/>
          <p:nvPr/>
        </p:nvGrpSpPr>
        <p:grpSpPr>
          <a:xfrm rot="0">
            <a:off x="2537460" y="6144663"/>
            <a:ext cx="6034497" cy="1099373"/>
            <a:chOff x="0" y="0"/>
            <a:chExt cx="8045996" cy="146583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8046000" cy="1465834"/>
            </a:xfrm>
            <a:custGeom>
              <a:avLst/>
              <a:gdLst/>
              <a:ahLst/>
              <a:cxnLst/>
              <a:rect r="r" b="b" t="t" l="l"/>
              <a:pathLst>
                <a:path h="1465834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1465834"/>
                  </a:lnTo>
                  <a:lnTo>
                    <a:pt x="0" y="146583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0192" r="0" b="-53714"/>
              </a:stretch>
            </a:blipFill>
          </p:spPr>
        </p:sp>
        <p:sp>
          <p:nvSpPr>
            <p:cNvPr name="TextBox 49" id="49"/>
            <p:cNvSpPr txBox="true"/>
            <p:nvPr/>
          </p:nvSpPr>
          <p:spPr>
            <a:xfrm>
              <a:off x="0" y="-66675"/>
              <a:ext cx="8045996" cy="153250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38"/>
                </a:lnSpc>
              </a:pP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Standing still &gt; 90 steps outside the boss phase; the penalty grows progressively, disabled during the boss phase.</a:t>
              </a:r>
            </a:p>
          </p:txBody>
        </p:sp>
      </p:grpSp>
      <p:grpSp>
        <p:nvGrpSpPr>
          <p:cNvPr name="Group 50" id="50"/>
          <p:cNvGrpSpPr/>
          <p:nvPr/>
        </p:nvGrpSpPr>
        <p:grpSpPr>
          <a:xfrm rot="0">
            <a:off x="2537460" y="7269480"/>
            <a:ext cx="6034497" cy="479520"/>
            <a:chOff x="0" y="0"/>
            <a:chExt cx="8045996" cy="639360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8046000" cy="639364"/>
            </a:xfrm>
            <a:custGeom>
              <a:avLst/>
              <a:gdLst/>
              <a:ahLst/>
              <a:cxnLst/>
              <a:rect r="r" b="b" t="t" l="l"/>
              <a:pathLst>
                <a:path h="639364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5207" r="0" b="-195206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8045996" cy="677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9"/>
                </a:lnSpc>
              </a:pP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raw: </a:t>
              </a:r>
              <a:r>
                <a:rPr lang="en-US" b="true" sz="2074" spc="-1">
                  <a:solidFill>
                    <a:srgbClr val="EF476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~ -0.017 → -2   </a:t>
              </a: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 </a:t>
              </a:r>
              <a:r>
                <a:rPr lang="en-US" b="true" sz="2074" spc="-1">
                  <a:solidFill>
                    <a:srgbClr val="EF476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~ -0.0017 → -0.2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9385935" y="5339715"/>
            <a:ext cx="8110947" cy="2624547"/>
            <a:chOff x="0" y="0"/>
            <a:chExt cx="10814596" cy="3499396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814558" cy="3499358"/>
            </a:xfrm>
            <a:custGeom>
              <a:avLst/>
              <a:gdLst/>
              <a:ahLst/>
              <a:cxnLst/>
              <a:rect r="r" b="b" t="t" l="l"/>
              <a:pathLst>
                <a:path h="3499358" w="10814558">
                  <a:moveTo>
                    <a:pt x="0" y="147320"/>
                  </a:moveTo>
                  <a:cubicBezTo>
                    <a:pt x="0" y="65913"/>
                    <a:pt x="65913" y="0"/>
                    <a:pt x="147320" y="0"/>
                  </a:cubicBezTo>
                  <a:lnTo>
                    <a:pt x="10667238" y="0"/>
                  </a:lnTo>
                  <a:cubicBezTo>
                    <a:pt x="10748645" y="0"/>
                    <a:pt x="10814558" y="65913"/>
                    <a:pt x="10814558" y="147320"/>
                  </a:cubicBezTo>
                  <a:lnTo>
                    <a:pt x="10814558" y="3352038"/>
                  </a:lnTo>
                  <a:cubicBezTo>
                    <a:pt x="10814558" y="3433445"/>
                    <a:pt x="10748645" y="3499358"/>
                    <a:pt x="10667238" y="3499358"/>
                  </a:cubicBezTo>
                  <a:lnTo>
                    <a:pt x="147320" y="3499358"/>
                  </a:lnTo>
                  <a:cubicBezTo>
                    <a:pt x="65913" y="3499358"/>
                    <a:pt x="0" y="3433445"/>
                    <a:pt x="0" y="3352038"/>
                  </a:cubicBezTo>
                  <a:close/>
                </a:path>
              </a:pathLst>
            </a:custGeom>
            <a:solidFill>
              <a:srgbClr val="16213E"/>
            </a:solidFill>
            <a:ln w="19050" cap="sq">
              <a:solidFill>
                <a:srgbClr val="EF476F"/>
              </a:solidFill>
              <a:prstDash val="solid"/>
              <a:miter/>
            </a:ln>
          </p:spPr>
        </p:sp>
      </p:grpSp>
      <p:grpSp>
        <p:nvGrpSpPr>
          <p:cNvPr name="Group 55" id="55"/>
          <p:cNvGrpSpPr/>
          <p:nvPr/>
        </p:nvGrpSpPr>
        <p:grpSpPr>
          <a:xfrm rot="0">
            <a:off x="9738360" y="5692140"/>
            <a:ext cx="1165317" cy="1165317"/>
            <a:chOff x="0" y="0"/>
            <a:chExt cx="1553756" cy="1553756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1553718" cy="1553718"/>
            </a:xfrm>
            <a:custGeom>
              <a:avLst/>
              <a:gdLst/>
              <a:ahLst/>
              <a:cxnLst/>
              <a:rect r="r" b="b" t="t" l="l"/>
              <a:pathLst>
                <a:path h="1553718" w="1553718">
                  <a:moveTo>
                    <a:pt x="0" y="776859"/>
                  </a:moveTo>
                  <a:cubicBezTo>
                    <a:pt x="0" y="347853"/>
                    <a:pt x="347853" y="0"/>
                    <a:pt x="776859" y="0"/>
                  </a:cubicBezTo>
                  <a:cubicBezTo>
                    <a:pt x="1205865" y="0"/>
                    <a:pt x="1553718" y="347853"/>
                    <a:pt x="1553718" y="776859"/>
                  </a:cubicBezTo>
                  <a:cubicBezTo>
                    <a:pt x="1553718" y="1205865"/>
                    <a:pt x="1205865" y="1553718"/>
                    <a:pt x="776859" y="1553718"/>
                  </a:cubicBezTo>
                  <a:cubicBezTo>
                    <a:pt x="347853" y="1553718"/>
                    <a:pt x="0" y="1205992"/>
                    <a:pt x="0" y="77685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57" id="57"/>
          <p:cNvGrpSpPr/>
          <p:nvPr/>
        </p:nvGrpSpPr>
        <p:grpSpPr>
          <a:xfrm rot="0">
            <a:off x="10018081" y="5971861"/>
            <a:ext cx="605876" cy="605876"/>
            <a:chOff x="0" y="0"/>
            <a:chExt cx="807834" cy="807834"/>
          </a:xfrm>
        </p:grpSpPr>
        <p:sp>
          <p:nvSpPr>
            <p:cNvPr name="Freeform 58" id="58" descr="/tmp/claude-1000/-media-hung-Work-Project-AI-Engineer-RL-contra-PPO/70c7dc7d-8f3f-4139-8f25-95b0e9e6dca5/scratchpad/build/icons/skull.png"/>
            <p:cNvSpPr/>
            <p:nvPr/>
          </p:nvSpPr>
          <p:spPr>
            <a:xfrm flipH="false" flipV="false" rot="0">
              <a:off x="0" y="0"/>
              <a:ext cx="807847" cy="807847"/>
            </a:xfrm>
            <a:custGeom>
              <a:avLst/>
              <a:gdLst/>
              <a:ahLst/>
              <a:cxnLst/>
              <a:rect r="r" b="b" t="t" l="l"/>
              <a:pathLst>
                <a:path h="807847" w="807847">
                  <a:moveTo>
                    <a:pt x="0" y="0"/>
                  </a:moveTo>
                  <a:lnTo>
                    <a:pt x="807847" y="0"/>
                  </a:lnTo>
                  <a:lnTo>
                    <a:pt x="807847" y="807847"/>
                  </a:lnTo>
                  <a:lnTo>
                    <a:pt x="0" y="8078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1" b="1"/>
              </a:stretch>
            </a:blipFill>
          </p:spPr>
        </p:sp>
      </p:grpSp>
      <p:grpSp>
        <p:nvGrpSpPr>
          <p:cNvPr name="Group 59" id="59"/>
          <p:cNvGrpSpPr/>
          <p:nvPr/>
        </p:nvGrpSpPr>
        <p:grpSpPr>
          <a:xfrm rot="0">
            <a:off x="11109960" y="5651097"/>
            <a:ext cx="6034497" cy="531925"/>
            <a:chOff x="0" y="0"/>
            <a:chExt cx="8045996" cy="709233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8046000" cy="709237"/>
            </a:xfrm>
            <a:custGeom>
              <a:avLst/>
              <a:gdLst/>
              <a:ahLst/>
              <a:cxnLst/>
              <a:rect r="r" b="b" t="t" l="l"/>
              <a:pathLst>
                <a:path h="709237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709237"/>
                  </a:lnTo>
                  <a:lnTo>
                    <a:pt x="0" y="70923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5975" r="0" b="-166122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57150"/>
              <a:ext cx="8045996" cy="76638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09"/>
                </a:lnSpc>
              </a:pPr>
              <a:r>
                <a:rPr lang="en-US" b="true" sz="2674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Game over</a:t>
              </a:r>
            </a:p>
          </p:txBody>
        </p:sp>
      </p:grpSp>
      <p:grpSp>
        <p:nvGrpSpPr>
          <p:cNvPr name="Group 62" id="62"/>
          <p:cNvGrpSpPr/>
          <p:nvPr/>
        </p:nvGrpSpPr>
        <p:grpSpPr>
          <a:xfrm rot="0">
            <a:off x="11109960" y="6144663"/>
            <a:ext cx="6034497" cy="1028160"/>
            <a:chOff x="0" y="0"/>
            <a:chExt cx="8045996" cy="137088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8046000" cy="1370884"/>
            </a:xfrm>
            <a:custGeom>
              <a:avLst/>
              <a:gdLst/>
              <a:ahLst/>
              <a:cxnLst/>
              <a:rect r="r" b="b" t="t" l="l"/>
              <a:pathLst>
                <a:path h="1370884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1370884"/>
                  </a:lnTo>
                  <a:lnTo>
                    <a:pt x="0" y="137088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4361" r="0" b="-64361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66675"/>
              <a:ext cx="8045996" cy="143755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738"/>
                </a:lnSpc>
              </a:pP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The game-over RAM flag is set — final failure penalty.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11109960" y="7269480"/>
            <a:ext cx="6034497" cy="479520"/>
            <a:chOff x="0" y="0"/>
            <a:chExt cx="8045996" cy="63936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8046000" cy="639364"/>
            </a:xfrm>
            <a:custGeom>
              <a:avLst/>
              <a:gdLst/>
              <a:ahLst/>
              <a:cxnLst/>
              <a:rect r="r" b="b" t="t" l="l"/>
              <a:pathLst>
                <a:path h="639364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95207" r="0" b="-195206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38100"/>
              <a:ext cx="8045996" cy="677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489"/>
                </a:lnSpc>
              </a:pP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raw: </a:t>
              </a:r>
              <a:r>
                <a:rPr lang="en-US" b="true" sz="2074" spc="-1">
                  <a:solidFill>
                    <a:srgbClr val="EF476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-35   </a:t>
              </a: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→ </a:t>
              </a:r>
              <a:r>
                <a:rPr lang="en-US" b="true" sz="2074" spc="-1">
                  <a:solidFill>
                    <a:srgbClr val="EF476F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-3.5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822960" y="8435340"/>
            <a:ext cx="16636860" cy="479520"/>
            <a:chOff x="0" y="0"/>
            <a:chExt cx="22182480" cy="639360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22182480" cy="639364"/>
            </a:xfrm>
            <a:custGeom>
              <a:avLst/>
              <a:gdLst/>
              <a:ahLst/>
              <a:cxnLst/>
              <a:rect r="r" b="b" t="t" l="l"/>
              <a:pathLst>
                <a:path h="639364" w="22182480">
                  <a:moveTo>
                    <a:pt x="0" y="0"/>
                  </a:moveTo>
                  <a:lnTo>
                    <a:pt x="22182480" y="0"/>
                  </a:lnTo>
                  <a:lnTo>
                    <a:pt x="2218248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626026" r="0" b="-626025"/>
              </a:stretch>
            </a:blipFill>
          </p:spPr>
        </p:sp>
        <p:sp>
          <p:nvSpPr>
            <p:cNvPr name="TextBox 70" id="70"/>
            <p:cNvSpPr txBox="true"/>
            <p:nvPr/>
          </p:nvSpPr>
          <p:spPr>
            <a:xfrm>
              <a:off x="0" y="-38100"/>
              <a:ext cx="22182480" cy="67746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79"/>
                </a:lnSpc>
              </a:pPr>
              <a:r>
                <a:rPr lang="en-US" sz="2149" i="true" spc="-1">
                  <a:solidFill>
                    <a:srgbClr val="9AA6C1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An episode ends on game over OR when the Stage 1 boss-completion state is reached (win).</a:t>
              </a:r>
            </a:p>
          </p:txBody>
        </p:sp>
      </p:grpSp>
      <p:grpSp>
        <p:nvGrpSpPr>
          <p:cNvPr name="Group 71" id="71"/>
          <p:cNvGrpSpPr/>
          <p:nvPr/>
        </p:nvGrpSpPr>
        <p:grpSpPr>
          <a:xfrm rot="0">
            <a:off x="685800" y="9710823"/>
            <a:ext cx="4114257" cy="410937"/>
            <a:chOff x="0" y="0"/>
            <a:chExt cx="5485676" cy="547916"/>
          </a:xfrm>
        </p:grpSpPr>
        <p:sp>
          <p:nvSpPr>
            <p:cNvPr name="Freeform 72" id="72"/>
            <p:cNvSpPr/>
            <p:nvPr/>
          </p:nvSpPr>
          <p:spPr>
            <a:xfrm flipH="false" flipV="false" rot="0">
              <a:off x="0" y="0"/>
              <a:ext cx="5485680" cy="547920"/>
            </a:xfrm>
            <a:custGeom>
              <a:avLst/>
              <a:gdLst/>
              <a:ahLst/>
              <a:cxnLst/>
              <a:rect r="r" b="b" t="t" l="l"/>
              <a:pathLst>
                <a:path h="547920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081" r="0" b="-145080"/>
              </a:stretch>
            </a:blipFill>
          </p:spPr>
        </p:sp>
        <p:sp>
          <p:nvSpPr>
            <p:cNvPr name="TextBox 73" id="73"/>
            <p:cNvSpPr txBox="true"/>
            <p:nvPr/>
          </p:nvSpPr>
          <p:spPr>
            <a:xfrm>
              <a:off x="0" y="-38100"/>
              <a:ext cx="5485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Contra-PPO</a:t>
              </a:r>
            </a:p>
          </p:txBody>
        </p:sp>
      </p:grpSp>
      <p:grpSp>
        <p:nvGrpSpPr>
          <p:cNvPr name="Group 74" id="74"/>
          <p:cNvGrpSpPr/>
          <p:nvPr/>
        </p:nvGrpSpPr>
        <p:grpSpPr>
          <a:xfrm rot="0">
            <a:off x="16911723" y="9710823"/>
            <a:ext cx="822417" cy="410937"/>
            <a:chOff x="0" y="0"/>
            <a:chExt cx="1096556" cy="547916"/>
          </a:xfrm>
        </p:grpSpPr>
        <p:sp>
          <p:nvSpPr>
            <p:cNvPr name="Freeform 75" id="75"/>
            <p:cNvSpPr/>
            <p:nvPr/>
          </p:nvSpPr>
          <p:spPr>
            <a:xfrm flipH="false" flipV="false" rot="0">
              <a:off x="0" y="0"/>
              <a:ext cx="1096560" cy="547920"/>
            </a:xfrm>
            <a:custGeom>
              <a:avLst/>
              <a:gdLst/>
              <a:ahLst/>
              <a:cxnLst/>
              <a:rect r="r" b="b" t="t" l="l"/>
              <a:pathLst>
                <a:path h="547920" w="1096560">
                  <a:moveTo>
                    <a:pt x="0" y="0"/>
                  </a:moveTo>
                  <a:lnTo>
                    <a:pt x="1096560" y="0"/>
                  </a:lnTo>
                  <a:lnTo>
                    <a:pt x="109656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09" t="0" r="-14109" b="0"/>
              </a:stretch>
            </a:blipFill>
          </p:spPr>
        </p:sp>
        <p:sp>
          <p:nvSpPr>
            <p:cNvPr name="TextBox 76" id="76"/>
            <p:cNvSpPr txBox="true"/>
            <p:nvPr/>
          </p:nvSpPr>
          <p:spPr>
            <a:xfrm>
              <a:off x="0" y="-38100"/>
              <a:ext cx="109655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6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7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480060"/>
            <a:ext cx="10972257" cy="410937"/>
            <a:chOff x="0" y="0"/>
            <a:chExt cx="14629676" cy="5479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29681" cy="547920"/>
            </a:xfrm>
            <a:custGeom>
              <a:avLst/>
              <a:gdLst/>
              <a:ahLst/>
              <a:cxnLst/>
              <a:rect r="r" b="b" t="t" l="l"/>
              <a:pathLst>
                <a:path h="547920" w="14629681">
                  <a:moveTo>
                    <a:pt x="0" y="0"/>
                  </a:moveTo>
                  <a:lnTo>
                    <a:pt x="14629681" y="0"/>
                  </a:lnTo>
                  <a:lnTo>
                    <a:pt x="14629681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0258" r="0" b="-47025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29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98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TRAINING CONFIGURATION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850497"/>
            <a:ext cx="15910017" cy="959577"/>
            <a:chOff x="0" y="0"/>
            <a:chExt cx="21213356" cy="12794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213359" cy="1279440"/>
            </a:xfrm>
            <a:custGeom>
              <a:avLst/>
              <a:gdLst/>
              <a:ahLst/>
              <a:cxnLst/>
              <a:rect r="r" b="b" t="t" l="l"/>
              <a:pathLst>
                <a:path h="1279440" w="21213359">
                  <a:moveTo>
                    <a:pt x="0" y="0"/>
                  </a:moveTo>
                  <a:lnTo>
                    <a:pt x="21213359" y="0"/>
                  </a:lnTo>
                  <a:lnTo>
                    <a:pt x="21213359" y="1279440"/>
                  </a:lnTo>
                  <a:lnTo>
                    <a:pt x="0" y="1279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65" r="0" b="-27306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213356" cy="12984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 spc="-1">
                  <a:solidFill>
                    <a:srgbClr val="E5E9F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PPO Hyperparameters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18198" y="2532698"/>
            <a:ext cx="4535262" cy="639709"/>
            <a:chOff x="0" y="0"/>
            <a:chExt cx="6047016" cy="852945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6046978" cy="852932"/>
            </a:xfrm>
            <a:custGeom>
              <a:avLst/>
              <a:gdLst/>
              <a:ahLst/>
              <a:cxnLst/>
              <a:rect r="r" b="b" t="t" l="l"/>
              <a:pathLst>
                <a:path h="852932" w="6046978">
                  <a:moveTo>
                    <a:pt x="0" y="0"/>
                  </a:moveTo>
                  <a:lnTo>
                    <a:pt x="6046978" y="0"/>
                  </a:lnTo>
                  <a:lnTo>
                    <a:pt x="604697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C2B4A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10" id="10"/>
          <p:cNvGrpSpPr/>
          <p:nvPr/>
        </p:nvGrpSpPr>
        <p:grpSpPr>
          <a:xfrm rot="0">
            <a:off x="5344478" y="2532698"/>
            <a:ext cx="3712302" cy="639709"/>
            <a:chOff x="0" y="0"/>
            <a:chExt cx="4949736" cy="852945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4949698" cy="852932"/>
            </a:xfrm>
            <a:custGeom>
              <a:avLst/>
              <a:gdLst/>
              <a:ahLst/>
              <a:cxnLst/>
              <a:rect r="r" b="b" t="t" l="l"/>
              <a:pathLst>
                <a:path h="852932" w="4949698">
                  <a:moveTo>
                    <a:pt x="0" y="0"/>
                  </a:moveTo>
                  <a:lnTo>
                    <a:pt x="4949698" y="0"/>
                  </a:lnTo>
                  <a:lnTo>
                    <a:pt x="494969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C2B4A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12" id="12"/>
          <p:cNvGrpSpPr/>
          <p:nvPr/>
        </p:nvGrpSpPr>
        <p:grpSpPr>
          <a:xfrm rot="0">
            <a:off x="1028700" y="2537460"/>
            <a:ext cx="4251417" cy="630180"/>
            <a:chOff x="0" y="0"/>
            <a:chExt cx="5668556" cy="840240"/>
          </a:xfrm>
        </p:grpSpPr>
        <p:sp>
          <p:nvSpPr>
            <p:cNvPr name="Freeform 13" id="13"/>
            <p:cNvSpPr/>
            <p:nvPr/>
          </p:nvSpPr>
          <p:spPr>
            <a:xfrm flipH="false" flipV="false" rot="0">
              <a:off x="0" y="0"/>
              <a:ext cx="5668560" cy="840235"/>
            </a:xfrm>
            <a:custGeom>
              <a:avLst/>
              <a:gdLst/>
              <a:ahLst/>
              <a:cxnLst/>
              <a:rect r="r" b="b" t="t" l="l"/>
              <a:pathLst>
                <a:path h="840235" w="5668560">
                  <a:moveTo>
                    <a:pt x="0" y="0"/>
                  </a:moveTo>
                  <a:lnTo>
                    <a:pt x="5668560" y="0"/>
                  </a:lnTo>
                  <a:lnTo>
                    <a:pt x="566856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453" r="0" b="-81454"/>
              </a:stretch>
            </a:blipFill>
          </p:spPr>
        </p:sp>
        <p:sp>
          <p:nvSpPr>
            <p:cNvPr name="TextBox 14" id="14"/>
            <p:cNvSpPr txBox="true"/>
            <p:nvPr/>
          </p:nvSpPr>
          <p:spPr>
            <a:xfrm>
              <a:off x="0" y="-47625"/>
              <a:ext cx="566855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19"/>
                </a:lnSpc>
              </a:pPr>
              <a:r>
                <a:rPr lang="en-US" sz="209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Algorithm</a:t>
              </a:r>
            </a:p>
          </p:txBody>
        </p:sp>
      </p:grpSp>
      <p:grpSp>
        <p:nvGrpSpPr>
          <p:cNvPr name="Group 15" id="15"/>
          <p:cNvGrpSpPr/>
          <p:nvPr/>
        </p:nvGrpSpPr>
        <p:grpSpPr>
          <a:xfrm rot="0">
            <a:off x="5554980" y="2537460"/>
            <a:ext cx="3428457" cy="630180"/>
            <a:chOff x="0" y="0"/>
            <a:chExt cx="4571276" cy="840240"/>
          </a:xfrm>
        </p:grpSpPr>
        <p:sp>
          <p:nvSpPr>
            <p:cNvPr name="Freeform 16" id="16"/>
            <p:cNvSpPr/>
            <p:nvPr/>
          </p:nvSpPr>
          <p:spPr>
            <a:xfrm flipH="false" flipV="false" rot="0">
              <a:off x="0" y="0"/>
              <a:ext cx="4571280" cy="840235"/>
            </a:xfrm>
            <a:custGeom>
              <a:avLst/>
              <a:gdLst/>
              <a:ahLst/>
              <a:cxnLst/>
              <a:rect r="r" b="b" t="t" l="l"/>
              <a:pathLst>
                <a:path h="840235" w="4571280">
                  <a:moveTo>
                    <a:pt x="0" y="0"/>
                  </a:moveTo>
                  <a:lnTo>
                    <a:pt x="4571280" y="0"/>
                  </a:lnTo>
                  <a:lnTo>
                    <a:pt x="457128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007" r="0" b="-56008"/>
              </a:stretch>
            </a:blipFill>
          </p:spPr>
        </p:sp>
        <p:sp>
          <p:nvSpPr>
            <p:cNvPr name="TextBox 17" id="17"/>
            <p:cNvSpPr txBox="true"/>
            <p:nvPr/>
          </p:nvSpPr>
          <p:spPr>
            <a:xfrm>
              <a:off x="0" y="-47625"/>
              <a:ext cx="457127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lang="en-US" b="true" sz="2174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PPO</a:t>
              </a:r>
            </a:p>
          </p:txBody>
        </p:sp>
      </p:grpSp>
      <p:grpSp>
        <p:nvGrpSpPr>
          <p:cNvPr name="Group 18" id="18"/>
          <p:cNvGrpSpPr/>
          <p:nvPr/>
        </p:nvGrpSpPr>
        <p:grpSpPr>
          <a:xfrm rot="0">
            <a:off x="818198" y="3163414"/>
            <a:ext cx="4535262" cy="639709"/>
            <a:chOff x="0" y="0"/>
            <a:chExt cx="6047016" cy="852945"/>
          </a:xfrm>
        </p:grpSpPr>
        <p:sp>
          <p:nvSpPr>
            <p:cNvPr name="Freeform 19" id="19"/>
            <p:cNvSpPr/>
            <p:nvPr/>
          </p:nvSpPr>
          <p:spPr>
            <a:xfrm flipH="false" flipV="false" rot="0">
              <a:off x="0" y="0"/>
              <a:ext cx="6046978" cy="852932"/>
            </a:xfrm>
            <a:custGeom>
              <a:avLst/>
              <a:gdLst/>
              <a:ahLst/>
              <a:cxnLst/>
              <a:rect r="r" b="b" t="t" l="l"/>
              <a:pathLst>
                <a:path h="852932" w="6046978">
                  <a:moveTo>
                    <a:pt x="0" y="0"/>
                  </a:moveTo>
                  <a:lnTo>
                    <a:pt x="6046978" y="0"/>
                  </a:lnTo>
                  <a:lnTo>
                    <a:pt x="604697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6213E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20" id="20"/>
          <p:cNvGrpSpPr/>
          <p:nvPr/>
        </p:nvGrpSpPr>
        <p:grpSpPr>
          <a:xfrm rot="0">
            <a:off x="5344478" y="3163414"/>
            <a:ext cx="3712302" cy="639709"/>
            <a:chOff x="0" y="0"/>
            <a:chExt cx="4949736" cy="852945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4949698" cy="852932"/>
            </a:xfrm>
            <a:custGeom>
              <a:avLst/>
              <a:gdLst/>
              <a:ahLst/>
              <a:cxnLst/>
              <a:rect r="r" b="b" t="t" l="l"/>
              <a:pathLst>
                <a:path h="852932" w="4949698">
                  <a:moveTo>
                    <a:pt x="0" y="0"/>
                  </a:moveTo>
                  <a:lnTo>
                    <a:pt x="4949698" y="0"/>
                  </a:lnTo>
                  <a:lnTo>
                    <a:pt x="494969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6213E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22" id="22"/>
          <p:cNvGrpSpPr/>
          <p:nvPr/>
        </p:nvGrpSpPr>
        <p:grpSpPr>
          <a:xfrm rot="0">
            <a:off x="1028700" y="3168177"/>
            <a:ext cx="4251417" cy="630180"/>
            <a:chOff x="0" y="0"/>
            <a:chExt cx="5668556" cy="840240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5668560" cy="840235"/>
            </a:xfrm>
            <a:custGeom>
              <a:avLst/>
              <a:gdLst/>
              <a:ahLst/>
              <a:cxnLst/>
              <a:rect r="r" b="b" t="t" l="l"/>
              <a:pathLst>
                <a:path h="840235" w="5668560">
                  <a:moveTo>
                    <a:pt x="0" y="0"/>
                  </a:moveTo>
                  <a:lnTo>
                    <a:pt x="5668560" y="0"/>
                  </a:lnTo>
                  <a:lnTo>
                    <a:pt x="566856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453" r="0" b="-81454"/>
              </a:stretch>
            </a:blipFill>
          </p:spPr>
        </p:sp>
        <p:sp>
          <p:nvSpPr>
            <p:cNvPr name="TextBox 24" id="24"/>
            <p:cNvSpPr txBox="true"/>
            <p:nvPr/>
          </p:nvSpPr>
          <p:spPr>
            <a:xfrm>
              <a:off x="0" y="-47625"/>
              <a:ext cx="566855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19"/>
                </a:lnSpc>
              </a:pPr>
              <a:r>
                <a:rPr lang="en-US" sz="209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Policy</a:t>
              </a:r>
            </a:p>
          </p:txBody>
        </p:sp>
      </p:grpSp>
      <p:grpSp>
        <p:nvGrpSpPr>
          <p:cNvPr name="Group 25" id="25"/>
          <p:cNvGrpSpPr/>
          <p:nvPr/>
        </p:nvGrpSpPr>
        <p:grpSpPr>
          <a:xfrm rot="0">
            <a:off x="5554980" y="3168177"/>
            <a:ext cx="3428457" cy="630180"/>
            <a:chOff x="0" y="0"/>
            <a:chExt cx="4571276" cy="84024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4571280" cy="840235"/>
            </a:xfrm>
            <a:custGeom>
              <a:avLst/>
              <a:gdLst/>
              <a:ahLst/>
              <a:cxnLst/>
              <a:rect r="r" b="b" t="t" l="l"/>
              <a:pathLst>
                <a:path h="840235" w="4571280">
                  <a:moveTo>
                    <a:pt x="0" y="0"/>
                  </a:moveTo>
                  <a:lnTo>
                    <a:pt x="4571280" y="0"/>
                  </a:lnTo>
                  <a:lnTo>
                    <a:pt x="457128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007" r="0" b="-56008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-47625"/>
              <a:ext cx="457127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lang="en-US" b="true" sz="2174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CNN / MLP</a:t>
              </a:r>
            </a:p>
          </p:txBody>
        </p:sp>
      </p:grpSp>
      <p:grpSp>
        <p:nvGrpSpPr>
          <p:cNvPr name="Group 28" id="28"/>
          <p:cNvGrpSpPr/>
          <p:nvPr/>
        </p:nvGrpSpPr>
        <p:grpSpPr>
          <a:xfrm rot="0">
            <a:off x="818198" y="3794674"/>
            <a:ext cx="4535262" cy="639709"/>
            <a:chOff x="0" y="0"/>
            <a:chExt cx="6047016" cy="852945"/>
          </a:xfrm>
        </p:grpSpPr>
        <p:sp>
          <p:nvSpPr>
            <p:cNvPr name="Freeform 29" id="29"/>
            <p:cNvSpPr/>
            <p:nvPr/>
          </p:nvSpPr>
          <p:spPr>
            <a:xfrm flipH="false" flipV="false" rot="0">
              <a:off x="0" y="0"/>
              <a:ext cx="6046978" cy="852932"/>
            </a:xfrm>
            <a:custGeom>
              <a:avLst/>
              <a:gdLst/>
              <a:ahLst/>
              <a:cxnLst/>
              <a:rect r="r" b="b" t="t" l="l"/>
              <a:pathLst>
                <a:path h="852932" w="6046978">
                  <a:moveTo>
                    <a:pt x="0" y="0"/>
                  </a:moveTo>
                  <a:lnTo>
                    <a:pt x="6046978" y="0"/>
                  </a:lnTo>
                  <a:lnTo>
                    <a:pt x="604697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C2B4A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30" id="30"/>
          <p:cNvGrpSpPr/>
          <p:nvPr/>
        </p:nvGrpSpPr>
        <p:grpSpPr>
          <a:xfrm rot="0">
            <a:off x="5344478" y="3794674"/>
            <a:ext cx="3712302" cy="639709"/>
            <a:chOff x="0" y="0"/>
            <a:chExt cx="4949736" cy="852945"/>
          </a:xfrm>
        </p:grpSpPr>
        <p:sp>
          <p:nvSpPr>
            <p:cNvPr name="Freeform 31" id="31"/>
            <p:cNvSpPr/>
            <p:nvPr/>
          </p:nvSpPr>
          <p:spPr>
            <a:xfrm flipH="false" flipV="false" rot="0">
              <a:off x="0" y="0"/>
              <a:ext cx="4949698" cy="852932"/>
            </a:xfrm>
            <a:custGeom>
              <a:avLst/>
              <a:gdLst/>
              <a:ahLst/>
              <a:cxnLst/>
              <a:rect r="r" b="b" t="t" l="l"/>
              <a:pathLst>
                <a:path h="852932" w="4949698">
                  <a:moveTo>
                    <a:pt x="0" y="0"/>
                  </a:moveTo>
                  <a:lnTo>
                    <a:pt x="4949698" y="0"/>
                  </a:lnTo>
                  <a:lnTo>
                    <a:pt x="494969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C2B4A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32" id="32"/>
          <p:cNvGrpSpPr/>
          <p:nvPr/>
        </p:nvGrpSpPr>
        <p:grpSpPr>
          <a:xfrm rot="0">
            <a:off x="1028700" y="3799437"/>
            <a:ext cx="4251417" cy="630180"/>
            <a:chOff x="0" y="0"/>
            <a:chExt cx="5668556" cy="840240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5668560" cy="840235"/>
            </a:xfrm>
            <a:custGeom>
              <a:avLst/>
              <a:gdLst/>
              <a:ahLst/>
              <a:cxnLst/>
              <a:rect r="r" b="b" t="t" l="l"/>
              <a:pathLst>
                <a:path h="840235" w="5668560">
                  <a:moveTo>
                    <a:pt x="0" y="0"/>
                  </a:moveTo>
                  <a:lnTo>
                    <a:pt x="5668560" y="0"/>
                  </a:lnTo>
                  <a:lnTo>
                    <a:pt x="566856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453" r="0" b="-81454"/>
              </a:stretch>
            </a:blipFill>
          </p:spPr>
        </p:sp>
        <p:sp>
          <p:nvSpPr>
            <p:cNvPr name="TextBox 34" id="34"/>
            <p:cNvSpPr txBox="true"/>
            <p:nvPr/>
          </p:nvSpPr>
          <p:spPr>
            <a:xfrm>
              <a:off x="0" y="-47625"/>
              <a:ext cx="566855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19"/>
                </a:lnSpc>
              </a:pPr>
              <a:r>
                <a:rPr lang="en-US" sz="209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Learning Rate</a:t>
              </a:r>
            </a:p>
          </p:txBody>
        </p:sp>
      </p:grpSp>
      <p:grpSp>
        <p:nvGrpSpPr>
          <p:cNvPr name="Group 35" id="35"/>
          <p:cNvGrpSpPr/>
          <p:nvPr/>
        </p:nvGrpSpPr>
        <p:grpSpPr>
          <a:xfrm rot="0">
            <a:off x="5554980" y="3799437"/>
            <a:ext cx="3428457" cy="630180"/>
            <a:chOff x="0" y="0"/>
            <a:chExt cx="4571276" cy="840240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4571280" cy="840235"/>
            </a:xfrm>
            <a:custGeom>
              <a:avLst/>
              <a:gdLst/>
              <a:ahLst/>
              <a:cxnLst/>
              <a:rect r="r" b="b" t="t" l="l"/>
              <a:pathLst>
                <a:path h="840235" w="4571280">
                  <a:moveTo>
                    <a:pt x="0" y="0"/>
                  </a:moveTo>
                  <a:lnTo>
                    <a:pt x="4571280" y="0"/>
                  </a:lnTo>
                  <a:lnTo>
                    <a:pt x="457128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007" r="0" b="-56008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47625"/>
              <a:ext cx="457127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lang="en-US" b="true" sz="2174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3e-4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818198" y="4425401"/>
            <a:ext cx="4535262" cy="639709"/>
            <a:chOff x="0" y="0"/>
            <a:chExt cx="6047016" cy="852945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6046978" cy="852932"/>
            </a:xfrm>
            <a:custGeom>
              <a:avLst/>
              <a:gdLst/>
              <a:ahLst/>
              <a:cxnLst/>
              <a:rect r="r" b="b" t="t" l="l"/>
              <a:pathLst>
                <a:path h="852932" w="6046978">
                  <a:moveTo>
                    <a:pt x="0" y="0"/>
                  </a:moveTo>
                  <a:lnTo>
                    <a:pt x="6046978" y="0"/>
                  </a:lnTo>
                  <a:lnTo>
                    <a:pt x="604697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6213E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40" id="40"/>
          <p:cNvGrpSpPr/>
          <p:nvPr/>
        </p:nvGrpSpPr>
        <p:grpSpPr>
          <a:xfrm rot="0">
            <a:off x="5344478" y="4425401"/>
            <a:ext cx="3712302" cy="639709"/>
            <a:chOff x="0" y="0"/>
            <a:chExt cx="4949736" cy="852945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4949698" cy="852932"/>
            </a:xfrm>
            <a:custGeom>
              <a:avLst/>
              <a:gdLst/>
              <a:ahLst/>
              <a:cxnLst/>
              <a:rect r="r" b="b" t="t" l="l"/>
              <a:pathLst>
                <a:path h="852932" w="4949698">
                  <a:moveTo>
                    <a:pt x="0" y="0"/>
                  </a:moveTo>
                  <a:lnTo>
                    <a:pt x="4949698" y="0"/>
                  </a:lnTo>
                  <a:lnTo>
                    <a:pt x="494969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6213E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42" id="42"/>
          <p:cNvGrpSpPr/>
          <p:nvPr/>
        </p:nvGrpSpPr>
        <p:grpSpPr>
          <a:xfrm rot="0">
            <a:off x="1028700" y="4430163"/>
            <a:ext cx="4251417" cy="630180"/>
            <a:chOff x="0" y="0"/>
            <a:chExt cx="5668556" cy="840240"/>
          </a:xfrm>
        </p:grpSpPr>
        <p:sp>
          <p:nvSpPr>
            <p:cNvPr name="Freeform 43" id="43"/>
            <p:cNvSpPr/>
            <p:nvPr/>
          </p:nvSpPr>
          <p:spPr>
            <a:xfrm flipH="false" flipV="false" rot="0">
              <a:off x="0" y="0"/>
              <a:ext cx="5668560" cy="840235"/>
            </a:xfrm>
            <a:custGeom>
              <a:avLst/>
              <a:gdLst/>
              <a:ahLst/>
              <a:cxnLst/>
              <a:rect r="r" b="b" t="t" l="l"/>
              <a:pathLst>
                <a:path h="840235" w="5668560">
                  <a:moveTo>
                    <a:pt x="0" y="0"/>
                  </a:moveTo>
                  <a:lnTo>
                    <a:pt x="5668560" y="0"/>
                  </a:lnTo>
                  <a:lnTo>
                    <a:pt x="566856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453" r="0" b="-81454"/>
              </a:stretch>
            </a:blipFill>
          </p:spPr>
        </p:sp>
        <p:sp>
          <p:nvSpPr>
            <p:cNvPr name="TextBox 44" id="44"/>
            <p:cNvSpPr txBox="true"/>
            <p:nvPr/>
          </p:nvSpPr>
          <p:spPr>
            <a:xfrm>
              <a:off x="0" y="-47625"/>
              <a:ext cx="566855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19"/>
                </a:lnSpc>
              </a:pPr>
              <a:r>
                <a:rPr lang="en-US" sz="209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Gamma (discount)</a:t>
              </a:r>
            </a:p>
          </p:txBody>
        </p:sp>
      </p:grpSp>
      <p:grpSp>
        <p:nvGrpSpPr>
          <p:cNvPr name="Group 45" id="45"/>
          <p:cNvGrpSpPr/>
          <p:nvPr/>
        </p:nvGrpSpPr>
        <p:grpSpPr>
          <a:xfrm rot="0">
            <a:off x="5554980" y="4430163"/>
            <a:ext cx="3428457" cy="630180"/>
            <a:chOff x="0" y="0"/>
            <a:chExt cx="4571276" cy="840240"/>
          </a:xfrm>
        </p:grpSpPr>
        <p:sp>
          <p:nvSpPr>
            <p:cNvPr name="Freeform 46" id="46"/>
            <p:cNvSpPr/>
            <p:nvPr/>
          </p:nvSpPr>
          <p:spPr>
            <a:xfrm flipH="false" flipV="false" rot="0">
              <a:off x="0" y="0"/>
              <a:ext cx="4571280" cy="840235"/>
            </a:xfrm>
            <a:custGeom>
              <a:avLst/>
              <a:gdLst/>
              <a:ahLst/>
              <a:cxnLst/>
              <a:rect r="r" b="b" t="t" l="l"/>
              <a:pathLst>
                <a:path h="840235" w="4571280">
                  <a:moveTo>
                    <a:pt x="0" y="0"/>
                  </a:moveTo>
                  <a:lnTo>
                    <a:pt x="4571280" y="0"/>
                  </a:lnTo>
                  <a:lnTo>
                    <a:pt x="457128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007" r="0" b="-56008"/>
              </a:stretch>
            </a:blipFill>
          </p:spPr>
        </p:sp>
        <p:sp>
          <p:nvSpPr>
            <p:cNvPr name="TextBox 47" id="47"/>
            <p:cNvSpPr txBox="true"/>
            <p:nvPr/>
          </p:nvSpPr>
          <p:spPr>
            <a:xfrm>
              <a:off x="0" y="-47625"/>
              <a:ext cx="457127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lang="en-US" b="true" sz="2174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0.99</a:t>
              </a:r>
            </a:p>
          </p:txBody>
        </p:sp>
      </p:grpSp>
      <p:grpSp>
        <p:nvGrpSpPr>
          <p:cNvPr name="Group 48" id="48"/>
          <p:cNvGrpSpPr/>
          <p:nvPr/>
        </p:nvGrpSpPr>
        <p:grpSpPr>
          <a:xfrm rot="0">
            <a:off x="818198" y="5056661"/>
            <a:ext cx="4535262" cy="639709"/>
            <a:chOff x="0" y="0"/>
            <a:chExt cx="6047016" cy="852945"/>
          </a:xfrm>
        </p:grpSpPr>
        <p:sp>
          <p:nvSpPr>
            <p:cNvPr name="Freeform 49" id="49"/>
            <p:cNvSpPr/>
            <p:nvPr/>
          </p:nvSpPr>
          <p:spPr>
            <a:xfrm flipH="false" flipV="false" rot="0">
              <a:off x="0" y="0"/>
              <a:ext cx="6046978" cy="852932"/>
            </a:xfrm>
            <a:custGeom>
              <a:avLst/>
              <a:gdLst/>
              <a:ahLst/>
              <a:cxnLst/>
              <a:rect r="r" b="b" t="t" l="l"/>
              <a:pathLst>
                <a:path h="852932" w="6046978">
                  <a:moveTo>
                    <a:pt x="0" y="0"/>
                  </a:moveTo>
                  <a:lnTo>
                    <a:pt x="6046978" y="0"/>
                  </a:lnTo>
                  <a:lnTo>
                    <a:pt x="604697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C2B4A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50" id="50"/>
          <p:cNvGrpSpPr/>
          <p:nvPr/>
        </p:nvGrpSpPr>
        <p:grpSpPr>
          <a:xfrm rot="0">
            <a:off x="5344478" y="5056661"/>
            <a:ext cx="3712302" cy="639709"/>
            <a:chOff x="0" y="0"/>
            <a:chExt cx="4949736" cy="852945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4949698" cy="852932"/>
            </a:xfrm>
            <a:custGeom>
              <a:avLst/>
              <a:gdLst/>
              <a:ahLst/>
              <a:cxnLst/>
              <a:rect r="r" b="b" t="t" l="l"/>
              <a:pathLst>
                <a:path h="852932" w="4949698">
                  <a:moveTo>
                    <a:pt x="0" y="0"/>
                  </a:moveTo>
                  <a:lnTo>
                    <a:pt x="4949698" y="0"/>
                  </a:lnTo>
                  <a:lnTo>
                    <a:pt x="494969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C2B4A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52" id="52"/>
          <p:cNvGrpSpPr/>
          <p:nvPr/>
        </p:nvGrpSpPr>
        <p:grpSpPr>
          <a:xfrm rot="0">
            <a:off x="1028700" y="5061423"/>
            <a:ext cx="4251417" cy="630180"/>
            <a:chOff x="0" y="0"/>
            <a:chExt cx="5668556" cy="840240"/>
          </a:xfrm>
        </p:grpSpPr>
        <p:sp>
          <p:nvSpPr>
            <p:cNvPr name="Freeform 53" id="53"/>
            <p:cNvSpPr/>
            <p:nvPr/>
          </p:nvSpPr>
          <p:spPr>
            <a:xfrm flipH="false" flipV="false" rot="0">
              <a:off x="0" y="0"/>
              <a:ext cx="5668560" cy="840235"/>
            </a:xfrm>
            <a:custGeom>
              <a:avLst/>
              <a:gdLst/>
              <a:ahLst/>
              <a:cxnLst/>
              <a:rect r="r" b="b" t="t" l="l"/>
              <a:pathLst>
                <a:path h="840235" w="5668560">
                  <a:moveTo>
                    <a:pt x="0" y="0"/>
                  </a:moveTo>
                  <a:lnTo>
                    <a:pt x="5668560" y="0"/>
                  </a:lnTo>
                  <a:lnTo>
                    <a:pt x="566856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453" r="0" b="-81454"/>
              </a:stretch>
            </a:blipFill>
          </p:spPr>
        </p:sp>
        <p:sp>
          <p:nvSpPr>
            <p:cNvPr name="TextBox 54" id="54"/>
            <p:cNvSpPr txBox="true"/>
            <p:nvPr/>
          </p:nvSpPr>
          <p:spPr>
            <a:xfrm>
              <a:off x="0" y="-47625"/>
              <a:ext cx="566855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19"/>
                </a:lnSpc>
              </a:pPr>
              <a:r>
                <a:rPr lang="en-US" sz="209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GAE Lambda</a:t>
              </a:r>
            </a:p>
          </p:txBody>
        </p:sp>
      </p:grpSp>
      <p:grpSp>
        <p:nvGrpSpPr>
          <p:cNvPr name="Group 55" id="55"/>
          <p:cNvGrpSpPr/>
          <p:nvPr/>
        </p:nvGrpSpPr>
        <p:grpSpPr>
          <a:xfrm rot="0">
            <a:off x="5554980" y="5061423"/>
            <a:ext cx="3428457" cy="630180"/>
            <a:chOff x="0" y="0"/>
            <a:chExt cx="4571276" cy="840240"/>
          </a:xfrm>
        </p:grpSpPr>
        <p:sp>
          <p:nvSpPr>
            <p:cNvPr name="Freeform 56" id="56"/>
            <p:cNvSpPr/>
            <p:nvPr/>
          </p:nvSpPr>
          <p:spPr>
            <a:xfrm flipH="false" flipV="false" rot="0">
              <a:off x="0" y="0"/>
              <a:ext cx="4571280" cy="840235"/>
            </a:xfrm>
            <a:custGeom>
              <a:avLst/>
              <a:gdLst/>
              <a:ahLst/>
              <a:cxnLst/>
              <a:rect r="r" b="b" t="t" l="l"/>
              <a:pathLst>
                <a:path h="840235" w="4571280">
                  <a:moveTo>
                    <a:pt x="0" y="0"/>
                  </a:moveTo>
                  <a:lnTo>
                    <a:pt x="4571280" y="0"/>
                  </a:lnTo>
                  <a:lnTo>
                    <a:pt x="457128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007" r="0" b="-56008"/>
              </a:stretch>
            </a:blipFill>
          </p:spPr>
        </p:sp>
        <p:sp>
          <p:nvSpPr>
            <p:cNvPr name="TextBox 57" id="57"/>
            <p:cNvSpPr txBox="true"/>
            <p:nvPr/>
          </p:nvSpPr>
          <p:spPr>
            <a:xfrm>
              <a:off x="0" y="-47625"/>
              <a:ext cx="457127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lang="en-US" b="true" sz="2174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0.95</a:t>
              </a:r>
            </a:p>
          </p:txBody>
        </p:sp>
      </p:grpSp>
      <p:grpSp>
        <p:nvGrpSpPr>
          <p:cNvPr name="Group 58" id="58"/>
          <p:cNvGrpSpPr/>
          <p:nvPr/>
        </p:nvGrpSpPr>
        <p:grpSpPr>
          <a:xfrm rot="0">
            <a:off x="818198" y="5687378"/>
            <a:ext cx="4535262" cy="639709"/>
            <a:chOff x="0" y="0"/>
            <a:chExt cx="6047016" cy="852945"/>
          </a:xfrm>
        </p:grpSpPr>
        <p:sp>
          <p:nvSpPr>
            <p:cNvPr name="Freeform 59" id="59"/>
            <p:cNvSpPr/>
            <p:nvPr/>
          </p:nvSpPr>
          <p:spPr>
            <a:xfrm flipH="false" flipV="false" rot="0">
              <a:off x="0" y="0"/>
              <a:ext cx="6046978" cy="852932"/>
            </a:xfrm>
            <a:custGeom>
              <a:avLst/>
              <a:gdLst/>
              <a:ahLst/>
              <a:cxnLst/>
              <a:rect r="r" b="b" t="t" l="l"/>
              <a:pathLst>
                <a:path h="852932" w="6046978">
                  <a:moveTo>
                    <a:pt x="0" y="0"/>
                  </a:moveTo>
                  <a:lnTo>
                    <a:pt x="6046978" y="0"/>
                  </a:lnTo>
                  <a:lnTo>
                    <a:pt x="604697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6213E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60" id="60"/>
          <p:cNvGrpSpPr/>
          <p:nvPr/>
        </p:nvGrpSpPr>
        <p:grpSpPr>
          <a:xfrm rot="0">
            <a:off x="5344478" y="5687378"/>
            <a:ext cx="3712302" cy="639709"/>
            <a:chOff x="0" y="0"/>
            <a:chExt cx="4949736" cy="852945"/>
          </a:xfrm>
        </p:grpSpPr>
        <p:sp>
          <p:nvSpPr>
            <p:cNvPr name="Freeform 61" id="61"/>
            <p:cNvSpPr/>
            <p:nvPr/>
          </p:nvSpPr>
          <p:spPr>
            <a:xfrm flipH="false" flipV="false" rot="0">
              <a:off x="0" y="0"/>
              <a:ext cx="4949698" cy="852932"/>
            </a:xfrm>
            <a:custGeom>
              <a:avLst/>
              <a:gdLst/>
              <a:ahLst/>
              <a:cxnLst/>
              <a:rect r="r" b="b" t="t" l="l"/>
              <a:pathLst>
                <a:path h="852932" w="4949698">
                  <a:moveTo>
                    <a:pt x="0" y="0"/>
                  </a:moveTo>
                  <a:lnTo>
                    <a:pt x="4949698" y="0"/>
                  </a:lnTo>
                  <a:lnTo>
                    <a:pt x="494969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6213E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62" id="62"/>
          <p:cNvGrpSpPr/>
          <p:nvPr/>
        </p:nvGrpSpPr>
        <p:grpSpPr>
          <a:xfrm rot="0">
            <a:off x="1028700" y="5692140"/>
            <a:ext cx="4251417" cy="630180"/>
            <a:chOff x="0" y="0"/>
            <a:chExt cx="5668556" cy="840240"/>
          </a:xfrm>
        </p:grpSpPr>
        <p:sp>
          <p:nvSpPr>
            <p:cNvPr name="Freeform 63" id="63"/>
            <p:cNvSpPr/>
            <p:nvPr/>
          </p:nvSpPr>
          <p:spPr>
            <a:xfrm flipH="false" flipV="false" rot="0">
              <a:off x="0" y="0"/>
              <a:ext cx="5668560" cy="840235"/>
            </a:xfrm>
            <a:custGeom>
              <a:avLst/>
              <a:gdLst/>
              <a:ahLst/>
              <a:cxnLst/>
              <a:rect r="r" b="b" t="t" l="l"/>
              <a:pathLst>
                <a:path h="840235" w="5668560">
                  <a:moveTo>
                    <a:pt x="0" y="0"/>
                  </a:moveTo>
                  <a:lnTo>
                    <a:pt x="5668560" y="0"/>
                  </a:lnTo>
                  <a:lnTo>
                    <a:pt x="566856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453" r="0" b="-81454"/>
              </a:stretch>
            </a:blipFill>
          </p:spPr>
        </p:sp>
        <p:sp>
          <p:nvSpPr>
            <p:cNvPr name="TextBox 64" id="64"/>
            <p:cNvSpPr txBox="true"/>
            <p:nvPr/>
          </p:nvSpPr>
          <p:spPr>
            <a:xfrm>
              <a:off x="0" y="-47625"/>
              <a:ext cx="566855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19"/>
                </a:lnSpc>
              </a:pPr>
              <a:r>
                <a:rPr lang="en-US" sz="209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Clip Range</a:t>
              </a:r>
            </a:p>
          </p:txBody>
        </p:sp>
      </p:grpSp>
      <p:grpSp>
        <p:nvGrpSpPr>
          <p:cNvPr name="Group 65" id="65"/>
          <p:cNvGrpSpPr/>
          <p:nvPr/>
        </p:nvGrpSpPr>
        <p:grpSpPr>
          <a:xfrm rot="0">
            <a:off x="5554980" y="5692140"/>
            <a:ext cx="3428457" cy="630180"/>
            <a:chOff x="0" y="0"/>
            <a:chExt cx="4571276" cy="840240"/>
          </a:xfrm>
        </p:grpSpPr>
        <p:sp>
          <p:nvSpPr>
            <p:cNvPr name="Freeform 66" id="66"/>
            <p:cNvSpPr/>
            <p:nvPr/>
          </p:nvSpPr>
          <p:spPr>
            <a:xfrm flipH="false" flipV="false" rot="0">
              <a:off x="0" y="0"/>
              <a:ext cx="4571280" cy="840235"/>
            </a:xfrm>
            <a:custGeom>
              <a:avLst/>
              <a:gdLst/>
              <a:ahLst/>
              <a:cxnLst/>
              <a:rect r="r" b="b" t="t" l="l"/>
              <a:pathLst>
                <a:path h="840235" w="4571280">
                  <a:moveTo>
                    <a:pt x="0" y="0"/>
                  </a:moveTo>
                  <a:lnTo>
                    <a:pt x="4571280" y="0"/>
                  </a:lnTo>
                  <a:lnTo>
                    <a:pt x="457128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007" r="0" b="-56008"/>
              </a:stretch>
            </a:blipFill>
          </p:spPr>
        </p:sp>
        <p:sp>
          <p:nvSpPr>
            <p:cNvPr name="TextBox 67" id="67"/>
            <p:cNvSpPr txBox="true"/>
            <p:nvPr/>
          </p:nvSpPr>
          <p:spPr>
            <a:xfrm>
              <a:off x="0" y="-47625"/>
              <a:ext cx="457127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lang="en-US" b="true" sz="2174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0.2</a:t>
              </a:r>
            </a:p>
          </p:txBody>
        </p:sp>
      </p:grpSp>
      <p:grpSp>
        <p:nvGrpSpPr>
          <p:cNvPr name="Group 68" id="68"/>
          <p:cNvGrpSpPr/>
          <p:nvPr/>
        </p:nvGrpSpPr>
        <p:grpSpPr>
          <a:xfrm rot="0">
            <a:off x="818198" y="6318094"/>
            <a:ext cx="4535262" cy="639709"/>
            <a:chOff x="0" y="0"/>
            <a:chExt cx="6047016" cy="852945"/>
          </a:xfrm>
        </p:grpSpPr>
        <p:sp>
          <p:nvSpPr>
            <p:cNvPr name="Freeform 69" id="69"/>
            <p:cNvSpPr/>
            <p:nvPr/>
          </p:nvSpPr>
          <p:spPr>
            <a:xfrm flipH="false" flipV="false" rot="0">
              <a:off x="0" y="0"/>
              <a:ext cx="6046978" cy="852932"/>
            </a:xfrm>
            <a:custGeom>
              <a:avLst/>
              <a:gdLst/>
              <a:ahLst/>
              <a:cxnLst/>
              <a:rect r="r" b="b" t="t" l="l"/>
              <a:pathLst>
                <a:path h="852932" w="6046978">
                  <a:moveTo>
                    <a:pt x="0" y="0"/>
                  </a:moveTo>
                  <a:lnTo>
                    <a:pt x="6046978" y="0"/>
                  </a:lnTo>
                  <a:lnTo>
                    <a:pt x="604697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C2B4A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70" id="70"/>
          <p:cNvGrpSpPr/>
          <p:nvPr/>
        </p:nvGrpSpPr>
        <p:grpSpPr>
          <a:xfrm rot="0">
            <a:off x="5344478" y="6318094"/>
            <a:ext cx="3712302" cy="639709"/>
            <a:chOff x="0" y="0"/>
            <a:chExt cx="4949736" cy="852945"/>
          </a:xfrm>
        </p:grpSpPr>
        <p:sp>
          <p:nvSpPr>
            <p:cNvPr name="Freeform 71" id="71"/>
            <p:cNvSpPr/>
            <p:nvPr/>
          </p:nvSpPr>
          <p:spPr>
            <a:xfrm flipH="false" flipV="false" rot="0">
              <a:off x="0" y="0"/>
              <a:ext cx="4949698" cy="852932"/>
            </a:xfrm>
            <a:custGeom>
              <a:avLst/>
              <a:gdLst/>
              <a:ahLst/>
              <a:cxnLst/>
              <a:rect r="r" b="b" t="t" l="l"/>
              <a:pathLst>
                <a:path h="852932" w="4949698">
                  <a:moveTo>
                    <a:pt x="0" y="0"/>
                  </a:moveTo>
                  <a:lnTo>
                    <a:pt x="4949698" y="0"/>
                  </a:lnTo>
                  <a:lnTo>
                    <a:pt x="494969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C2B4A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72" id="72"/>
          <p:cNvGrpSpPr/>
          <p:nvPr/>
        </p:nvGrpSpPr>
        <p:grpSpPr>
          <a:xfrm rot="0">
            <a:off x="1028700" y="6322857"/>
            <a:ext cx="4251417" cy="630180"/>
            <a:chOff x="0" y="0"/>
            <a:chExt cx="5668556" cy="840240"/>
          </a:xfrm>
        </p:grpSpPr>
        <p:sp>
          <p:nvSpPr>
            <p:cNvPr name="Freeform 73" id="73"/>
            <p:cNvSpPr/>
            <p:nvPr/>
          </p:nvSpPr>
          <p:spPr>
            <a:xfrm flipH="false" flipV="false" rot="0">
              <a:off x="0" y="0"/>
              <a:ext cx="5668560" cy="840235"/>
            </a:xfrm>
            <a:custGeom>
              <a:avLst/>
              <a:gdLst/>
              <a:ahLst/>
              <a:cxnLst/>
              <a:rect r="r" b="b" t="t" l="l"/>
              <a:pathLst>
                <a:path h="840235" w="5668560">
                  <a:moveTo>
                    <a:pt x="0" y="0"/>
                  </a:moveTo>
                  <a:lnTo>
                    <a:pt x="5668560" y="0"/>
                  </a:lnTo>
                  <a:lnTo>
                    <a:pt x="566856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453" r="0" b="-81454"/>
              </a:stretch>
            </a:blipFill>
          </p:spPr>
        </p:sp>
        <p:sp>
          <p:nvSpPr>
            <p:cNvPr name="TextBox 74" id="74"/>
            <p:cNvSpPr txBox="true"/>
            <p:nvPr/>
          </p:nvSpPr>
          <p:spPr>
            <a:xfrm>
              <a:off x="0" y="-47625"/>
              <a:ext cx="566855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19"/>
                </a:lnSpc>
              </a:pPr>
              <a:r>
                <a:rPr lang="en-US" sz="209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Batch Size</a:t>
              </a:r>
            </a:p>
          </p:txBody>
        </p:sp>
      </p:grpSp>
      <p:grpSp>
        <p:nvGrpSpPr>
          <p:cNvPr name="Group 75" id="75"/>
          <p:cNvGrpSpPr/>
          <p:nvPr/>
        </p:nvGrpSpPr>
        <p:grpSpPr>
          <a:xfrm rot="0">
            <a:off x="5554980" y="6322857"/>
            <a:ext cx="3428457" cy="630180"/>
            <a:chOff x="0" y="0"/>
            <a:chExt cx="4571276" cy="840240"/>
          </a:xfrm>
        </p:grpSpPr>
        <p:sp>
          <p:nvSpPr>
            <p:cNvPr name="Freeform 76" id="76"/>
            <p:cNvSpPr/>
            <p:nvPr/>
          </p:nvSpPr>
          <p:spPr>
            <a:xfrm flipH="false" flipV="false" rot="0">
              <a:off x="0" y="0"/>
              <a:ext cx="4571280" cy="840235"/>
            </a:xfrm>
            <a:custGeom>
              <a:avLst/>
              <a:gdLst/>
              <a:ahLst/>
              <a:cxnLst/>
              <a:rect r="r" b="b" t="t" l="l"/>
              <a:pathLst>
                <a:path h="840235" w="4571280">
                  <a:moveTo>
                    <a:pt x="0" y="0"/>
                  </a:moveTo>
                  <a:lnTo>
                    <a:pt x="4571280" y="0"/>
                  </a:lnTo>
                  <a:lnTo>
                    <a:pt x="457128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007" r="0" b="-56008"/>
              </a:stretch>
            </a:blipFill>
          </p:spPr>
        </p:sp>
        <p:sp>
          <p:nvSpPr>
            <p:cNvPr name="TextBox 77" id="77"/>
            <p:cNvSpPr txBox="true"/>
            <p:nvPr/>
          </p:nvSpPr>
          <p:spPr>
            <a:xfrm>
              <a:off x="0" y="-47625"/>
              <a:ext cx="457127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lang="en-US" b="true" sz="2174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64</a:t>
              </a:r>
            </a:p>
          </p:txBody>
        </p:sp>
      </p:grpSp>
      <p:grpSp>
        <p:nvGrpSpPr>
          <p:cNvPr name="Group 78" id="78"/>
          <p:cNvGrpSpPr/>
          <p:nvPr/>
        </p:nvGrpSpPr>
        <p:grpSpPr>
          <a:xfrm rot="0">
            <a:off x="818198" y="6949354"/>
            <a:ext cx="4535262" cy="639709"/>
            <a:chOff x="0" y="0"/>
            <a:chExt cx="6047016" cy="852945"/>
          </a:xfrm>
        </p:grpSpPr>
        <p:sp>
          <p:nvSpPr>
            <p:cNvPr name="Freeform 79" id="79"/>
            <p:cNvSpPr/>
            <p:nvPr/>
          </p:nvSpPr>
          <p:spPr>
            <a:xfrm flipH="false" flipV="false" rot="0">
              <a:off x="0" y="0"/>
              <a:ext cx="6046978" cy="852932"/>
            </a:xfrm>
            <a:custGeom>
              <a:avLst/>
              <a:gdLst/>
              <a:ahLst/>
              <a:cxnLst/>
              <a:rect r="r" b="b" t="t" l="l"/>
              <a:pathLst>
                <a:path h="852932" w="6046978">
                  <a:moveTo>
                    <a:pt x="0" y="0"/>
                  </a:moveTo>
                  <a:lnTo>
                    <a:pt x="6046978" y="0"/>
                  </a:lnTo>
                  <a:lnTo>
                    <a:pt x="604697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6213E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80" id="80"/>
          <p:cNvGrpSpPr/>
          <p:nvPr/>
        </p:nvGrpSpPr>
        <p:grpSpPr>
          <a:xfrm rot="0">
            <a:off x="5344478" y="6949354"/>
            <a:ext cx="3712302" cy="639709"/>
            <a:chOff x="0" y="0"/>
            <a:chExt cx="4949736" cy="852945"/>
          </a:xfrm>
        </p:grpSpPr>
        <p:sp>
          <p:nvSpPr>
            <p:cNvPr name="Freeform 81" id="81"/>
            <p:cNvSpPr/>
            <p:nvPr/>
          </p:nvSpPr>
          <p:spPr>
            <a:xfrm flipH="false" flipV="false" rot="0">
              <a:off x="0" y="0"/>
              <a:ext cx="4949698" cy="852932"/>
            </a:xfrm>
            <a:custGeom>
              <a:avLst/>
              <a:gdLst/>
              <a:ahLst/>
              <a:cxnLst/>
              <a:rect r="r" b="b" t="t" l="l"/>
              <a:pathLst>
                <a:path h="852932" w="4949698">
                  <a:moveTo>
                    <a:pt x="0" y="0"/>
                  </a:moveTo>
                  <a:lnTo>
                    <a:pt x="4949698" y="0"/>
                  </a:lnTo>
                  <a:lnTo>
                    <a:pt x="494969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6213E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82" id="82"/>
          <p:cNvGrpSpPr/>
          <p:nvPr/>
        </p:nvGrpSpPr>
        <p:grpSpPr>
          <a:xfrm rot="0">
            <a:off x="1028700" y="6954117"/>
            <a:ext cx="4251417" cy="630180"/>
            <a:chOff x="0" y="0"/>
            <a:chExt cx="5668556" cy="840240"/>
          </a:xfrm>
        </p:grpSpPr>
        <p:sp>
          <p:nvSpPr>
            <p:cNvPr name="Freeform 83" id="83"/>
            <p:cNvSpPr/>
            <p:nvPr/>
          </p:nvSpPr>
          <p:spPr>
            <a:xfrm flipH="false" flipV="false" rot="0">
              <a:off x="0" y="0"/>
              <a:ext cx="5668560" cy="840235"/>
            </a:xfrm>
            <a:custGeom>
              <a:avLst/>
              <a:gdLst/>
              <a:ahLst/>
              <a:cxnLst/>
              <a:rect r="r" b="b" t="t" l="l"/>
              <a:pathLst>
                <a:path h="840235" w="5668560">
                  <a:moveTo>
                    <a:pt x="0" y="0"/>
                  </a:moveTo>
                  <a:lnTo>
                    <a:pt x="5668560" y="0"/>
                  </a:lnTo>
                  <a:lnTo>
                    <a:pt x="566856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453" r="0" b="-81454"/>
              </a:stretch>
            </a:blipFill>
          </p:spPr>
        </p:sp>
        <p:sp>
          <p:nvSpPr>
            <p:cNvPr name="TextBox 84" id="84"/>
            <p:cNvSpPr txBox="true"/>
            <p:nvPr/>
          </p:nvSpPr>
          <p:spPr>
            <a:xfrm>
              <a:off x="0" y="-47625"/>
              <a:ext cx="566855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19"/>
                </a:lnSpc>
              </a:pPr>
              <a:r>
                <a:rPr lang="en-US" sz="209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n_steps</a:t>
              </a:r>
            </a:p>
          </p:txBody>
        </p:sp>
      </p:grpSp>
      <p:grpSp>
        <p:nvGrpSpPr>
          <p:cNvPr name="Group 85" id="85"/>
          <p:cNvGrpSpPr/>
          <p:nvPr/>
        </p:nvGrpSpPr>
        <p:grpSpPr>
          <a:xfrm rot="0">
            <a:off x="5554980" y="6954117"/>
            <a:ext cx="3428457" cy="630180"/>
            <a:chOff x="0" y="0"/>
            <a:chExt cx="4571276" cy="840240"/>
          </a:xfrm>
        </p:grpSpPr>
        <p:sp>
          <p:nvSpPr>
            <p:cNvPr name="Freeform 86" id="86"/>
            <p:cNvSpPr/>
            <p:nvPr/>
          </p:nvSpPr>
          <p:spPr>
            <a:xfrm flipH="false" flipV="false" rot="0">
              <a:off x="0" y="0"/>
              <a:ext cx="4571280" cy="840235"/>
            </a:xfrm>
            <a:custGeom>
              <a:avLst/>
              <a:gdLst/>
              <a:ahLst/>
              <a:cxnLst/>
              <a:rect r="r" b="b" t="t" l="l"/>
              <a:pathLst>
                <a:path h="840235" w="4571280">
                  <a:moveTo>
                    <a:pt x="0" y="0"/>
                  </a:moveTo>
                  <a:lnTo>
                    <a:pt x="4571280" y="0"/>
                  </a:lnTo>
                  <a:lnTo>
                    <a:pt x="457128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007" r="0" b="-56008"/>
              </a:stretch>
            </a:blipFill>
          </p:spPr>
        </p:sp>
        <p:sp>
          <p:nvSpPr>
            <p:cNvPr name="TextBox 87" id="87"/>
            <p:cNvSpPr txBox="true"/>
            <p:nvPr/>
          </p:nvSpPr>
          <p:spPr>
            <a:xfrm>
              <a:off x="0" y="-47625"/>
              <a:ext cx="457127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lang="en-US" b="true" sz="2174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2048</a:t>
              </a:r>
            </a:p>
          </p:txBody>
        </p:sp>
      </p:grpSp>
      <p:grpSp>
        <p:nvGrpSpPr>
          <p:cNvPr name="Group 88" id="88"/>
          <p:cNvGrpSpPr/>
          <p:nvPr/>
        </p:nvGrpSpPr>
        <p:grpSpPr>
          <a:xfrm rot="0">
            <a:off x="818198" y="7580081"/>
            <a:ext cx="4535262" cy="639709"/>
            <a:chOff x="0" y="0"/>
            <a:chExt cx="6047016" cy="852945"/>
          </a:xfrm>
        </p:grpSpPr>
        <p:sp>
          <p:nvSpPr>
            <p:cNvPr name="Freeform 89" id="89"/>
            <p:cNvSpPr/>
            <p:nvPr/>
          </p:nvSpPr>
          <p:spPr>
            <a:xfrm flipH="false" flipV="false" rot="0">
              <a:off x="0" y="0"/>
              <a:ext cx="6046978" cy="852932"/>
            </a:xfrm>
            <a:custGeom>
              <a:avLst/>
              <a:gdLst/>
              <a:ahLst/>
              <a:cxnLst/>
              <a:rect r="r" b="b" t="t" l="l"/>
              <a:pathLst>
                <a:path h="852932" w="6046978">
                  <a:moveTo>
                    <a:pt x="0" y="0"/>
                  </a:moveTo>
                  <a:lnTo>
                    <a:pt x="6046978" y="0"/>
                  </a:lnTo>
                  <a:lnTo>
                    <a:pt x="604697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C2B4A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90" id="90"/>
          <p:cNvGrpSpPr/>
          <p:nvPr/>
        </p:nvGrpSpPr>
        <p:grpSpPr>
          <a:xfrm rot="0">
            <a:off x="5344478" y="7580081"/>
            <a:ext cx="3712302" cy="639709"/>
            <a:chOff x="0" y="0"/>
            <a:chExt cx="4949736" cy="852945"/>
          </a:xfrm>
        </p:grpSpPr>
        <p:sp>
          <p:nvSpPr>
            <p:cNvPr name="Freeform 91" id="91"/>
            <p:cNvSpPr/>
            <p:nvPr/>
          </p:nvSpPr>
          <p:spPr>
            <a:xfrm flipH="false" flipV="false" rot="0">
              <a:off x="0" y="0"/>
              <a:ext cx="4949698" cy="852932"/>
            </a:xfrm>
            <a:custGeom>
              <a:avLst/>
              <a:gdLst/>
              <a:ahLst/>
              <a:cxnLst/>
              <a:rect r="r" b="b" t="t" l="l"/>
              <a:pathLst>
                <a:path h="852932" w="4949698">
                  <a:moveTo>
                    <a:pt x="0" y="0"/>
                  </a:moveTo>
                  <a:lnTo>
                    <a:pt x="4949698" y="0"/>
                  </a:lnTo>
                  <a:lnTo>
                    <a:pt x="4949698" y="852932"/>
                  </a:lnTo>
                  <a:lnTo>
                    <a:pt x="0" y="852932"/>
                  </a:lnTo>
                  <a:close/>
                </a:path>
              </a:pathLst>
            </a:custGeom>
            <a:solidFill>
              <a:srgbClr val="1C2B4A"/>
            </a:solidFill>
            <a:ln w="9525" cap="sq">
              <a:solidFill>
                <a:srgbClr val="0B132B"/>
              </a:solidFill>
              <a:prstDash val="solid"/>
              <a:miter/>
            </a:ln>
          </p:spPr>
        </p:sp>
      </p:grpSp>
      <p:grpSp>
        <p:nvGrpSpPr>
          <p:cNvPr name="Group 92" id="92"/>
          <p:cNvGrpSpPr/>
          <p:nvPr/>
        </p:nvGrpSpPr>
        <p:grpSpPr>
          <a:xfrm rot="0">
            <a:off x="1028700" y="7584843"/>
            <a:ext cx="4251417" cy="630180"/>
            <a:chOff x="0" y="0"/>
            <a:chExt cx="5668556" cy="840240"/>
          </a:xfrm>
        </p:grpSpPr>
        <p:sp>
          <p:nvSpPr>
            <p:cNvPr name="Freeform 93" id="93"/>
            <p:cNvSpPr/>
            <p:nvPr/>
          </p:nvSpPr>
          <p:spPr>
            <a:xfrm flipH="false" flipV="false" rot="0">
              <a:off x="0" y="0"/>
              <a:ext cx="5668560" cy="840235"/>
            </a:xfrm>
            <a:custGeom>
              <a:avLst/>
              <a:gdLst/>
              <a:ahLst/>
              <a:cxnLst/>
              <a:rect r="r" b="b" t="t" l="l"/>
              <a:pathLst>
                <a:path h="840235" w="5668560">
                  <a:moveTo>
                    <a:pt x="0" y="0"/>
                  </a:moveTo>
                  <a:lnTo>
                    <a:pt x="5668560" y="0"/>
                  </a:lnTo>
                  <a:lnTo>
                    <a:pt x="566856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1453" r="0" b="-81454"/>
              </a:stretch>
            </a:blipFill>
          </p:spPr>
        </p:sp>
        <p:sp>
          <p:nvSpPr>
            <p:cNvPr name="TextBox 94" id="94"/>
            <p:cNvSpPr txBox="true"/>
            <p:nvPr/>
          </p:nvSpPr>
          <p:spPr>
            <a:xfrm>
              <a:off x="0" y="-47625"/>
              <a:ext cx="566855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519"/>
                </a:lnSpc>
              </a:pPr>
              <a:r>
                <a:rPr lang="en-US" sz="2099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Total Timesteps</a:t>
              </a:r>
            </a:p>
          </p:txBody>
        </p:sp>
      </p:grpSp>
      <p:grpSp>
        <p:nvGrpSpPr>
          <p:cNvPr name="Group 95" id="95"/>
          <p:cNvGrpSpPr/>
          <p:nvPr/>
        </p:nvGrpSpPr>
        <p:grpSpPr>
          <a:xfrm rot="0">
            <a:off x="5554980" y="7584843"/>
            <a:ext cx="3428457" cy="630180"/>
            <a:chOff x="0" y="0"/>
            <a:chExt cx="4571276" cy="840240"/>
          </a:xfrm>
        </p:grpSpPr>
        <p:sp>
          <p:nvSpPr>
            <p:cNvPr name="Freeform 96" id="96"/>
            <p:cNvSpPr/>
            <p:nvPr/>
          </p:nvSpPr>
          <p:spPr>
            <a:xfrm flipH="false" flipV="false" rot="0">
              <a:off x="0" y="0"/>
              <a:ext cx="4571280" cy="840235"/>
            </a:xfrm>
            <a:custGeom>
              <a:avLst/>
              <a:gdLst/>
              <a:ahLst/>
              <a:cxnLst/>
              <a:rect r="r" b="b" t="t" l="l"/>
              <a:pathLst>
                <a:path h="840235" w="4571280">
                  <a:moveTo>
                    <a:pt x="0" y="0"/>
                  </a:moveTo>
                  <a:lnTo>
                    <a:pt x="4571280" y="0"/>
                  </a:lnTo>
                  <a:lnTo>
                    <a:pt x="4571280" y="840235"/>
                  </a:lnTo>
                  <a:lnTo>
                    <a:pt x="0" y="84023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6007" r="0" b="-56008"/>
              </a:stretch>
            </a:blipFill>
          </p:spPr>
        </p:sp>
        <p:sp>
          <p:nvSpPr>
            <p:cNvPr name="TextBox 97" id="97"/>
            <p:cNvSpPr txBox="true"/>
            <p:nvPr/>
          </p:nvSpPr>
          <p:spPr>
            <a:xfrm>
              <a:off x="0" y="-47625"/>
              <a:ext cx="4571276" cy="8878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09"/>
                </a:lnSpc>
              </a:pPr>
              <a:r>
                <a:rPr lang="en-US" b="true" sz="2174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Configurable</a:t>
              </a:r>
            </a:p>
          </p:txBody>
        </p:sp>
      </p:grpSp>
      <p:grpSp>
        <p:nvGrpSpPr>
          <p:cNvPr name="Group 98" id="98"/>
          <p:cNvGrpSpPr/>
          <p:nvPr/>
        </p:nvGrpSpPr>
        <p:grpSpPr>
          <a:xfrm rot="0">
            <a:off x="9601200" y="2537460"/>
            <a:ext cx="7858620" cy="6445977"/>
            <a:chOff x="0" y="0"/>
            <a:chExt cx="10478160" cy="8594636"/>
          </a:xfrm>
        </p:grpSpPr>
        <p:sp>
          <p:nvSpPr>
            <p:cNvPr name="Freeform 99" id="99"/>
            <p:cNvSpPr/>
            <p:nvPr/>
          </p:nvSpPr>
          <p:spPr>
            <a:xfrm flipH="false" flipV="false" rot="0">
              <a:off x="0" y="0"/>
              <a:ext cx="10478136" cy="8594725"/>
            </a:xfrm>
            <a:custGeom>
              <a:avLst/>
              <a:gdLst/>
              <a:ahLst/>
              <a:cxnLst/>
              <a:rect r="r" b="b" t="t" l="l"/>
              <a:pathLst>
                <a:path h="8594725" w="1047813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331831" y="0"/>
                  </a:lnTo>
                  <a:cubicBezTo>
                    <a:pt x="10412603" y="0"/>
                    <a:pt x="10478136" y="65532"/>
                    <a:pt x="10478136" y="146304"/>
                  </a:cubicBezTo>
                  <a:lnTo>
                    <a:pt x="10478136" y="8448421"/>
                  </a:lnTo>
                  <a:cubicBezTo>
                    <a:pt x="10478136" y="8529193"/>
                    <a:pt x="10412603" y="8594725"/>
                    <a:pt x="10331831" y="8594725"/>
                  </a:cubicBezTo>
                  <a:lnTo>
                    <a:pt x="146304" y="8594725"/>
                  </a:lnTo>
                  <a:cubicBezTo>
                    <a:pt x="65532" y="8594598"/>
                    <a:pt x="0" y="8529193"/>
                    <a:pt x="0" y="8448421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100" id="100"/>
          <p:cNvGrpSpPr/>
          <p:nvPr/>
        </p:nvGrpSpPr>
        <p:grpSpPr>
          <a:xfrm rot="0">
            <a:off x="10012680" y="2948940"/>
            <a:ext cx="1028157" cy="1028157"/>
            <a:chOff x="0" y="0"/>
            <a:chExt cx="1370876" cy="1370876"/>
          </a:xfrm>
        </p:grpSpPr>
        <p:sp>
          <p:nvSpPr>
            <p:cNvPr name="Freeform 101" id="101"/>
            <p:cNvSpPr/>
            <p:nvPr/>
          </p:nvSpPr>
          <p:spPr>
            <a:xfrm flipH="false" flipV="false" rot="0">
              <a:off x="0" y="0"/>
              <a:ext cx="1370838" cy="1370838"/>
            </a:xfrm>
            <a:custGeom>
              <a:avLst/>
              <a:gdLst/>
              <a:ahLst/>
              <a:cxnLst/>
              <a:rect r="r" b="b" t="t" l="l"/>
              <a:pathLst>
                <a:path h="1370838" w="1370838">
                  <a:moveTo>
                    <a:pt x="0" y="685419"/>
                  </a:moveTo>
                  <a:cubicBezTo>
                    <a:pt x="0" y="306832"/>
                    <a:pt x="306832" y="0"/>
                    <a:pt x="685419" y="0"/>
                  </a:cubicBezTo>
                  <a:cubicBezTo>
                    <a:pt x="1064006" y="0"/>
                    <a:pt x="1370838" y="306832"/>
                    <a:pt x="1370838" y="685419"/>
                  </a:cubicBezTo>
                  <a:cubicBezTo>
                    <a:pt x="1370838" y="1064006"/>
                    <a:pt x="1064006" y="1370838"/>
                    <a:pt x="685419" y="1370838"/>
                  </a:cubicBezTo>
                  <a:cubicBezTo>
                    <a:pt x="306832" y="1370838"/>
                    <a:pt x="0" y="1064006"/>
                    <a:pt x="0" y="68541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102" id="102"/>
          <p:cNvGrpSpPr/>
          <p:nvPr/>
        </p:nvGrpSpPr>
        <p:grpSpPr>
          <a:xfrm rot="0">
            <a:off x="10259463" y="3195723"/>
            <a:ext cx="534600" cy="534600"/>
            <a:chOff x="0" y="0"/>
            <a:chExt cx="712800" cy="712800"/>
          </a:xfrm>
        </p:grpSpPr>
        <p:sp>
          <p:nvSpPr>
            <p:cNvPr name="Freeform 103" id="103" descr="/tmp/claude-1000/-media-hung-Work-Project-AI-Engineer-RL-contra-PPO/70c7dc7d-8f3f-4139-8f25-95b0e9e6dca5/scratchpad/build/icons/cogs.png"/>
            <p:cNvSpPr/>
            <p:nvPr/>
          </p:nvSpPr>
          <p:spPr>
            <a:xfrm flipH="false" flipV="false" rot="0">
              <a:off x="0" y="0"/>
              <a:ext cx="712851" cy="712851"/>
            </a:xfrm>
            <a:custGeom>
              <a:avLst/>
              <a:gdLst/>
              <a:ahLst/>
              <a:cxnLst/>
              <a:rect r="r" b="b" t="t" l="l"/>
              <a:pathLst>
                <a:path h="712851" w="712851">
                  <a:moveTo>
                    <a:pt x="0" y="0"/>
                  </a:moveTo>
                  <a:lnTo>
                    <a:pt x="712851" y="0"/>
                  </a:lnTo>
                  <a:lnTo>
                    <a:pt x="712851" y="712851"/>
                  </a:lnTo>
                  <a:lnTo>
                    <a:pt x="0" y="712851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7" b="7"/>
              </a:stretch>
            </a:blipFill>
          </p:spPr>
        </p:sp>
      </p:grpSp>
      <p:grpSp>
        <p:nvGrpSpPr>
          <p:cNvPr name="Group 104" id="104"/>
          <p:cNvGrpSpPr/>
          <p:nvPr/>
        </p:nvGrpSpPr>
        <p:grpSpPr>
          <a:xfrm rot="0">
            <a:off x="11247120" y="3017520"/>
            <a:ext cx="5801220" cy="548100"/>
            <a:chOff x="0" y="0"/>
            <a:chExt cx="7734960" cy="730800"/>
          </a:xfrm>
        </p:grpSpPr>
        <p:sp>
          <p:nvSpPr>
            <p:cNvPr name="Freeform 105" id="105"/>
            <p:cNvSpPr/>
            <p:nvPr/>
          </p:nvSpPr>
          <p:spPr>
            <a:xfrm flipH="false" flipV="false" rot="0">
              <a:off x="0" y="0"/>
              <a:ext cx="7734960" cy="730804"/>
            </a:xfrm>
            <a:custGeom>
              <a:avLst/>
              <a:gdLst/>
              <a:ahLst/>
              <a:cxnLst/>
              <a:rect r="r" b="b" t="t" l="l"/>
              <a:pathLst>
                <a:path h="730804" w="7734960">
                  <a:moveTo>
                    <a:pt x="0" y="0"/>
                  </a:moveTo>
                  <a:lnTo>
                    <a:pt x="7734960" y="0"/>
                  </a:lnTo>
                  <a:lnTo>
                    <a:pt x="7734960" y="730804"/>
                  </a:lnTo>
                  <a:lnTo>
                    <a:pt x="0" y="7308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6233" r="0" b="-156232"/>
              </a:stretch>
            </a:blipFill>
          </p:spPr>
        </p:sp>
        <p:sp>
          <p:nvSpPr>
            <p:cNvPr name="TextBox 106" id="106"/>
            <p:cNvSpPr txBox="true"/>
            <p:nvPr/>
          </p:nvSpPr>
          <p:spPr>
            <a:xfrm>
              <a:off x="0" y="-47625"/>
              <a:ext cx="7734960" cy="77842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059"/>
                </a:lnSpc>
              </a:pPr>
              <a:r>
                <a:rPr lang="en-US" b="true" sz="2549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Technical notes</a:t>
              </a:r>
            </a:p>
          </p:txBody>
        </p:sp>
      </p:grpSp>
      <p:grpSp>
        <p:nvGrpSpPr>
          <p:cNvPr name="Group 107" id="107"/>
          <p:cNvGrpSpPr/>
          <p:nvPr/>
        </p:nvGrpSpPr>
        <p:grpSpPr>
          <a:xfrm rot="0">
            <a:off x="10012680" y="3909060"/>
            <a:ext cx="7035660" cy="2331180"/>
            <a:chOff x="0" y="0"/>
            <a:chExt cx="9380880" cy="3108240"/>
          </a:xfrm>
        </p:grpSpPr>
        <p:sp>
          <p:nvSpPr>
            <p:cNvPr name="Freeform 108" id="108"/>
            <p:cNvSpPr/>
            <p:nvPr/>
          </p:nvSpPr>
          <p:spPr>
            <a:xfrm flipH="false" flipV="false" rot="0">
              <a:off x="0" y="0"/>
              <a:ext cx="9380880" cy="3108244"/>
            </a:xfrm>
            <a:custGeom>
              <a:avLst/>
              <a:gdLst/>
              <a:ahLst/>
              <a:cxnLst/>
              <a:rect r="r" b="b" t="t" l="l"/>
              <a:pathLst>
                <a:path h="3108244" w="9380880">
                  <a:moveTo>
                    <a:pt x="0" y="0"/>
                  </a:moveTo>
                  <a:lnTo>
                    <a:pt x="9380880" y="0"/>
                  </a:lnTo>
                  <a:lnTo>
                    <a:pt x="9380880" y="3108244"/>
                  </a:lnTo>
                  <a:lnTo>
                    <a:pt x="0" y="31082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8807" r="0" b="-8806"/>
              </a:stretch>
            </a:blipFill>
          </p:spPr>
        </p:sp>
        <p:sp>
          <p:nvSpPr>
            <p:cNvPr name="TextBox 109" id="109"/>
            <p:cNvSpPr txBox="true"/>
            <p:nvPr/>
          </p:nvSpPr>
          <p:spPr>
            <a:xfrm>
              <a:off x="0" y="-85725"/>
              <a:ext cx="9380880" cy="319396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915"/>
                </a:lnSpc>
              </a:pPr>
              <a:r>
                <a:rPr lang="en-US" sz="2024" spc="-1">
                  <a:solidFill>
                    <a:srgbClr val="E5E9F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train.py currently runs with default parameters that differ from the published table above: learning_rate = 5e-5, gamma = 0.9, GAE lambda (tau) = 1.0, n_steps = 512, batch_size = 128, n_epochs = 10, ent_coef = 0.02, vf_coef = 0.5, max_grad_norm = 0.5, default number of parallel envs = 32.</a:t>
              </a:r>
            </a:p>
          </p:txBody>
        </p:sp>
      </p:grpSp>
      <p:grpSp>
        <p:nvGrpSpPr>
          <p:cNvPr name="Group 110" id="110"/>
          <p:cNvGrpSpPr/>
          <p:nvPr/>
        </p:nvGrpSpPr>
        <p:grpSpPr>
          <a:xfrm rot="0">
            <a:off x="10012680" y="6446520"/>
            <a:ext cx="7035660" cy="959580"/>
            <a:chOff x="0" y="0"/>
            <a:chExt cx="9380880" cy="1279440"/>
          </a:xfrm>
        </p:grpSpPr>
        <p:sp>
          <p:nvSpPr>
            <p:cNvPr name="Freeform 111" id="111"/>
            <p:cNvSpPr/>
            <p:nvPr/>
          </p:nvSpPr>
          <p:spPr>
            <a:xfrm flipH="false" flipV="false" rot="0">
              <a:off x="0" y="0"/>
              <a:ext cx="9380880" cy="1279444"/>
            </a:xfrm>
            <a:custGeom>
              <a:avLst/>
              <a:gdLst/>
              <a:ahLst/>
              <a:cxnLst/>
              <a:rect r="r" b="b" t="t" l="l"/>
              <a:pathLst>
                <a:path h="1279444" w="9380880">
                  <a:moveTo>
                    <a:pt x="0" y="0"/>
                  </a:moveTo>
                  <a:lnTo>
                    <a:pt x="9380880" y="0"/>
                  </a:lnTo>
                  <a:lnTo>
                    <a:pt x="9380880" y="1279444"/>
                  </a:lnTo>
                  <a:lnTo>
                    <a:pt x="0" y="127944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92864" r="0" b="-92863"/>
              </a:stretch>
            </a:blipFill>
          </p:spPr>
        </p:sp>
        <p:sp>
          <p:nvSpPr>
            <p:cNvPr name="TextBox 112" id="112"/>
            <p:cNvSpPr txBox="true"/>
            <p:nvPr/>
          </p:nvSpPr>
          <p:spPr>
            <a:xfrm>
              <a:off x="0" y="-95250"/>
              <a:ext cx="9380880" cy="137469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07"/>
                </a:lnSpc>
              </a:pPr>
              <a:r>
                <a:rPr lang="en-US" sz="1949" i="true" spc="-1">
                  <a:solidFill>
                    <a:srgbClr val="9AA6C1"/>
                  </a:solidFill>
                  <a:latin typeface="Calibri (MS) Italics"/>
                  <a:ea typeface="Calibri (MS) Italics"/>
                  <a:cs typeface="Calibri (MS) Italics"/>
                  <a:sym typeface="Calibri (MS) Italics"/>
                </a:rPr>
                <a:t>When resuming from a checkpoint, the default learning rate drops to 5e-5 (overridable via --resume-lr) for more stable continued training.</a:t>
              </a:r>
            </a:p>
          </p:txBody>
        </p:sp>
      </p:grpSp>
      <p:grpSp>
        <p:nvGrpSpPr>
          <p:cNvPr name="Group 113" id="113"/>
          <p:cNvGrpSpPr/>
          <p:nvPr/>
        </p:nvGrpSpPr>
        <p:grpSpPr>
          <a:xfrm rot="0">
            <a:off x="10012680" y="7680960"/>
            <a:ext cx="7035660" cy="822420"/>
            <a:chOff x="0" y="0"/>
            <a:chExt cx="9380880" cy="1096560"/>
          </a:xfrm>
        </p:grpSpPr>
        <p:sp>
          <p:nvSpPr>
            <p:cNvPr name="Freeform 114" id="114"/>
            <p:cNvSpPr/>
            <p:nvPr/>
          </p:nvSpPr>
          <p:spPr>
            <a:xfrm flipH="false" flipV="false" rot="0">
              <a:off x="0" y="0"/>
              <a:ext cx="9380880" cy="1096564"/>
            </a:xfrm>
            <a:custGeom>
              <a:avLst/>
              <a:gdLst/>
              <a:ahLst/>
              <a:cxnLst/>
              <a:rect r="r" b="b" t="t" l="l"/>
              <a:pathLst>
                <a:path h="1096564" w="9380880">
                  <a:moveTo>
                    <a:pt x="0" y="0"/>
                  </a:moveTo>
                  <a:lnTo>
                    <a:pt x="9380880" y="0"/>
                  </a:lnTo>
                  <a:lnTo>
                    <a:pt x="9380880" y="1096564"/>
                  </a:lnTo>
                  <a:lnTo>
                    <a:pt x="0" y="10965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16690" r="0" b="-116690"/>
              </a:stretch>
            </a:blipFill>
          </p:spPr>
        </p:sp>
        <p:sp>
          <p:nvSpPr>
            <p:cNvPr name="TextBox 115" id="115"/>
            <p:cNvSpPr txBox="true"/>
            <p:nvPr/>
          </p:nvSpPr>
          <p:spPr>
            <a:xfrm>
              <a:off x="0" y="-95250"/>
              <a:ext cx="9380880" cy="119181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07"/>
                </a:lnSpc>
              </a:pPr>
              <a:r>
                <a:rPr lang="en-US" sz="1949" spc="-1">
                  <a:solidFill>
                    <a:srgbClr val="06D6A0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MAX_EPISODE_STEPS = 4500 (≈ 5 minutes of game time, with frame-skip=4 at 60fps).</a:t>
              </a:r>
            </a:p>
          </p:txBody>
        </p:sp>
      </p:grpSp>
      <p:grpSp>
        <p:nvGrpSpPr>
          <p:cNvPr name="Group 116" id="116"/>
          <p:cNvGrpSpPr/>
          <p:nvPr/>
        </p:nvGrpSpPr>
        <p:grpSpPr>
          <a:xfrm rot="0">
            <a:off x="685800" y="9710823"/>
            <a:ext cx="4114257" cy="410937"/>
            <a:chOff x="0" y="0"/>
            <a:chExt cx="5485676" cy="547916"/>
          </a:xfrm>
        </p:grpSpPr>
        <p:sp>
          <p:nvSpPr>
            <p:cNvPr name="Freeform 117" id="117"/>
            <p:cNvSpPr/>
            <p:nvPr/>
          </p:nvSpPr>
          <p:spPr>
            <a:xfrm flipH="false" flipV="false" rot="0">
              <a:off x="0" y="0"/>
              <a:ext cx="5485680" cy="547920"/>
            </a:xfrm>
            <a:custGeom>
              <a:avLst/>
              <a:gdLst/>
              <a:ahLst/>
              <a:cxnLst/>
              <a:rect r="r" b="b" t="t" l="l"/>
              <a:pathLst>
                <a:path h="547920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081" r="0" b="-145080"/>
              </a:stretch>
            </a:blipFill>
          </p:spPr>
        </p:sp>
        <p:sp>
          <p:nvSpPr>
            <p:cNvPr name="TextBox 118" id="118"/>
            <p:cNvSpPr txBox="true"/>
            <p:nvPr/>
          </p:nvSpPr>
          <p:spPr>
            <a:xfrm>
              <a:off x="0" y="-38100"/>
              <a:ext cx="5485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Contra-PPO</a:t>
              </a:r>
            </a:p>
          </p:txBody>
        </p:sp>
      </p:grpSp>
      <p:grpSp>
        <p:nvGrpSpPr>
          <p:cNvPr name="Group 119" id="119"/>
          <p:cNvGrpSpPr/>
          <p:nvPr/>
        </p:nvGrpSpPr>
        <p:grpSpPr>
          <a:xfrm rot="0">
            <a:off x="16911723" y="9710823"/>
            <a:ext cx="822417" cy="410937"/>
            <a:chOff x="0" y="0"/>
            <a:chExt cx="1096556" cy="547916"/>
          </a:xfrm>
        </p:grpSpPr>
        <p:sp>
          <p:nvSpPr>
            <p:cNvPr name="Freeform 120" id="120"/>
            <p:cNvSpPr/>
            <p:nvPr/>
          </p:nvSpPr>
          <p:spPr>
            <a:xfrm flipH="false" flipV="false" rot="0">
              <a:off x="0" y="0"/>
              <a:ext cx="1096560" cy="547920"/>
            </a:xfrm>
            <a:custGeom>
              <a:avLst/>
              <a:gdLst/>
              <a:ahLst/>
              <a:cxnLst/>
              <a:rect r="r" b="b" t="t" l="l"/>
              <a:pathLst>
                <a:path h="547920" w="1096560">
                  <a:moveTo>
                    <a:pt x="0" y="0"/>
                  </a:moveTo>
                  <a:lnTo>
                    <a:pt x="1096560" y="0"/>
                  </a:lnTo>
                  <a:lnTo>
                    <a:pt x="109656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09" t="0" r="-14109" b="0"/>
              </a:stretch>
            </a:blipFill>
          </p:spPr>
        </p:sp>
        <p:sp>
          <p:nvSpPr>
            <p:cNvPr name="TextBox 121" id="121"/>
            <p:cNvSpPr txBox="true"/>
            <p:nvPr/>
          </p:nvSpPr>
          <p:spPr>
            <a:xfrm>
              <a:off x="0" y="-38100"/>
              <a:ext cx="109655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7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8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480060"/>
            <a:ext cx="10972257" cy="410937"/>
            <a:chOff x="0" y="0"/>
            <a:chExt cx="14629676" cy="5479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29681" cy="547920"/>
            </a:xfrm>
            <a:custGeom>
              <a:avLst/>
              <a:gdLst/>
              <a:ahLst/>
              <a:cxnLst/>
              <a:rect r="r" b="b" t="t" l="l"/>
              <a:pathLst>
                <a:path h="547920" w="14629681">
                  <a:moveTo>
                    <a:pt x="0" y="0"/>
                  </a:moveTo>
                  <a:lnTo>
                    <a:pt x="14629681" y="0"/>
                  </a:lnTo>
                  <a:lnTo>
                    <a:pt x="14629681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0258" r="0" b="-47025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29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98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TRAINING OPERATIONS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850497"/>
            <a:ext cx="15910017" cy="959577"/>
            <a:chOff x="0" y="0"/>
            <a:chExt cx="21213356" cy="12794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213359" cy="1279440"/>
            </a:xfrm>
            <a:custGeom>
              <a:avLst/>
              <a:gdLst/>
              <a:ahLst/>
              <a:cxnLst/>
              <a:rect r="r" b="b" t="t" l="l"/>
              <a:pathLst>
                <a:path h="1279440" w="21213359">
                  <a:moveTo>
                    <a:pt x="0" y="0"/>
                  </a:moveTo>
                  <a:lnTo>
                    <a:pt x="21213359" y="0"/>
                  </a:lnTo>
                  <a:lnTo>
                    <a:pt x="21213359" y="1279440"/>
                  </a:lnTo>
                  <a:lnTo>
                    <a:pt x="0" y="1279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65" r="0" b="-27306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213356" cy="12984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 spc="-1">
                  <a:solidFill>
                    <a:srgbClr val="E5E9F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Checkpoint · Robust-best evaluation · Resume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2400300"/>
            <a:ext cx="8091897" cy="2674077"/>
            <a:chOff x="0" y="0"/>
            <a:chExt cx="10789196" cy="356543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789158" cy="3565398"/>
            </a:xfrm>
            <a:custGeom>
              <a:avLst/>
              <a:gdLst/>
              <a:ahLst/>
              <a:cxnLst/>
              <a:rect r="r" b="b" t="t" l="l"/>
              <a:pathLst>
                <a:path h="3565398" w="1078915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642854" y="0"/>
                  </a:lnTo>
                  <a:cubicBezTo>
                    <a:pt x="10723626" y="0"/>
                    <a:pt x="10789158" y="65532"/>
                    <a:pt x="10789158" y="146304"/>
                  </a:cubicBezTo>
                  <a:lnTo>
                    <a:pt x="10789158" y="3419094"/>
                  </a:lnTo>
                  <a:cubicBezTo>
                    <a:pt x="10789158" y="3499866"/>
                    <a:pt x="10723626" y="3565398"/>
                    <a:pt x="10642854" y="3565398"/>
                  </a:cubicBezTo>
                  <a:lnTo>
                    <a:pt x="146304" y="3565398"/>
                  </a:lnTo>
                  <a:cubicBezTo>
                    <a:pt x="65532" y="3565398"/>
                    <a:pt x="0" y="3499993"/>
                    <a:pt x="0" y="3419094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65860" y="2743200"/>
            <a:ext cx="1165317" cy="1165317"/>
            <a:chOff x="0" y="0"/>
            <a:chExt cx="1553756" cy="155375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553718" cy="1553718"/>
            </a:xfrm>
            <a:custGeom>
              <a:avLst/>
              <a:gdLst/>
              <a:ahLst/>
              <a:cxnLst/>
              <a:rect r="r" b="b" t="t" l="l"/>
              <a:pathLst>
                <a:path h="1553718" w="1553718">
                  <a:moveTo>
                    <a:pt x="0" y="776859"/>
                  </a:moveTo>
                  <a:cubicBezTo>
                    <a:pt x="0" y="347853"/>
                    <a:pt x="347853" y="0"/>
                    <a:pt x="776859" y="0"/>
                  </a:cubicBezTo>
                  <a:cubicBezTo>
                    <a:pt x="1205865" y="0"/>
                    <a:pt x="1553718" y="347853"/>
                    <a:pt x="1553718" y="776859"/>
                  </a:cubicBezTo>
                  <a:cubicBezTo>
                    <a:pt x="1553718" y="1205865"/>
                    <a:pt x="1205865" y="1553718"/>
                    <a:pt x="776859" y="1553718"/>
                  </a:cubicBezTo>
                  <a:cubicBezTo>
                    <a:pt x="347853" y="1553718"/>
                    <a:pt x="0" y="1205992"/>
                    <a:pt x="0" y="77685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445581" y="3022921"/>
            <a:ext cx="605876" cy="605876"/>
            <a:chOff x="0" y="0"/>
            <a:chExt cx="807834" cy="807834"/>
          </a:xfrm>
        </p:grpSpPr>
        <p:sp>
          <p:nvSpPr>
            <p:cNvPr name="Freeform 13" id="13" descr="/tmp/claude-1000/-media-hung-Work-Project-AI-Engineer-RL-contra-PPO/70c7dc7d-8f3f-4139-8f25-95b0e9e6dca5/scratchpad/build/icons/save.png"/>
            <p:cNvSpPr/>
            <p:nvPr/>
          </p:nvSpPr>
          <p:spPr>
            <a:xfrm flipH="false" flipV="false" rot="0">
              <a:off x="0" y="0"/>
              <a:ext cx="807847" cy="807847"/>
            </a:xfrm>
            <a:custGeom>
              <a:avLst/>
              <a:gdLst/>
              <a:ahLst/>
              <a:cxnLst/>
              <a:rect r="r" b="b" t="t" l="l"/>
              <a:pathLst>
                <a:path h="807847" w="807847">
                  <a:moveTo>
                    <a:pt x="0" y="0"/>
                  </a:moveTo>
                  <a:lnTo>
                    <a:pt x="807847" y="0"/>
                  </a:lnTo>
                  <a:lnTo>
                    <a:pt x="807847" y="807847"/>
                  </a:lnTo>
                  <a:lnTo>
                    <a:pt x="0" y="8078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1" b="1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537460" y="2702157"/>
            <a:ext cx="6034497" cy="518703"/>
            <a:chOff x="0" y="0"/>
            <a:chExt cx="8045996" cy="691603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8046000" cy="691607"/>
            </a:xfrm>
            <a:custGeom>
              <a:avLst/>
              <a:gdLst/>
              <a:ahLst/>
              <a:cxnLst/>
              <a:rect r="r" b="b" t="t" l="l"/>
              <a:pathLst>
                <a:path h="691607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691607"/>
                  </a:lnTo>
                  <a:lnTo>
                    <a:pt x="0" y="69160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461" r="0" b="-172906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8045996" cy="7487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19"/>
                </a:lnSpc>
              </a:pPr>
              <a:r>
                <a:rPr lang="en-US" b="true" sz="2599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Periodic checkpoint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537460" y="3195723"/>
            <a:ext cx="6034497" cy="1782540"/>
            <a:chOff x="0" y="0"/>
            <a:chExt cx="8045996" cy="237672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8046000" cy="2376724"/>
            </a:xfrm>
            <a:custGeom>
              <a:avLst/>
              <a:gdLst/>
              <a:ahLst/>
              <a:cxnLst/>
              <a:rect r="r" b="b" t="t" l="l"/>
              <a:pathLst>
                <a:path h="2376724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2376724"/>
                  </a:lnTo>
                  <a:lnTo>
                    <a:pt x="0" y="23767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963" r="0" b="-15963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76200"/>
              <a:ext cx="8045996" cy="2452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63"/>
                </a:lnSpc>
              </a:pP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CheckpointCallback saves every ~100K total timesteps to checkpoints/contra_ppo_&lt;n&gt;_steps.zip.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9395460" y="2400300"/>
            <a:ext cx="8091897" cy="2674077"/>
            <a:chOff x="0" y="0"/>
            <a:chExt cx="10789196" cy="356543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0789158" cy="3565398"/>
            </a:xfrm>
            <a:custGeom>
              <a:avLst/>
              <a:gdLst/>
              <a:ahLst/>
              <a:cxnLst/>
              <a:rect r="r" b="b" t="t" l="l"/>
              <a:pathLst>
                <a:path h="3565398" w="1078915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642854" y="0"/>
                  </a:lnTo>
                  <a:cubicBezTo>
                    <a:pt x="10723626" y="0"/>
                    <a:pt x="10789158" y="65532"/>
                    <a:pt x="10789158" y="146304"/>
                  </a:cubicBezTo>
                  <a:lnTo>
                    <a:pt x="10789158" y="3419094"/>
                  </a:lnTo>
                  <a:cubicBezTo>
                    <a:pt x="10789158" y="3499866"/>
                    <a:pt x="10723626" y="3565398"/>
                    <a:pt x="10642854" y="3565398"/>
                  </a:cubicBezTo>
                  <a:lnTo>
                    <a:pt x="146304" y="3565398"/>
                  </a:lnTo>
                  <a:cubicBezTo>
                    <a:pt x="65532" y="3565398"/>
                    <a:pt x="0" y="3499993"/>
                    <a:pt x="0" y="3419094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9738360" y="2743200"/>
            <a:ext cx="1165317" cy="1165317"/>
            <a:chOff x="0" y="0"/>
            <a:chExt cx="1553756" cy="155375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553718" cy="1553718"/>
            </a:xfrm>
            <a:custGeom>
              <a:avLst/>
              <a:gdLst/>
              <a:ahLst/>
              <a:cxnLst/>
              <a:rect r="r" b="b" t="t" l="l"/>
              <a:pathLst>
                <a:path h="1553718" w="1553718">
                  <a:moveTo>
                    <a:pt x="0" y="776859"/>
                  </a:moveTo>
                  <a:cubicBezTo>
                    <a:pt x="0" y="347853"/>
                    <a:pt x="347853" y="0"/>
                    <a:pt x="776859" y="0"/>
                  </a:cubicBezTo>
                  <a:cubicBezTo>
                    <a:pt x="1205865" y="0"/>
                    <a:pt x="1553718" y="347853"/>
                    <a:pt x="1553718" y="776859"/>
                  </a:cubicBezTo>
                  <a:cubicBezTo>
                    <a:pt x="1553718" y="1205865"/>
                    <a:pt x="1205865" y="1553718"/>
                    <a:pt x="776859" y="1553718"/>
                  </a:cubicBezTo>
                  <a:cubicBezTo>
                    <a:pt x="347853" y="1553718"/>
                    <a:pt x="0" y="1205992"/>
                    <a:pt x="0" y="77685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0018081" y="3022921"/>
            <a:ext cx="605876" cy="605876"/>
            <a:chOff x="0" y="0"/>
            <a:chExt cx="807834" cy="807834"/>
          </a:xfrm>
        </p:grpSpPr>
        <p:sp>
          <p:nvSpPr>
            <p:cNvPr name="Freeform 25" id="25" descr="/tmp/claude-1000/-media-hung-Work-Project-AI-Engineer-RL-contra-PPO/70c7dc7d-8f3f-4139-8f25-95b0e9e6dca5/scratchpad/build/icons/bullseye.png"/>
            <p:cNvSpPr/>
            <p:nvPr/>
          </p:nvSpPr>
          <p:spPr>
            <a:xfrm flipH="false" flipV="false" rot="0">
              <a:off x="0" y="0"/>
              <a:ext cx="807847" cy="807847"/>
            </a:xfrm>
            <a:custGeom>
              <a:avLst/>
              <a:gdLst/>
              <a:ahLst/>
              <a:cxnLst/>
              <a:rect r="r" b="b" t="t" l="l"/>
              <a:pathLst>
                <a:path h="807847" w="807847">
                  <a:moveTo>
                    <a:pt x="0" y="0"/>
                  </a:moveTo>
                  <a:lnTo>
                    <a:pt x="807847" y="0"/>
                  </a:lnTo>
                  <a:lnTo>
                    <a:pt x="807847" y="807847"/>
                  </a:lnTo>
                  <a:lnTo>
                    <a:pt x="0" y="8078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1" b="1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11109960" y="2702157"/>
            <a:ext cx="6034497" cy="518703"/>
            <a:chOff x="0" y="0"/>
            <a:chExt cx="8045996" cy="691603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8046000" cy="691607"/>
            </a:xfrm>
            <a:custGeom>
              <a:avLst/>
              <a:gdLst/>
              <a:ahLst/>
              <a:cxnLst/>
              <a:rect r="r" b="b" t="t" l="l"/>
              <a:pathLst>
                <a:path h="691607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691607"/>
                  </a:lnTo>
                  <a:lnTo>
                    <a:pt x="0" y="69160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461" r="0" b="-172906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57150"/>
              <a:ext cx="8045996" cy="7487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19"/>
                </a:lnSpc>
              </a:pPr>
              <a:r>
                <a:rPr lang="en-US" b="true" sz="2599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Robust-best evaluation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11109960" y="3195723"/>
            <a:ext cx="6034497" cy="1782540"/>
            <a:chOff x="0" y="0"/>
            <a:chExt cx="8045996" cy="237672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8046000" cy="2376724"/>
            </a:xfrm>
            <a:custGeom>
              <a:avLst/>
              <a:gdLst/>
              <a:ahLst/>
              <a:cxnLst/>
              <a:rect r="r" b="b" t="t" l="l"/>
              <a:pathLst>
                <a:path h="2376724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2376724"/>
                  </a:lnTo>
                  <a:lnTo>
                    <a:pt x="0" y="23767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963" r="0" b="-15963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76200"/>
              <a:ext cx="8045996" cy="2452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63"/>
                </a:lnSpc>
              </a:pP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EvalBestCallback periodically runs 5 deterministic evaluation episodes; ranks by (min_reward, mean_reward) — favoring a stable policy over one that gets lucky in one episode then dies early in another.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822960" y="5349240"/>
            <a:ext cx="8091897" cy="2674077"/>
            <a:chOff x="0" y="0"/>
            <a:chExt cx="10789196" cy="356543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10789158" cy="3565398"/>
            </a:xfrm>
            <a:custGeom>
              <a:avLst/>
              <a:gdLst/>
              <a:ahLst/>
              <a:cxnLst/>
              <a:rect r="r" b="b" t="t" l="l"/>
              <a:pathLst>
                <a:path h="3565398" w="1078915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642854" y="0"/>
                  </a:lnTo>
                  <a:cubicBezTo>
                    <a:pt x="10723626" y="0"/>
                    <a:pt x="10789158" y="65532"/>
                    <a:pt x="10789158" y="146304"/>
                  </a:cubicBezTo>
                  <a:lnTo>
                    <a:pt x="10789158" y="3419094"/>
                  </a:lnTo>
                  <a:cubicBezTo>
                    <a:pt x="10789158" y="3499866"/>
                    <a:pt x="10723626" y="3565398"/>
                    <a:pt x="10642854" y="3565398"/>
                  </a:cubicBezTo>
                  <a:lnTo>
                    <a:pt x="146304" y="3565398"/>
                  </a:lnTo>
                  <a:cubicBezTo>
                    <a:pt x="65532" y="3565398"/>
                    <a:pt x="0" y="3499993"/>
                    <a:pt x="0" y="3419094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165860" y="5692140"/>
            <a:ext cx="1165317" cy="1165317"/>
            <a:chOff x="0" y="0"/>
            <a:chExt cx="1553756" cy="155375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553718" cy="1553718"/>
            </a:xfrm>
            <a:custGeom>
              <a:avLst/>
              <a:gdLst/>
              <a:ahLst/>
              <a:cxnLst/>
              <a:rect r="r" b="b" t="t" l="l"/>
              <a:pathLst>
                <a:path h="1553718" w="1553718">
                  <a:moveTo>
                    <a:pt x="0" y="776859"/>
                  </a:moveTo>
                  <a:cubicBezTo>
                    <a:pt x="0" y="347853"/>
                    <a:pt x="347853" y="0"/>
                    <a:pt x="776859" y="0"/>
                  </a:cubicBezTo>
                  <a:cubicBezTo>
                    <a:pt x="1205865" y="0"/>
                    <a:pt x="1553718" y="347853"/>
                    <a:pt x="1553718" y="776859"/>
                  </a:cubicBezTo>
                  <a:cubicBezTo>
                    <a:pt x="1553718" y="1205865"/>
                    <a:pt x="1205865" y="1553718"/>
                    <a:pt x="776859" y="1553718"/>
                  </a:cubicBezTo>
                  <a:cubicBezTo>
                    <a:pt x="347853" y="1553718"/>
                    <a:pt x="0" y="1205992"/>
                    <a:pt x="0" y="77685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445581" y="5971861"/>
            <a:ext cx="605876" cy="605876"/>
            <a:chOff x="0" y="0"/>
            <a:chExt cx="807834" cy="807834"/>
          </a:xfrm>
        </p:grpSpPr>
        <p:sp>
          <p:nvSpPr>
            <p:cNvPr name="Freeform 37" id="37" descr="/tmp/claude-1000/-media-hung-Work-Project-AI-Engineer-RL-contra-PPO/70c7dc7d-8f3f-4139-8f25-95b0e9e6dca5/scratchpad/build/icons/arrowright.png"/>
            <p:cNvSpPr/>
            <p:nvPr/>
          </p:nvSpPr>
          <p:spPr>
            <a:xfrm flipH="false" flipV="false" rot="0">
              <a:off x="0" y="0"/>
              <a:ext cx="807847" cy="807847"/>
            </a:xfrm>
            <a:custGeom>
              <a:avLst/>
              <a:gdLst/>
              <a:ahLst/>
              <a:cxnLst/>
              <a:rect r="r" b="b" t="t" l="l"/>
              <a:pathLst>
                <a:path h="807847" w="807847">
                  <a:moveTo>
                    <a:pt x="0" y="0"/>
                  </a:moveTo>
                  <a:lnTo>
                    <a:pt x="807847" y="0"/>
                  </a:lnTo>
                  <a:lnTo>
                    <a:pt x="807847" y="807847"/>
                  </a:lnTo>
                  <a:lnTo>
                    <a:pt x="0" y="8078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1" b="1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2537460" y="5651097"/>
            <a:ext cx="6034497" cy="518703"/>
            <a:chOff x="0" y="0"/>
            <a:chExt cx="8045996" cy="691603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8046000" cy="691607"/>
            </a:xfrm>
            <a:custGeom>
              <a:avLst/>
              <a:gdLst/>
              <a:ahLst/>
              <a:cxnLst/>
              <a:rect r="r" b="b" t="t" l="l"/>
              <a:pathLst>
                <a:path h="691607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691607"/>
                  </a:lnTo>
                  <a:lnTo>
                    <a:pt x="0" y="69160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461" r="0" b="-172906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57150"/>
              <a:ext cx="8045996" cy="7487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19"/>
                </a:lnSpc>
              </a:pPr>
              <a:r>
                <a:rPr lang="en-US" b="true" sz="2599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Resume training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2537460" y="6144663"/>
            <a:ext cx="6034497" cy="1782540"/>
            <a:chOff x="0" y="0"/>
            <a:chExt cx="8045996" cy="237672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8046000" cy="2376724"/>
            </a:xfrm>
            <a:custGeom>
              <a:avLst/>
              <a:gdLst/>
              <a:ahLst/>
              <a:cxnLst/>
              <a:rect r="r" b="b" t="t" l="l"/>
              <a:pathLst>
                <a:path h="2376724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2376724"/>
                  </a:lnTo>
                  <a:lnTo>
                    <a:pt x="0" y="23767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963" r="0" b="-15963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76200"/>
              <a:ext cx="8045996" cy="2452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63"/>
                </a:lnSpc>
              </a:pP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python train.py --resume &lt;checkpoint&gt;.zip --steps N continues the timestep count from the checkpoint; the resume learning rate defaults to 5e-5, overridable with --resume-lr.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9395460" y="5349240"/>
            <a:ext cx="8091897" cy="2674077"/>
            <a:chOff x="0" y="0"/>
            <a:chExt cx="10789196" cy="356543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0789158" cy="3565398"/>
            </a:xfrm>
            <a:custGeom>
              <a:avLst/>
              <a:gdLst/>
              <a:ahLst/>
              <a:cxnLst/>
              <a:rect r="r" b="b" t="t" l="l"/>
              <a:pathLst>
                <a:path h="3565398" w="10789158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642854" y="0"/>
                  </a:lnTo>
                  <a:cubicBezTo>
                    <a:pt x="10723626" y="0"/>
                    <a:pt x="10789158" y="65532"/>
                    <a:pt x="10789158" y="146304"/>
                  </a:cubicBezTo>
                  <a:lnTo>
                    <a:pt x="10789158" y="3419094"/>
                  </a:lnTo>
                  <a:cubicBezTo>
                    <a:pt x="10789158" y="3499866"/>
                    <a:pt x="10723626" y="3565398"/>
                    <a:pt x="10642854" y="3565398"/>
                  </a:cubicBezTo>
                  <a:lnTo>
                    <a:pt x="146304" y="3565398"/>
                  </a:lnTo>
                  <a:cubicBezTo>
                    <a:pt x="65532" y="3565398"/>
                    <a:pt x="0" y="3499993"/>
                    <a:pt x="0" y="3419094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9738360" y="5692140"/>
            <a:ext cx="1165317" cy="1165317"/>
            <a:chOff x="0" y="0"/>
            <a:chExt cx="1553756" cy="155375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553718" cy="1553718"/>
            </a:xfrm>
            <a:custGeom>
              <a:avLst/>
              <a:gdLst/>
              <a:ahLst/>
              <a:cxnLst/>
              <a:rect r="r" b="b" t="t" l="l"/>
              <a:pathLst>
                <a:path h="1553718" w="1553718">
                  <a:moveTo>
                    <a:pt x="0" y="776859"/>
                  </a:moveTo>
                  <a:cubicBezTo>
                    <a:pt x="0" y="347853"/>
                    <a:pt x="347853" y="0"/>
                    <a:pt x="776859" y="0"/>
                  </a:cubicBezTo>
                  <a:cubicBezTo>
                    <a:pt x="1205865" y="0"/>
                    <a:pt x="1553718" y="347853"/>
                    <a:pt x="1553718" y="776859"/>
                  </a:cubicBezTo>
                  <a:cubicBezTo>
                    <a:pt x="1553718" y="1205865"/>
                    <a:pt x="1205865" y="1553718"/>
                    <a:pt x="776859" y="1553718"/>
                  </a:cubicBezTo>
                  <a:cubicBezTo>
                    <a:pt x="347853" y="1553718"/>
                    <a:pt x="0" y="1205992"/>
                    <a:pt x="0" y="77685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0018081" y="5971861"/>
            <a:ext cx="605876" cy="605876"/>
            <a:chOff x="0" y="0"/>
            <a:chExt cx="807834" cy="807834"/>
          </a:xfrm>
        </p:grpSpPr>
        <p:sp>
          <p:nvSpPr>
            <p:cNvPr name="Freeform 49" id="49" descr="/tmp/claude-1000/-media-hung-Work-Project-AI-Engineer-RL-contra-PPO/70c7dc7d-8f3f-4139-8f25-95b0e9e6dca5/scratchpad/build/icons/chartline.png"/>
            <p:cNvSpPr/>
            <p:nvPr/>
          </p:nvSpPr>
          <p:spPr>
            <a:xfrm flipH="false" flipV="false" rot="0">
              <a:off x="0" y="0"/>
              <a:ext cx="807847" cy="807847"/>
            </a:xfrm>
            <a:custGeom>
              <a:avLst/>
              <a:gdLst/>
              <a:ahLst/>
              <a:cxnLst/>
              <a:rect r="r" b="b" t="t" l="l"/>
              <a:pathLst>
                <a:path h="807847" w="807847">
                  <a:moveTo>
                    <a:pt x="0" y="0"/>
                  </a:moveTo>
                  <a:lnTo>
                    <a:pt x="807847" y="0"/>
                  </a:lnTo>
                  <a:lnTo>
                    <a:pt x="807847" y="807847"/>
                  </a:lnTo>
                  <a:lnTo>
                    <a:pt x="0" y="807847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1" b="1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11109960" y="5651097"/>
            <a:ext cx="6034497" cy="518703"/>
            <a:chOff x="0" y="0"/>
            <a:chExt cx="8045996" cy="691603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8046000" cy="691607"/>
            </a:xfrm>
            <a:custGeom>
              <a:avLst/>
              <a:gdLst/>
              <a:ahLst/>
              <a:cxnLst/>
              <a:rect r="r" b="b" t="t" l="l"/>
              <a:pathLst>
                <a:path h="691607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691607"/>
                  </a:lnTo>
                  <a:lnTo>
                    <a:pt x="0" y="691607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80461" r="0" b="-172906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57150"/>
              <a:ext cx="8045996" cy="748753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119"/>
                </a:lnSpc>
              </a:pPr>
              <a:r>
                <a:rPr lang="en-US" b="true" sz="2599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TensorBoard logging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1109960" y="6144663"/>
            <a:ext cx="6034497" cy="1782540"/>
            <a:chOff x="0" y="0"/>
            <a:chExt cx="8045996" cy="237672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8046000" cy="2376724"/>
            </a:xfrm>
            <a:custGeom>
              <a:avLst/>
              <a:gdLst/>
              <a:ahLst/>
              <a:cxnLst/>
              <a:rect r="r" b="b" t="t" l="l"/>
              <a:pathLst>
                <a:path h="2376724" w="8046000">
                  <a:moveTo>
                    <a:pt x="0" y="0"/>
                  </a:moveTo>
                  <a:lnTo>
                    <a:pt x="8046000" y="0"/>
                  </a:lnTo>
                  <a:lnTo>
                    <a:pt x="8046000" y="2376724"/>
                  </a:lnTo>
                  <a:lnTo>
                    <a:pt x="0" y="237672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5963" r="0" b="-15963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76200"/>
              <a:ext cx="8045996" cy="245292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863"/>
                </a:lnSpc>
              </a:pPr>
              <a:r>
                <a:rPr lang="en-US" sz="2074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VecMonitor + the SB3 logger write rollout/ep_rew_mean, ep_len_mean, train/* (approx_kl, clip_fraction, explained_variance...) to logs/ for each run.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685800" y="9710823"/>
            <a:ext cx="4114257" cy="410937"/>
            <a:chOff x="0" y="0"/>
            <a:chExt cx="5485676" cy="547916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5485680" cy="547920"/>
            </a:xfrm>
            <a:custGeom>
              <a:avLst/>
              <a:gdLst/>
              <a:ahLst/>
              <a:cxnLst/>
              <a:rect r="r" b="b" t="t" l="l"/>
              <a:pathLst>
                <a:path h="547920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081" r="0" b="-14508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5485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Contra-PPO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16911723" y="9710823"/>
            <a:ext cx="822417" cy="410937"/>
            <a:chOff x="0" y="0"/>
            <a:chExt cx="1096556" cy="547916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96560" cy="547920"/>
            </a:xfrm>
            <a:custGeom>
              <a:avLst/>
              <a:gdLst/>
              <a:ahLst/>
              <a:cxnLst/>
              <a:rect r="r" b="b" t="t" l="l"/>
              <a:pathLst>
                <a:path h="547920" w="1096560">
                  <a:moveTo>
                    <a:pt x="0" y="0"/>
                  </a:moveTo>
                  <a:lnTo>
                    <a:pt x="1096560" y="0"/>
                  </a:lnTo>
                  <a:lnTo>
                    <a:pt x="109656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09" t="0" r="-14109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109655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8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9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480060"/>
            <a:ext cx="10972257" cy="410937"/>
            <a:chOff x="0" y="0"/>
            <a:chExt cx="14629676" cy="5479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29681" cy="547920"/>
            </a:xfrm>
            <a:custGeom>
              <a:avLst/>
              <a:gdLst/>
              <a:ahLst/>
              <a:cxnLst/>
              <a:rect r="r" b="b" t="t" l="l"/>
              <a:pathLst>
                <a:path h="547920" w="14629681">
                  <a:moveTo>
                    <a:pt x="0" y="0"/>
                  </a:moveTo>
                  <a:lnTo>
                    <a:pt x="14629681" y="0"/>
                  </a:lnTo>
                  <a:lnTo>
                    <a:pt x="14629681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0258" r="0" b="-47025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29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98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RESULTS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1028700"/>
            <a:ext cx="15910017" cy="959577"/>
            <a:chOff x="0" y="0"/>
            <a:chExt cx="21213356" cy="12794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213359" cy="1279440"/>
            </a:xfrm>
            <a:custGeom>
              <a:avLst/>
              <a:gdLst/>
              <a:ahLst/>
              <a:cxnLst/>
              <a:rect r="r" b="b" t="t" l="l"/>
              <a:pathLst>
                <a:path h="1279440" w="21213359">
                  <a:moveTo>
                    <a:pt x="0" y="0"/>
                  </a:moveTo>
                  <a:lnTo>
                    <a:pt x="21213359" y="0"/>
                  </a:lnTo>
                  <a:lnTo>
                    <a:pt x="21213359" y="1279440"/>
                  </a:lnTo>
                  <a:lnTo>
                    <a:pt x="0" y="1279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65" r="0" b="-27306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213356" cy="12984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 spc="-1">
                  <a:solidFill>
                    <a:srgbClr val="E5E9F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Training progress — log PPO_contra_1 (6.62M timesteps)</a:t>
              </a:r>
            </a:p>
          </p:txBody>
        </p:sp>
      </p:grpSp>
      <p:pic>
        <p:nvPicPr>
          <p:cNvPr name="Picture 8" id="8"/>
          <p:cNvPicPr>
            <a:picLocks noChangeAspect="true"/>
          </p:cNvPicPr>
          <p:nvPr/>
        </p:nvPicPr>
        <p:blipFill>
          <a:blip r:embed="rId4"/>
          <a:stretch>
            <a:fillRect/>
          </a:stretch>
        </p:blipFill>
        <p:spPr>
          <a:xfrm rot="0">
            <a:off x="-332293" y="1211775"/>
            <a:ext cx="10918220" cy="6052775"/>
          </a:xfrm>
          <a:prstGeom prst="rect">
            <a:avLst/>
          </a:prstGeom>
        </p:spPr>
      </p:pic>
      <p:grpSp>
        <p:nvGrpSpPr>
          <p:cNvPr name="Group 9" id="9"/>
          <p:cNvGrpSpPr/>
          <p:nvPr/>
        </p:nvGrpSpPr>
        <p:grpSpPr>
          <a:xfrm rot="0">
            <a:off x="10780988" y="3063175"/>
            <a:ext cx="7959282" cy="5899041"/>
            <a:chOff x="0" y="0"/>
            <a:chExt cx="10612377" cy="7865388"/>
          </a:xfrm>
        </p:grpSpPr>
        <p:grpSp>
          <p:nvGrpSpPr>
            <p:cNvPr name="Group 10" id="10"/>
            <p:cNvGrpSpPr/>
            <p:nvPr/>
          </p:nvGrpSpPr>
          <p:grpSpPr>
            <a:xfrm rot="0">
              <a:off x="0" y="0"/>
              <a:ext cx="5417647" cy="2371411"/>
              <a:chOff x="0" y="0"/>
              <a:chExt cx="3967462" cy="1736636"/>
            </a:xfrm>
          </p:grpSpPr>
          <p:sp>
            <p:nvSpPr>
              <p:cNvPr name="Freeform 11" id="11"/>
              <p:cNvSpPr/>
              <p:nvPr/>
            </p:nvSpPr>
            <p:spPr>
              <a:xfrm flipH="false" flipV="false" rot="0">
                <a:off x="0" y="0"/>
                <a:ext cx="3967564" cy="1736725"/>
              </a:xfrm>
              <a:custGeom>
                <a:avLst/>
                <a:gdLst/>
                <a:ahLst/>
                <a:cxnLst/>
                <a:rect r="r" b="b" t="t" l="l"/>
                <a:pathLst>
                  <a:path h="1736725" w="3967564">
                    <a:moveTo>
                      <a:pt x="0" y="146304"/>
                    </a:moveTo>
                    <a:cubicBezTo>
                      <a:pt x="0" y="65532"/>
                      <a:pt x="30709" y="0"/>
                      <a:pt x="68559" y="0"/>
                    </a:cubicBezTo>
                    <a:lnTo>
                      <a:pt x="3898950" y="0"/>
                    </a:lnTo>
                    <a:cubicBezTo>
                      <a:pt x="3936800" y="0"/>
                      <a:pt x="3967564" y="65532"/>
                      <a:pt x="3967564" y="146304"/>
                    </a:cubicBezTo>
                    <a:lnTo>
                      <a:pt x="3967564" y="1590421"/>
                    </a:lnTo>
                    <a:cubicBezTo>
                      <a:pt x="3967564" y="1671193"/>
                      <a:pt x="3936800" y="1736725"/>
                      <a:pt x="3898950" y="1736725"/>
                    </a:cubicBezTo>
                    <a:lnTo>
                      <a:pt x="68559" y="1736725"/>
                    </a:lnTo>
                    <a:cubicBezTo>
                      <a:pt x="30709" y="1736598"/>
                      <a:pt x="0" y="1671193"/>
                      <a:pt x="0" y="1590421"/>
                    </a:cubicBezTo>
                    <a:close/>
                  </a:path>
                </a:pathLst>
              </a:custGeom>
              <a:solidFill>
                <a:srgbClr val="16213E"/>
              </a:solidFill>
            </p:spPr>
          </p:sp>
        </p:grpSp>
        <p:grpSp>
          <p:nvGrpSpPr>
            <p:cNvPr name="Group 12" id="12"/>
            <p:cNvGrpSpPr/>
            <p:nvPr/>
          </p:nvGrpSpPr>
          <p:grpSpPr>
            <a:xfrm rot="0">
              <a:off x="624316" y="199590"/>
              <a:ext cx="4993536" cy="1372506"/>
              <a:chOff x="0" y="0"/>
              <a:chExt cx="3656876" cy="1005116"/>
            </a:xfrm>
          </p:grpSpPr>
          <p:sp>
            <p:nvSpPr>
              <p:cNvPr name="Freeform 13" id="13"/>
              <p:cNvSpPr/>
              <p:nvPr/>
            </p:nvSpPr>
            <p:spPr>
              <a:xfrm flipH="false" flipV="false" rot="0">
                <a:off x="0" y="0"/>
                <a:ext cx="3656880" cy="1005120"/>
              </a:xfrm>
              <a:custGeom>
                <a:avLst/>
                <a:gdLst/>
                <a:ahLst/>
                <a:cxnLst/>
                <a:rect r="r" b="b" t="t" l="l"/>
                <a:pathLst>
                  <a:path h="1005120" w="3656880">
                    <a:moveTo>
                      <a:pt x="0" y="0"/>
                    </a:moveTo>
                    <a:lnTo>
                      <a:pt x="3656880" y="0"/>
                    </a:lnTo>
                    <a:lnTo>
                      <a:pt x="3656880" y="1005120"/>
                    </a:lnTo>
                    <a:lnTo>
                      <a:pt x="0" y="10051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0891" r="0" b="-20891"/>
                </a:stretch>
              </a:blipFill>
            </p:spPr>
          </p:sp>
          <p:sp>
            <p:nvSpPr>
              <p:cNvPr name="TextBox 14" id="14"/>
              <p:cNvSpPr txBox="true"/>
              <p:nvPr/>
            </p:nvSpPr>
            <p:spPr>
              <a:xfrm>
                <a:off x="0" y="0"/>
                <a:ext cx="3656876" cy="100511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4679"/>
                  </a:lnSpc>
                </a:pPr>
                <a:r>
                  <a:rPr lang="en-US" b="true" sz="3899" spc="-1">
                    <a:solidFill>
                      <a:srgbClr val="06D6A0"/>
                    </a:solidFill>
                    <a:latin typeface="Cambria Bold"/>
                    <a:ea typeface="Cambria Bold"/>
                    <a:cs typeface="Cambria Bold"/>
                    <a:sym typeface="Cambria Bold"/>
                  </a:rPr>
                  <a:t>1.56K</a:t>
                </a:r>
              </a:p>
            </p:txBody>
          </p:sp>
        </p:grpSp>
        <p:grpSp>
          <p:nvGrpSpPr>
            <p:cNvPr name="Group 15" id="15"/>
            <p:cNvGrpSpPr/>
            <p:nvPr/>
          </p:nvGrpSpPr>
          <p:grpSpPr>
            <a:xfrm rot="0">
              <a:off x="624316" y="1548493"/>
              <a:ext cx="9988061" cy="748190"/>
              <a:chOff x="0" y="0"/>
              <a:chExt cx="7314476" cy="547916"/>
            </a:xfrm>
          </p:grpSpPr>
          <p:sp>
            <p:nvSpPr>
              <p:cNvPr name="Freeform 16" id="16"/>
              <p:cNvSpPr/>
              <p:nvPr/>
            </p:nvSpPr>
            <p:spPr>
              <a:xfrm flipH="false" flipV="false" rot="0">
                <a:off x="0" y="0"/>
                <a:ext cx="7314480" cy="547920"/>
              </a:xfrm>
              <a:custGeom>
                <a:avLst/>
                <a:gdLst/>
                <a:ahLst/>
                <a:cxnLst/>
                <a:rect r="r" b="b" t="t" l="l"/>
                <a:pathLst>
                  <a:path h="547920" w="7314480">
                    <a:moveTo>
                      <a:pt x="0" y="0"/>
                    </a:moveTo>
                    <a:lnTo>
                      <a:pt x="7314480" y="0"/>
                    </a:lnTo>
                    <a:lnTo>
                      <a:pt x="7314480" y="547920"/>
                    </a:lnTo>
                    <a:lnTo>
                      <a:pt x="0" y="547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10116" r="0" b="-210115"/>
                </a:stretch>
              </a:blipFill>
            </p:spPr>
          </p:sp>
          <p:sp>
            <p:nvSpPr>
              <p:cNvPr name="TextBox 17" id="17"/>
              <p:cNvSpPr txBox="true"/>
              <p:nvPr/>
            </p:nvSpPr>
            <p:spPr>
              <a:xfrm>
                <a:off x="0" y="-19050"/>
                <a:ext cx="7314476" cy="56696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890"/>
                  </a:lnSpc>
                </a:pPr>
                <a:r>
                  <a:rPr lang="en-US" sz="1575" spc="-1">
                    <a:solidFill>
                      <a:srgbClr val="9AA6C1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logged episodes (rollout)</a:t>
                </a:r>
              </a:p>
            </p:txBody>
          </p:sp>
        </p:grpSp>
        <p:grpSp>
          <p:nvGrpSpPr>
            <p:cNvPr name="Group 18" id="18"/>
            <p:cNvGrpSpPr/>
            <p:nvPr/>
          </p:nvGrpSpPr>
          <p:grpSpPr>
            <a:xfrm rot="0">
              <a:off x="0" y="2746989"/>
              <a:ext cx="5417647" cy="2371411"/>
              <a:chOff x="0" y="0"/>
              <a:chExt cx="3967462" cy="1736636"/>
            </a:xfrm>
          </p:grpSpPr>
          <p:sp>
            <p:nvSpPr>
              <p:cNvPr name="Freeform 19" id="19"/>
              <p:cNvSpPr/>
              <p:nvPr/>
            </p:nvSpPr>
            <p:spPr>
              <a:xfrm flipH="false" flipV="false" rot="0">
                <a:off x="0" y="0"/>
                <a:ext cx="3967564" cy="1736725"/>
              </a:xfrm>
              <a:custGeom>
                <a:avLst/>
                <a:gdLst/>
                <a:ahLst/>
                <a:cxnLst/>
                <a:rect r="r" b="b" t="t" l="l"/>
                <a:pathLst>
                  <a:path h="1736725" w="3967564">
                    <a:moveTo>
                      <a:pt x="0" y="146304"/>
                    </a:moveTo>
                    <a:cubicBezTo>
                      <a:pt x="0" y="65532"/>
                      <a:pt x="30709" y="0"/>
                      <a:pt x="68559" y="0"/>
                    </a:cubicBezTo>
                    <a:lnTo>
                      <a:pt x="3898950" y="0"/>
                    </a:lnTo>
                    <a:cubicBezTo>
                      <a:pt x="3936800" y="0"/>
                      <a:pt x="3967564" y="65532"/>
                      <a:pt x="3967564" y="146304"/>
                    </a:cubicBezTo>
                    <a:lnTo>
                      <a:pt x="3967564" y="1590421"/>
                    </a:lnTo>
                    <a:cubicBezTo>
                      <a:pt x="3967564" y="1671193"/>
                      <a:pt x="3936800" y="1736725"/>
                      <a:pt x="3898950" y="1736725"/>
                    </a:cubicBezTo>
                    <a:lnTo>
                      <a:pt x="68559" y="1736725"/>
                    </a:lnTo>
                    <a:cubicBezTo>
                      <a:pt x="30709" y="1736598"/>
                      <a:pt x="0" y="1671193"/>
                      <a:pt x="0" y="1590421"/>
                    </a:cubicBezTo>
                    <a:close/>
                  </a:path>
                </a:pathLst>
              </a:custGeom>
              <a:solidFill>
                <a:srgbClr val="16213E"/>
              </a:solidFill>
            </p:spPr>
          </p:sp>
        </p:grpSp>
        <p:grpSp>
          <p:nvGrpSpPr>
            <p:cNvPr name="Group 20" id="20"/>
            <p:cNvGrpSpPr/>
            <p:nvPr/>
          </p:nvGrpSpPr>
          <p:grpSpPr>
            <a:xfrm rot="0">
              <a:off x="624316" y="2946579"/>
              <a:ext cx="4993536" cy="1372506"/>
              <a:chOff x="0" y="0"/>
              <a:chExt cx="3656876" cy="1005116"/>
            </a:xfrm>
          </p:grpSpPr>
          <p:sp>
            <p:nvSpPr>
              <p:cNvPr name="Freeform 21" id="21"/>
              <p:cNvSpPr/>
              <p:nvPr/>
            </p:nvSpPr>
            <p:spPr>
              <a:xfrm flipH="false" flipV="false" rot="0">
                <a:off x="0" y="0"/>
                <a:ext cx="3656880" cy="1005120"/>
              </a:xfrm>
              <a:custGeom>
                <a:avLst/>
                <a:gdLst/>
                <a:ahLst/>
                <a:cxnLst/>
                <a:rect r="r" b="b" t="t" l="l"/>
                <a:pathLst>
                  <a:path h="1005120" w="3656880">
                    <a:moveTo>
                      <a:pt x="0" y="0"/>
                    </a:moveTo>
                    <a:lnTo>
                      <a:pt x="3656880" y="0"/>
                    </a:lnTo>
                    <a:lnTo>
                      <a:pt x="3656880" y="1005120"/>
                    </a:lnTo>
                    <a:lnTo>
                      <a:pt x="0" y="10051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0891" r="0" b="-20891"/>
                </a:stretch>
              </a:blipFill>
            </p:spPr>
          </p:sp>
          <p:sp>
            <p:nvSpPr>
              <p:cNvPr name="TextBox 22" id="22"/>
              <p:cNvSpPr txBox="true"/>
              <p:nvPr/>
            </p:nvSpPr>
            <p:spPr>
              <a:xfrm>
                <a:off x="0" y="0"/>
                <a:ext cx="3656876" cy="100511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4679"/>
                  </a:lnSpc>
                </a:pPr>
                <a:r>
                  <a:rPr lang="en-US" b="true" sz="3899" spc="-1">
                    <a:solidFill>
                      <a:srgbClr val="06D6A0"/>
                    </a:solidFill>
                    <a:latin typeface="Cambria Bold"/>
                    <a:ea typeface="Cambria Bold"/>
                    <a:cs typeface="Cambria Bold"/>
                    <a:sym typeface="Cambria Bold"/>
                  </a:rPr>
                  <a:t>6.62M</a:t>
                </a:r>
              </a:p>
            </p:txBody>
          </p:sp>
        </p:grpSp>
        <p:grpSp>
          <p:nvGrpSpPr>
            <p:cNvPr name="Group 23" id="23"/>
            <p:cNvGrpSpPr/>
            <p:nvPr/>
          </p:nvGrpSpPr>
          <p:grpSpPr>
            <a:xfrm rot="0">
              <a:off x="624316" y="4295482"/>
              <a:ext cx="9613472" cy="699043"/>
              <a:chOff x="0" y="0"/>
              <a:chExt cx="7314476" cy="531871"/>
            </a:xfrm>
          </p:grpSpPr>
          <p:sp>
            <p:nvSpPr>
              <p:cNvPr name="Freeform 24" id="24"/>
              <p:cNvSpPr/>
              <p:nvPr/>
            </p:nvSpPr>
            <p:spPr>
              <a:xfrm flipH="false" flipV="false" rot="0">
                <a:off x="0" y="0"/>
                <a:ext cx="7314480" cy="531875"/>
              </a:xfrm>
              <a:custGeom>
                <a:avLst/>
                <a:gdLst/>
                <a:ahLst/>
                <a:cxnLst/>
                <a:rect r="r" b="b" t="t" l="l"/>
                <a:pathLst>
                  <a:path h="531875" w="7314480">
                    <a:moveTo>
                      <a:pt x="0" y="0"/>
                    </a:moveTo>
                    <a:lnTo>
                      <a:pt x="7314480" y="0"/>
                    </a:lnTo>
                    <a:lnTo>
                      <a:pt x="7314480" y="531875"/>
                    </a:lnTo>
                    <a:lnTo>
                      <a:pt x="0" y="531875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16454" r="0" b="-219470"/>
                </a:stretch>
              </a:blipFill>
            </p:spPr>
          </p:sp>
          <p:sp>
            <p:nvSpPr>
              <p:cNvPr name="TextBox 25" id="25"/>
              <p:cNvSpPr txBox="true"/>
              <p:nvPr/>
            </p:nvSpPr>
            <p:spPr>
              <a:xfrm>
                <a:off x="0" y="-19050"/>
                <a:ext cx="7314476" cy="550921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890"/>
                  </a:lnSpc>
                </a:pPr>
                <a:r>
                  <a:rPr lang="en-US" sz="1575" spc="-1">
                    <a:solidFill>
                      <a:srgbClr val="9AA6C1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training timesteps</a:t>
                </a:r>
              </a:p>
            </p:txBody>
          </p:sp>
        </p:grpSp>
        <p:grpSp>
          <p:nvGrpSpPr>
            <p:cNvPr name="Group 26" id="26"/>
            <p:cNvGrpSpPr/>
            <p:nvPr/>
          </p:nvGrpSpPr>
          <p:grpSpPr>
            <a:xfrm rot="0">
              <a:off x="0" y="5493977"/>
              <a:ext cx="5417647" cy="2371411"/>
              <a:chOff x="0" y="0"/>
              <a:chExt cx="3967462" cy="1736636"/>
            </a:xfrm>
          </p:grpSpPr>
          <p:sp>
            <p:nvSpPr>
              <p:cNvPr name="Freeform 27" id="27"/>
              <p:cNvSpPr/>
              <p:nvPr/>
            </p:nvSpPr>
            <p:spPr>
              <a:xfrm flipH="false" flipV="false" rot="0">
                <a:off x="0" y="0"/>
                <a:ext cx="3967564" cy="1736725"/>
              </a:xfrm>
              <a:custGeom>
                <a:avLst/>
                <a:gdLst/>
                <a:ahLst/>
                <a:cxnLst/>
                <a:rect r="r" b="b" t="t" l="l"/>
                <a:pathLst>
                  <a:path h="1736725" w="3967564">
                    <a:moveTo>
                      <a:pt x="0" y="146304"/>
                    </a:moveTo>
                    <a:cubicBezTo>
                      <a:pt x="0" y="65532"/>
                      <a:pt x="30709" y="0"/>
                      <a:pt x="68559" y="0"/>
                    </a:cubicBezTo>
                    <a:lnTo>
                      <a:pt x="3898950" y="0"/>
                    </a:lnTo>
                    <a:cubicBezTo>
                      <a:pt x="3936800" y="0"/>
                      <a:pt x="3967564" y="65532"/>
                      <a:pt x="3967564" y="146304"/>
                    </a:cubicBezTo>
                    <a:lnTo>
                      <a:pt x="3967564" y="1590421"/>
                    </a:lnTo>
                    <a:cubicBezTo>
                      <a:pt x="3967564" y="1671193"/>
                      <a:pt x="3936800" y="1736725"/>
                      <a:pt x="3898950" y="1736725"/>
                    </a:cubicBezTo>
                    <a:lnTo>
                      <a:pt x="68559" y="1736725"/>
                    </a:lnTo>
                    <a:cubicBezTo>
                      <a:pt x="30709" y="1736598"/>
                      <a:pt x="0" y="1671193"/>
                      <a:pt x="0" y="1590421"/>
                    </a:cubicBezTo>
                    <a:close/>
                  </a:path>
                </a:pathLst>
              </a:custGeom>
              <a:solidFill>
                <a:srgbClr val="16213E"/>
              </a:solidFill>
            </p:spPr>
          </p:sp>
        </p:grpSp>
        <p:grpSp>
          <p:nvGrpSpPr>
            <p:cNvPr name="Group 28" id="28"/>
            <p:cNvGrpSpPr/>
            <p:nvPr/>
          </p:nvGrpSpPr>
          <p:grpSpPr>
            <a:xfrm rot="0">
              <a:off x="624316" y="5693567"/>
              <a:ext cx="4993536" cy="1372506"/>
              <a:chOff x="0" y="0"/>
              <a:chExt cx="3656876" cy="1005116"/>
            </a:xfrm>
          </p:grpSpPr>
          <p:sp>
            <p:nvSpPr>
              <p:cNvPr name="Freeform 29" id="29"/>
              <p:cNvSpPr/>
              <p:nvPr/>
            </p:nvSpPr>
            <p:spPr>
              <a:xfrm flipH="false" flipV="false" rot="0">
                <a:off x="0" y="0"/>
                <a:ext cx="3656880" cy="1005120"/>
              </a:xfrm>
              <a:custGeom>
                <a:avLst/>
                <a:gdLst/>
                <a:ahLst/>
                <a:cxnLst/>
                <a:rect r="r" b="b" t="t" l="l"/>
                <a:pathLst>
                  <a:path h="1005120" w="3656880">
                    <a:moveTo>
                      <a:pt x="0" y="0"/>
                    </a:moveTo>
                    <a:lnTo>
                      <a:pt x="3656880" y="0"/>
                    </a:lnTo>
                    <a:lnTo>
                      <a:pt x="3656880" y="1005120"/>
                    </a:lnTo>
                    <a:lnTo>
                      <a:pt x="0" y="10051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0891" r="0" b="-20891"/>
                </a:stretch>
              </a:blipFill>
            </p:spPr>
          </p:sp>
          <p:sp>
            <p:nvSpPr>
              <p:cNvPr name="TextBox 30" id="30"/>
              <p:cNvSpPr txBox="true"/>
              <p:nvPr/>
            </p:nvSpPr>
            <p:spPr>
              <a:xfrm>
                <a:off x="0" y="0"/>
                <a:ext cx="3656876" cy="100511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4679"/>
                  </a:lnSpc>
                </a:pPr>
                <a:r>
                  <a:rPr lang="en-US" b="true" sz="3899" spc="-1">
                    <a:solidFill>
                      <a:srgbClr val="06D6A0"/>
                    </a:solidFill>
                    <a:latin typeface="Cambria Bold"/>
                    <a:ea typeface="Cambria Bold"/>
                    <a:cs typeface="Cambria Bold"/>
                    <a:sym typeface="Cambria Bold"/>
                  </a:rPr>
                  <a:t>+933</a:t>
                </a:r>
              </a:p>
            </p:txBody>
          </p:sp>
        </p:grpSp>
        <p:grpSp>
          <p:nvGrpSpPr>
            <p:cNvPr name="Group 31" id="31"/>
            <p:cNvGrpSpPr/>
            <p:nvPr/>
          </p:nvGrpSpPr>
          <p:grpSpPr>
            <a:xfrm rot="0">
              <a:off x="624316" y="7042471"/>
              <a:ext cx="9988061" cy="748190"/>
              <a:chOff x="0" y="0"/>
              <a:chExt cx="7314476" cy="547916"/>
            </a:xfrm>
          </p:grpSpPr>
          <p:sp>
            <p:nvSpPr>
              <p:cNvPr name="Freeform 32" id="32"/>
              <p:cNvSpPr/>
              <p:nvPr/>
            </p:nvSpPr>
            <p:spPr>
              <a:xfrm flipH="false" flipV="false" rot="0">
                <a:off x="0" y="0"/>
                <a:ext cx="7314480" cy="547920"/>
              </a:xfrm>
              <a:custGeom>
                <a:avLst/>
                <a:gdLst/>
                <a:ahLst/>
                <a:cxnLst/>
                <a:rect r="r" b="b" t="t" l="l"/>
                <a:pathLst>
                  <a:path h="547920" w="7314480">
                    <a:moveTo>
                      <a:pt x="0" y="0"/>
                    </a:moveTo>
                    <a:lnTo>
                      <a:pt x="7314480" y="0"/>
                    </a:lnTo>
                    <a:lnTo>
                      <a:pt x="7314480" y="547920"/>
                    </a:lnTo>
                    <a:lnTo>
                      <a:pt x="0" y="547920"/>
                    </a:lnTo>
                    <a:close/>
                  </a:path>
                </a:pathLst>
              </a:custGeom>
              <a:blipFill>
                <a:blip r:embed="rId3">
                  <a:alphaModFix amt="0"/>
                </a:blip>
                <a:stretch>
                  <a:fillRect l="0" t="-210116" r="0" b="-210115"/>
                </a:stretch>
              </a:blipFill>
            </p:spPr>
          </p:sp>
          <p:sp>
            <p:nvSpPr>
              <p:cNvPr name="TextBox 33" id="33"/>
              <p:cNvSpPr txBox="true"/>
              <p:nvPr/>
            </p:nvSpPr>
            <p:spPr>
              <a:xfrm>
                <a:off x="0" y="-19050"/>
                <a:ext cx="7314476" cy="566966"/>
              </a:xfrm>
              <a:prstGeom prst="rect">
                <a:avLst/>
              </a:prstGeom>
            </p:spPr>
            <p:txBody>
              <a:bodyPr anchor="ctr" rtlCol="false" tIns="0" lIns="0" bIns="0" rIns="0"/>
              <a:lstStyle/>
              <a:p>
                <a:pPr algn="l">
                  <a:lnSpc>
                    <a:spcPts val="1890"/>
                  </a:lnSpc>
                </a:pPr>
                <a:r>
                  <a:rPr lang="en-US" sz="1575" spc="-1">
                    <a:solidFill>
                      <a:srgbClr val="9AA6C1"/>
                    </a:solidFill>
                    <a:latin typeface="Calibri (MS)"/>
                    <a:ea typeface="Calibri (MS)"/>
                    <a:cs typeface="Calibri (MS)"/>
                    <a:sym typeface="Calibri (MS)"/>
                  </a:rPr>
                  <a:t>ep_rew_mean at end of log</a:t>
                </a:r>
              </a:p>
            </p:txBody>
          </p:sp>
        </p:grpSp>
      </p:grpSp>
      <p:grpSp>
        <p:nvGrpSpPr>
          <p:cNvPr name="Group 34" id="34"/>
          <p:cNvGrpSpPr/>
          <p:nvPr/>
        </p:nvGrpSpPr>
        <p:grpSpPr>
          <a:xfrm rot="0">
            <a:off x="822960" y="11921576"/>
            <a:ext cx="3908517" cy="342357"/>
            <a:chOff x="0" y="0"/>
            <a:chExt cx="5211356" cy="45647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5211360" cy="456480"/>
            </a:xfrm>
            <a:custGeom>
              <a:avLst/>
              <a:gdLst/>
              <a:ahLst/>
              <a:cxnLst/>
              <a:rect r="r" b="b" t="t" l="l"/>
              <a:pathLst>
                <a:path h="456480" w="5211360">
                  <a:moveTo>
                    <a:pt x="0" y="0"/>
                  </a:moveTo>
                  <a:lnTo>
                    <a:pt x="5211360" y="0"/>
                  </a:lnTo>
                  <a:lnTo>
                    <a:pt x="5211360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2449" r="0" b="-172448"/>
              </a:stretch>
            </a:blipFill>
          </p:spPr>
        </p:sp>
        <p:sp>
          <p:nvSpPr>
            <p:cNvPr name="TextBox 36" id="36"/>
            <p:cNvSpPr txBox="true"/>
            <p:nvPr/>
          </p:nvSpPr>
          <p:spPr>
            <a:xfrm>
              <a:off x="0" y="-38100"/>
              <a:ext cx="5211356" cy="4945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~1M steps</a:t>
              </a:r>
            </a:p>
          </p:txBody>
        </p:sp>
      </p:grpSp>
      <p:grpSp>
        <p:nvGrpSpPr>
          <p:cNvPr name="Group 37" id="37"/>
          <p:cNvGrpSpPr/>
          <p:nvPr/>
        </p:nvGrpSpPr>
        <p:grpSpPr>
          <a:xfrm rot="0">
            <a:off x="5074920" y="11921576"/>
            <a:ext cx="3908517" cy="342357"/>
            <a:chOff x="0" y="0"/>
            <a:chExt cx="5211356" cy="456476"/>
          </a:xfrm>
        </p:grpSpPr>
        <p:sp>
          <p:nvSpPr>
            <p:cNvPr name="Freeform 38" id="38"/>
            <p:cNvSpPr/>
            <p:nvPr/>
          </p:nvSpPr>
          <p:spPr>
            <a:xfrm flipH="false" flipV="false" rot="0">
              <a:off x="0" y="0"/>
              <a:ext cx="5211360" cy="456480"/>
            </a:xfrm>
            <a:custGeom>
              <a:avLst/>
              <a:gdLst/>
              <a:ahLst/>
              <a:cxnLst/>
              <a:rect r="r" b="b" t="t" l="l"/>
              <a:pathLst>
                <a:path h="456480" w="5211360">
                  <a:moveTo>
                    <a:pt x="0" y="0"/>
                  </a:moveTo>
                  <a:lnTo>
                    <a:pt x="5211360" y="0"/>
                  </a:lnTo>
                  <a:lnTo>
                    <a:pt x="5211360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2449" r="0" b="-172448"/>
              </a:stretch>
            </a:blipFill>
          </p:spPr>
        </p:sp>
        <p:sp>
          <p:nvSpPr>
            <p:cNvPr name="TextBox 39" id="39"/>
            <p:cNvSpPr txBox="true"/>
            <p:nvPr/>
          </p:nvSpPr>
          <p:spPr>
            <a:xfrm>
              <a:off x="0" y="-38100"/>
              <a:ext cx="5211356" cy="4945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~4M steps</a:t>
              </a:r>
            </a:p>
          </p:txBody>
        </p:sp>
      </p:grpSp>
      <p:grpSp>
        <p:nvGrpSpPr>
          <p:cNvPr name="Group 40" id="40"/>
          <p:cNvGrpSpPr/>
          <p:nvPr/>
        </p:nvGrpSpPr>
        <p:grpSpPr>
          <a:xfrm rot="0">
            <a:off x="9326880" y="11921576"/>
            <a:ext cx="3908517" cy="342357"/>
            <a:chOff x="0" y="0"/>
            <a:chExt cx="5211356" cy="456476"/>
          </a:xfrm>
        </p:grpSpPr>
        <p:sp>
          <p:nvSpPr>
            <p:cNvPr name="Freeform 41" id="41"/>
            <p:cNvSpPr/>
            <p:nvPr/>
          </p:nvSpPr>
          <p:spPr>
            <a:xfrm flipH="false" flipV="false" rot="0">
              <a:off x="0" y="0"/>
              <a:ext cx="5211360" cy="456480"/>
            </a:xfrm>
            <a:custGeom>
              <a:avLst/>
              <a:gdLst/>
              <a:ahLst/>
              <a:cxnLst/>
              <a:rect r="r" b="b" t="t" l="l"/>
              <a:pathLst>
                <a:path h="456480" w="5211360">
                  <a:moveTo>
                    <a:pt x="0" y="0"/>
                  </a:moveTo>
                  <a:lnTo>
                    <a:pt x="5211360" y="0"/>
                  </a:lnTo>
                  <a:lnTo>
                    <a:pt x="5211360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2449" r="0" b="-172448"/>
              </a:stretch>
            </a:blipFill>
          </p:spPr>
        </p:sp>
        <p:sp>
          <p:nvSpPr>
            <p:cNvPr name="TextBox 42" id="42"/>
            <p:cNvSpPr txBox="true"/>
            <p:nvPr/>
          </p:nvSpPr>
          <p:spPr>
            <a:xfrm>
              <a:off x="0" y="-38100"/>
              <a:ext cx="5211356" cy="4945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Final best model</a:t>
              </a:r>
            </a:p>
          </p:txBody>
        </p:sp>
      </p:grpSp>
      <p:grpSp>
        <p:nvGrpSpPr>
          <p:cNvPr name="Group 43" id="43"/>
          <p:cNvGrpSpPr/>
          <p:nvPr/>
        </p:nvGrpSpPr>
        <p:grpSpPr>
          <a:xfrm rot="0">
            <a:off x="16911723" y="9710823"/>
            <a:ext cx="822417" cy="410937"/>
            <a:chOff x="0" y="0"/>
            <a:chExt cx="1096556" cy="547916"/>
          </a:xfrm>
        </p:grpSpPr>
        <p:sp>
          <p:nvSpPr>
            <p:cNvPr name="Freeform 44" id="44"/>
            <p:cNvSpPr/>
            <p:nvPr/>
          </p:nvSpPr>
          <p:spPr>
            <a:xfrm flipH="false" flipV="false" rot="0">
              <a:off x="0" y="0"/>
              <a:ext cx="1096560" cy="547920"/>
            </a:xfrm>
            <a:custGeom>
              <a:avLst/>
              <a:gdLst/>
              <a:ahLst/>
              <a:cxnLst/>
              <a:rect r="r" b="b" t="t" l="l"/>
              <a:pathLst>
                <a:path h="547920" w="1096560">
                  <a:moveTo>
                    <a:pt x="0" y="0"/>
                  </a:moveTo>
                  <a:lnTo>
                    <a:pt x="1096560" y="0"/>
                  </a:lnTo>
                  <a:lnTo>
                    <a:pt x="109656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09" t="0" r="-14109" b="0"/>
              </a:stretch>
            </a:blipFill>
          </p:spPr>
        </p:sp>
        <p:sp>
          <p:nvSpPr>
            <p:cNvPr name="TextBox 45" id="45"/>
            <p:cNvSpPr txBox="true"/>
            <p:nvPr/>
          </p:nvSpPr>
          <p:spPr>
            <a:xfrm>
              <a:off x="0" y="-38100"/>
              <a:ext cx="109655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9</a:t>
              </a:r>
            </a:p>
          </p:txBody>
        </p:sp>
      </p:grpSp>
      <p:pic>
        <p:nvPicPr>
          <p:cNvPr name="Picture 46" id="46"/>
          <p:cNvPicPr>
            <a:picLocks noChangeAspect="true"/>
          </p:cNvPicPr>
          <p:nvPr/>
        </p:nvPicPr>
        <p:blipFill>
          <a:blip r:embed="rId5"/>
          <a:stretch>
            <a:fillRect/>
          </a:stretch>
        </p:blipFill>
        <p:spPr>
          <a:xfrm rot="0">
            <a:off x="17644" y="5391112"/>
            <a:ext cx="10536472" cy="5393750"/>
          </a:xfrm>
          <a:prstGeom prst="rect">
            <a:avLst/>
          </a:prstGeom>
        </p:spPr>
      </p:pic>
    </p:spTree>
  </p:cSld>
  <p:clrMapOvr>
    <a:masterClrMapping/>
  </p:clrMapOvr>
  <p:transition spd="fast">
    <p:fade/>
  </p:transition>
</p:sld>
</file>

<file path=ppt/slides/slide10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480060"/>
            <a:ext cx="10972257" cy="410937"/>
            <a:chOff x="0" y="0"/>
            <a:chExt cx="14629676" cy="5479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29681" cy="547920"/>
            </a:xfrm>
            <a:custGeom>
              <a:avLst/>
              <a:gdLst/>
              <a:ahLst/>
              <a:cxnLst/>
              <a:rect r="r" b="b" t="t" l="l"/>
              <a:pathLst>
                <a:path h="547920" w="14629681">
                  <a:moveTo>
                    <a:pt x="0" y="0"/>
                  </a:moveTo>
                  <a:lnTo>
                    <a:pt x="14629681" y="0"/>
                  </a:lnTo>
                  <a:lnTo>
                    <a:pt x="14629681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0258" r="0" b="-47025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29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98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RESULTS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659359" y="-14254"/>
            <a:ext cx="10858846" cy="3303594"/>
            <a:chOff x="0" y="0"/>
            <a:chExt cx="14478462" cy="4404792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14478465" cy="4404795"/>
            </a:xfrm>
            <a:custGeom>
              <a:avLst/>
              <a:gdLst/>
              <a:ahLst/>
              <a:cxnLst/>
              <a:rect r="r" b="b" t="t" l="l"/>
              <a:pathLst>
                <a:path h="4404795" w="14478465">
                  <a:moveTo>
                    <a:pt x="0" y="0"/>
                  </a:moveTo>
                  <a:lnTo>
                    <a:pt x="14478465" y="0"/>
                  </a:lnTo>
                  <a:lnTo>
                    <a:pt x="14478465" y="4404795"/>
                  </a:lnTo>
                  <a:lnTo>
                    <a:pt x="0" y="4404795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9316" r="-46516" b="-8362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14478462" cy="4423842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 spc="-1">
                  <a:solidFill>
                    <a:srgbClr val="E5E9F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Compare each steps training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11921576"/>
            <a:ext cx="3908517" cy="342357"/>
            <a:chOff x="0" y="0"/>
            <a:chExt cx="5211356" cy="45647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211360" cy="456480"/>
            </a:xfrm>
            <a:custGeom>
              <a:avLst/>
              <a:gdLst/>
              <a:ahLst/>
              <a:cxnLst/>
              <a:rect r="r" b="b" t="t" l="l"/>
              <a:pathLst>
                <a:path h="456480" w="5211360">
                  <a:moveTo>
                    <a:pt x="0" y="0"/>
                  </a:moveTo>
                  <a:lnTo>
                    <a:pt x="5211360" y="0"/>
                  </a:lnTo>
                  <a:lnTo>
                    <a:pt x="5211360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2449" r="0" b="-172448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5211356" cy="4945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~1M steps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5074920" y="11921576"/>
            <a:ext cx="3908517" cy="342357"/>
            <a:chOff x="0" y="0"/>
            <a:chExt cx="5211356" cy="45647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5211360" cy="456480"/>
            </a:xfrm>
            <a:custGeom>
              <a:avLst/>
              <a:gdLst/>
              <a:ahLst/>
              <a:cxnLst/>
              <a:rect r="r" b="b" t="t" l="l"/>
              <a:pathLst>
                <a:path h="456480" w="5211360">
                  <a:moveTo>
                    <a:pt x="0" y="0"/>
                  </a:moveTo>
                  <a:lnTo>
                    <a:pt x="5211360" y="0"/>
                  </a:lnTo>
                  <a:lnTo>
                    <a:pt x="5211360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2449" r="0" b="-172448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5211356" cy="4945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~4M steps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9326880" y="11921576"/>
            <a:ext cx="3908517" cy="342357"/>
            <a:chOff x="0" y="0"/>
            <a:chExt cx="5211356" cy="45647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5211360" cy="456480"/>
            </a:xfrm>
            <a:custGeom>
              <a:avLst/>
              <a:gdLst/>
              <a:ahLst/>
              <a:cxnLst/>
              <a:rect r="r" b="b" t="t" l="l"/>
              <a:pathLst>
                <a:path h="456480" w="5211360">
                  <a:moveTo>
                    <a:pt x="0" y="0"/>
                  </a:moveTo>
                  <a:lnTo>
                    <a:pt x="5211360" y="0"/>
                  </a:lnTo>
                  <a:lnTo>
                    <a:pt x="5211360" y="456480"/>
                  </a:lnTo>
                  <a:lnTo>
                    <a:pt x="0" y="4564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72449" r="0" b="-172448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38100"/>
              <a:ext cx="5211356" cy="49457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1709"/>
                </a:lnSpc>
              </a:pPr>
              <a:r>
                <a:rPr lang="en-US" sz="1425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Final best model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6911723" y="9710823"/>
            <a:ext cx="822417" cy="410937"/>
            <a:chOff x="0" y="0"/>
            <a:chExt cx="1096556" cy="547916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096560" cy="547920"/>
            </a:xfrm>
            <a:custGeom>
              <a:avLst/>
              <a:gdLst/>
              <a:ahLst/>
              <a:cxnLst/>
              <a:rect r="r" b="b" t="t" l="l"/>
              <a:pathLst>
                <a:path h="547920" w="1096560">
                  <a:moveTo>
                    <a:pt x="0" y="0"/>
                  </a:moveTo>
                  <a:lnTo>
                    <a:pt x="1096560" y="0"/>
                  </a:lnTo>
                  <a:lnTo>
                    <a:pt x="109656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09" t="0" r="-14109" b="0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38100"/>
              <a:ext cx="109655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9</a:t>
              </a:r>
            </a:p>
          </p:txBody>
        </p:sp>
      </p:grpSp>
      <p:sp>
        <p:nvSpPr>
          <p:cNvPr name="Freeform 20" id="20"/>
          <p:cNvSpPr/>
          <p:nvPr/>
        </p:nvSpPr>
        <p:spPr>
          <a:xfrm flipH="false" flipV="false" rot="0">
            <a:off x="0" y="4774946"/>
            <a:ext cx="4282277" cy="3996214"/>
          </a:xfrm>
          <a:custGeom>
            <a:avLst/>
            <a:gdLst/>
            <a:ahLst/>
            <a:cxnLst/>
            <a:rect r="r" b="b" t="t" l="l"/>
            <a:pathLst>
              <a:path h="3996214" w="4282277">
                <a:moveTo>
                  <a:pt x="0" y="0"/>
                </a:moveTo>
                <a:lnTo>
                  <a:pt x="4282277" y="0"/>
                </a:lnTo>
                <a:lnTo>
                  <a:pt x="4282277" y="3996214"/>
                </a:lnTo>
                <a:lnTo>
                  <a:pt x="0" y="3996214"/>
                </a:lnTo>
                <a:lnTo>
                  <a:pt x="0" y="0"/>
                </a:lnTo>
                <a:close/>
              </a:path>
            </a:pathLst>
          </a:custGeom>
          <a:blipFill>
            <a:blip r:embed="rId4"/>
            <a:stretch>
              <a:fillRect l="0" t="0" r="0" b="0"/>
            </a:stretch>
          </a:blipFill>
        </p:spPr>
      </p:sp>
      <p:grpSp>
        <p:nvGrpSpPr>
          <p:cNvPr name="Group 21" id="21"/>
          <p:cNvGrpSpPr/>
          <p:nvPr/>
        </p:nvGrpSpPr>
        <p:grpSpPr>
          <a:xfrm rot="0">
            <a:off x="454665" y="2072550"/>
            <a:ext cx="3745152" cy="2859296"/>
            <a:chOff x="0" y="0"/>
            <a:chExt cx="3656876" cy="2791900"/>
          </a:xfrm>
        </p:grpSpPr>
        <p:sp>
          <p:nvSpPr>
            <p:cNvPr name="Freeform 22" id="22"/>
            <p:cNvSpPr/>
            <p:nvPr/>
          </p:nvSpPr>
          <p:spPr>
            <a:xfrm flipH="false" flipV="false" rot="0">
              <a:off x="0" y="0"/>
              <a:ext cx="3656880" cy="2791904"/>
            </a:xfrm>
            <a:custGeom>
              <a:avLst/>
              <a:gdLst/>
              <a:ahLst/>
              <a:cxnLst/>
              <a:rect r="r" b="b" t="t" l="l"/>
              <a:pathLst>
                <a:path h="2791904" w="3656880">
                  <a:moveTo>
                    <a:pt x="0" y="0"/>
                  </a:moveTo>
                  <a:lnTo>
                    <a:pt x="3656880" y="0"/>
                  </a:lnTo>
                  <a:lnTo>
                    <a:pt x="3656880" y="2791904"/>
                  </a:lnTo>
                  <a:lnTo>
                    <a:pt x="0" y="27919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521" r="0" b="56477"/>
              </a:stretch>
            </a:blipFill>
          </p:spPr>
        </p:sp>
        <p:sp>
          <p:nvSpPr>
            <p:cNvPr name="TextBox 23" id="23"/>
            <p:cNvSpPr txBox="true"/>
            <p:nvPr/>
          </p:nvSpPr>
          <p:spPr>
            <a:xfrm>
              <a:off x="0" y="0"/>
              <a:ext cx="3656876" cy="27919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79"/>
                </a:lnSpc>
              </a:pPr>
              <a:r>
                <a:rPr lang="en-US" b="true" sz="3899" spc="-1">
                  <a:solidFill>
                    <a:srgbClr val="06D6A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1M steps</a:t>
              </a:r>
            </a:p>
          </p:txBody>
        </p:sp>
      </p:grpSp>
      <p:sp>
        <p:nvSpPr>
          <p:cNvPr name="Freeform 24" id="24"/>
          <p:cNvSpPr/>
          <p:nvPr/>
        </p:nvSpPr>
        <p:spPr>
          <a:xfrm flipH="false" flipV="false" rot="0">
            <a:off x="4669095" y="4774946"/>
            <a:ext cx="4282277" cy="3996214"/>
          </a:xfrm>
          <a:custGeom>
            <a:avLst/>
            <a:gdLst/>
            <a:ahLst/>
            <a:cxnLst/>
            <a:rect r="r" b="b" t="t" l="l"/>
            <a:pathLst>
              <a:path h="3996214" w="4282277">
                <a:moveTo>
                  <a:pt x="0" y="0"/>
                </a:moveTo>
                <a:lnTo>
                  <a:pt x="4282277" y="0"/>
                </a:lnTo>
                <a:lnTo>
                  <a:pt x="4282277" y="3996214"/>
                </a:lnTo>
                <a:lnTo>
                  <a:pt x="0" y="3996214"/>
                </a:lnTo>
                <a:lnTo>
                  <a:pt x="0" y="0"/>
                </a:lnTo>
                <a:close/>
              </a:path>
            </a:pathLst>
          </a:custGeom>
          <a:blipFill>
            <a:blip r:embed="rId5"/>
            <a:stretch>
              <a:fillRect l="0" t="0" r="0" b="0"/>
            </a:stretch>
          </a:blipFill>
        </p:spPr>
      </p:sp>
      <p:grpSp>
        <p:nvGrpSpPr>
          <p:cNvPr name="Group 25" id="25"/>
          <p:cNvGrpSpPr/>
          <p:nvPr/>
        </p:nvGrpSpPr>
        <p:grpSpPr>
          <a:xfrm rot="0">
            <a:off x="5529585" y="2072550"/>
            <a:ext cx="3745152" cy="2859296"/>
            <a:chOff x="0" y="0"/>
            <a:chExt cx="3656876" cy="2791900"/>
          </a:xfrm>
        </p:grpSpPr>
        <p:sp>
          <p:nvSpPr>
            <p:cNvPr name="Freeform 26" id="26"/>
            <p:cNvSpPr/>
            <p:nvPr/>
          </p:nvSpPr>
          <p:spPr>
            <a:xfrm flipH="false" flipV="false" rot="0">
              <a:off x="0" y="0"/>
              <a:ext cx="3656880" cy="2791904"/>
            </a:xfrm>
            <a:custGeom>
              <a:avLst/>
              <a:gdLst/>
              <a:ahLst/>
              <a:cxnLst/>
              <a:rect r="r" b="b" t="t" l="l"/>
              <a:pathLst>
                <a:path h="2791904" w="3656880">
                  <a:moveTo>
                    <a:pt x="0" y="0"/>
                  </a:moveTo>
                  <a:lnTo>
                    <a:pt x="3656880" y="0"/>
                  </a:lnTo>
                  <a:lnTo>
                    <a:pt x="3656880" y="2791904"/>
                  </a:lnTo>
                  <a:lnTo>
                    <a:pt x="0" y="27919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521" r="0" b="56477"/>
              </a:stretch>
            </a:blipFill>
          </p:spPr>
        </p:sp>
        <p:sp>
          <p:nvSpPr>
            <p:cNvPr name="TextBox 27" id="27"/>
            <p:cNvSpPr txBox="true"/>
            <p:nvPr/>
          </p:nvSpPr>
          <p:spPr>
            <a:xfrm>
              <a:off x="0" y="0"/>
              <a:ext cx="3656876" cy="27919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79"/>
                </a:lnSpc>
              </a:pPr>
              <a:r>
                <a:rPr lang="en-US" b="true" sz="3899" spc="-1">
                  <a:solidFill>
                    <a:srgbClr val="06D6A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2M steps</a:t>
              </a:r>
            </a:p>
          </p:txBody>
        </p:sp>
      </p:grpSp>
      <p:sp>
        <p:nvSpPr>
          <p:cNvPr name="Freeform 28" id="28"/>
          <p:cNvSpPr/>
          <p:nvPr/>
        </p:nvSpPr>
        <p:spPr>
          <a:xfrm flipH="false" flipV="false" rot="0">
            <a:off x="9336958" y="4774946"/>
            <a:ext cx="4283179" cy="3997056"/>
          </a:xfrm>
          <a:custGeom>
            <a:avLst/>
            <a:gdLst/>
            <a:ahLst/>
            <a:cxnLst/>
            <a:rect r="r" b="b" t="t" l="l"/>
            <a:pathLst>
              <a:path h="3997056" w="4283179">
                <a:moveTo>
                  <a:pt x="0" y="0"/>
                </a:moveTo>
                <a:lnTo>
                  <a:pt x="4283179" y="0"/>
                </a:lnTo>
                <a:lnTo>
                  <a:pt x="4283179" y="3997056"/>
                </a:lnTo>
                <a:lnTo>
                  <a:pt x="0" y="3997056"/>
                </a:lnTo>
                <a:lnTo>
                  <a:pt x="0" y="0"/>
                </a:lnTo>
                <a:close/>
              </a:path>
            </a:pathLst>
          </a:custGeom>
          <a:blipFill>
            <a:blip r:embed="rId6"/>
            <a:stretch>
              <a:fillRect l="0" t="0" r="0" b="0"/>
            </a:stretch>
          </a:blipFill>
        </p:spPr>
      </p:sp>
      <p:grpSp>
        <p:nvGrpSpPr>
          <p:cNvPr name="Group 29" id="29"/>
          <p:cNvGrpSpPr/>
          <p:nvPr/>
        </p:nvGrpSpPr>
        <p:grpSpPr>
          <a:xfrm rot="0">
            <a:off x="10603656" y="2072550"/>
            <a:ext cx="3745152" cy="2859296"/>
            <a:chOff x="0" y="0"/>
            <a:chExt cx="3656876" cy="279190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3656880" cy="2791904"/>
            </a:xfrm>
            <a:custGeom>
              <a:avLst/>
              <a:gdLst/>
              <a:ahLst/>
              <a:cxnLst/>
              <a:rect r="r" b="b" t="t" l="l"/>
              <a:pathLst>
                <a:path h="2791904" w="3656880">
                  <a:moveTo>
                    <a:pt x="0" y="0"/>
                  </a:moveTo>
                  <a:lnTo>
                    <a:pt x="3656880" y="0"/>
                  </a:lnTo>
                  <a:lnTo>
                    <a:pt x="3656880" y="2791904"/>
                  </a:lnTo>
                  <a:lnTo>
                    <a:pt x="0" y="27919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521" r="0" b="56477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0"/>
              <a:ext cx="3656876" cy="27919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79"/>
                </a:lnSpc>
              </a:pPr>
              <a:r>
                <a:rPr lang="en-US" b="true" sz="3899" spc="-1">
                  <a:solidFill>
                    <a:srgbClr val="06D6A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4M steps</a:t>
              </a:r>
            </a:p>
          </p:txBody>
        </p:sp>
      </p:grpSp>
      <p:sp>
        <p:nvSpPr>
          <p:cNvPr name="Freeform 32" id="32"/>
          <p:cNvSpPr/>
          <p:nvPr/>
        </p:nvSpPr>
        <p:spPr>
          <a:xfrm flipH="false" flipV="false" rot="0">
            <a:off x="14005723" y="4774946"/>
            <a:ext cx="4282277" cy="3996214"/>
          </a:xfrm>
          <a:custGeom>
            <a:avLst/>
            <a:gdLst/>
            <a:ahLst/>
            <a:cxnLst/>
            <a:rect r="r" b="b" t="t" l="l"/>
            <a:pathLst>
              <a:path h="3996214" w="4282277">
                <a:moveTo>
                  <a:pt x="0" y="0"/>
                </a:moveTo>
                <a:lnTo>
                  <a:pt x="4282277" y="0"/>
                </a:lnTo>
                <a:lnTo>
                  <a:pt x="4282277" y="3996214"/>
                </a:lnTo>
                <a:lnTo>
                  <a:pt x="0" y="3996214"/>
                </a:lnTo>
                <a:lnTo>
                  <a:pt x="0" y="0"/>
                </a:lnTo>
                <a:close/>
              </a:path>
            </a:pathLst>
          </a:custGeom>
          <a:blipFill>
            <a:blip r:embed="rId7"/>
            <a:stretch>
              <a:fillRect l="0" t="0" r="0" b="0"/>
            </a:stretch>
          </a:blipFill>
        </p:spPr>
      </p:sp>
      <p:grpSp>
        <p:nvGrpSpPr>
          <p:cNvPr name="Group 33" id="33"/>
          <p:cNvGrpSpPr/>
          <p:nvPr/>
        </p:nvGrpSpPr>
        <p:grpSpPr>
          <a:xfrm rot="0">
            <a:off x="14274285" y="2072550"/>
            <a:ext cx="3745152" cy="2859296"/>
            <a:chOff x="0" y="0"/>
            <a:chExt cx="3656876" cy="2791900"/>
          </a:xfrm>
        </p:grpSpPr>
        <p:sp>
          <p:nvSpPr>
            <p:cNvPr name="Freeform 34" id="34"/>
            <p:cNvSpPr/>
            <p:nvPr/>
          </p:nvSpPr>
          <p:spPr>
            <a:xfrm flipH="false" flipV="false" rot="0">
              <a:off x="0" y="0"/>
              <a:ext cx="3656880" cy="2791904"/>
            </a:xfrm>
            <a:custGeom>
              <a:avLst/>
              <a:gdLst/>
              <a:ahLst/>
              <a:cxnLst/>
              <a:rect r="r" b="b" t="t" l="l"/>
              <a:pathLst>
                <a:path h="2791904" w="3656880">
                  <a:moveTo>
                    <a:pt x="0" y="0"/>
                  </a:moveTo>
                  <a:lnTo>
                    <a:pt x="3656880" y="0"/>
                  </a:lnTo>
                  <a:lnTo>
                    <a:pt x="3656880" y="2791904"/>
                  </a:lnTo>
                  <a:lnTo>
                    <a:pt x="0" y="279190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7521" r="0" b="56477"/>
              </a:stretch>
            </a:blipFill>
          </p:spPr>
        </p:sp>
        <p:sp>
          <p:nvSpPr>
            <p:cNvPr name="TextBox 35" id="35"/>
            <p:cNvSpPr txBox="true"/>
            <p:nvPr/>
          </p:nvSpPr>
          <p:spPr>
            <a:xfrm>
              <a:off x="0" y="0"/>
              <a:ext cx="3656876" cy="2791900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ctr">
                <a:lnSpc>
                  <a:spcPts val="4679"/>
                </a:lnSpc>
              </a:pPr>
              <a:r>
                <a:rPr lang="en-US" b="true" sz="3899" spc="-1">
                  <a:solidFill>
                    <a:srgbClr val="06D6A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&gt;6M steps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11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480060"/>
            <a:ext cx="10972257" cy="410937"/>
            <a:chOff x="0" y="0"/>
            <a:chExt cx="14629676" cy="5479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29681" cy="547920"/>
            </a:xfrm>
            <a:custGeom>
              <a:avLst/>
              <a:gdLst/>
              <a:ahLst/>
              <a:cxnLst/>
              <a:rect r="r" b="b" t="t" l="l"/>
              <a:pathLst>
                <a:path h="547920" w="14629681">
                  <a:moveTo>
                    <a:pt x="0" y="0"/>
                  </a:moveTo>
                  <a:lnTo>
                    <a:pt x="14629681" y="0"/>
                  </a:lnTo>
                  <a:lnTo>
                    <a:pt x="14629681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0258" r="0" b="-47025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29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98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CONCLUSION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850497"/>
            <a:ext cx="15910017" cy="959577"/>
            <a:chOff x="0" y="0"/>
            <a:chExt cx="21213356" cy="12794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213359" cy="1279440"/>
            </a:xfrm>
            <a:custGeom>
              <a:avLst/>
              <a:gdLst/>
              <a:ahLst/>
              <a:cxnLst/>
              <a:rect r="r" b="b" t="t" l="l"/>
              <a:pathLst>
                <a:path h="1279440" w="21213359">
                  <a:moveTo>
                    <a:pt x="0" y="0"/>
                  </a:moveTo>
                  <a:lnTo>
                    <a:pt x="21213359" y="0"/>
                  </a:lnTo>
                  <a:lnTo>
                    <a:pt x="21213359" y="1279440"/>
                  </a:lnTo>
                  <a:lnTo>
                    <a:pt x="0" y="1279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65" r="0" b="-27306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213356" cy="12984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 spc="-1">
                  <a:solidFill>
                    <a:srgbClr val="E5E9F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Results achieved &amp; directions for improvement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2400300"/>
            <a:ext cx="8091897" cy="6308817"/>
            <a:chOff x="0" y="0"/>
            <a:chExt cx="10789196" cy="841175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10789286" cy="8411845"/>
            </a:xfrm>
            <a:custGeom>
              <a:avLst/>
              <a:gdLst/>
              <a:ahLst/>
              <a:cxnLst/>
              <a:rect r="r" b="b" t="t" l="l"/>
              <a:pathLst>
                <a:path h="8411845" w="1078928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642981" y="0"/>
                  </a:lnTo>
                  <a:cubicBezTo>
                    <a:pt x="10723753" y="0"/>
                    <a:pt x="10789286" y="65532"/>
                    <a:pt x="10789286" y="146304"/>
                  </a:cubicBezTo>
                  <a:lnTo>
                    <a:pt x="10789286" y="8265541"/>
                  </a:lnTo>
                  <a:cubicBezTo>
                    <a:pt x="10789286" y="8346313"/>
                    <a:pt x="10723753" y="8411845"/>
                    <a:pt x="10642981" y="8411845"/>
                  </a:cubicBezTo>
                  <a:lnTo>
                    <a:pt x="146304" y="8411845"/>
                  </a:lnTo>
                  <a:cubicBezTo>
                    <a:pt x="65532" y="8411718"/>
                    <a:pt x="0" y="8346313"/>
                    <a:pt x="0" y="8265541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234440" y="2743200"/>
            <a:ext cx="1096737" cy="1096737"/>
            <a:chOff x="0" y="0"/>
            <a:chExt cx="1462316" cy="146231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462278" cy="1462278"/>
            </a:xfrm>
            <a:custGeom>
              <a:avLst/>
              <a:gdLst/>
              <a:ahLst/>
              <a:cxnLst/>
              <a:rect r="r" b="b" t="t" l="l"/>
              <a:pathLst>
                <a:path h="1462278" w="1462278">
                  <a:moveTo>
                    <a:pt x="0" y="731139"/>
                  </a:moveTo>
                  <a:cubicBezTo>
                    <a:pt x="0" y="327406"/>
                    <a:pt x="327406" y="0"/>
                    <a:pt x="731139" y="0"/>
                  </a:cubicBezTo>
                  <a:cubicBezTo>
                    <a:pt x="1134872" y="0"/>
                    <a:pt x="1462278" y="327406"/>
                    <a:pt x="1462278" y="731139"/>
                  </a:cubicBezTo>
                  <a:cubicBezTo>
                    <a:pt x="1462278" y="1134872"/>
                    <a:pt x="1134872" y="1462278"/>
                    <a:pt x="731139" y="1462278"/>
                  </a:cubicBezTo>
                  <a:cubicBezTo>
                    <a:pt x="327406" y="1462278"/>
                    <a:pt x="0" y="1134999"/>
                    <a:pt x="0" y="73113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497959" y="3006719"/>
            <a:ext cx="570243" cy="570243"/>
            <a:chOff x="0" y="0"/>
            <a:chExt cx="760324" cy="760324"/>
          </a:xfrm>
        </p:grpSpPr>
        <p:sp>
          <p:nvSpPr>
            <p:cNvPr name="Freeform 13" id="13" descr="/tmp/claude-1000/-media-hung-Work-Project-AI-Engineer-RL-contra-PPO/70c7dc7d-8f3f-4139-8f25-95b0e9e6dca5/scratchpad/build/icons/trophy.png"/>
            <p:cNvSpPr/>
            <p:nvPr/>
          </p:nvSpPr>
          <p:spPr>
            <a:xfrm flipH="false" flipV="false" rot="0">
              <a:off x="0" y="0"/>
              <a:ext cx="760349" cy="760349"/>
            </a:xfrm>
            <a:custGeom>
              <a:avLst/>
              <a:gdLst/>
              <a:ahLst/>
              <a:cxnLst/>
              <a:rect r="r" b="b" t="t" l="l"/>
              <a:pathLst>
                <a:path h="760349" w="760349">
                  <a:moveTo>
                    <a:pt x="0" y="0"/>
                  </a:moveTo>
                  <a:lnTo>
                    <a:pt x="760349" y="0"/>
                  </a:lnTo>
                  <a:lnTo>
                    <a:pt x="760349" y="760349"/>
                  </a:lnTo>
                  <a:lnTo>
                    <a:pt x="0" y="7603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3" b="3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561779" y="3006719"/>
            <a:ext cx="5485857" cy="595572"/>
            <a:chOff x="0" y="0"/>
            <a:chExt cx="7314476" cy="79409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7314480" cy="794100"/>
            </a:xfrm>
            <a:custGeom>
              <a:avLst/>
              <a:gdLst/>
              <a:ahLst/>
              <a:cxnLst/>
              <a:rect r="r" b="b" t="t" l="l"/>
              <a:pathLst>
                <a:path h="794100" w="7314480">
                  <a:moveTo>
                    <a:pt x="0" y="0"/>
                  </a:moveTo>
                  <a:lnTo>
                    <a:pt x="7314480" y="0"/>
                  </a:lnTo>
                  <a:lnTo>
                    <a:pt x="7314480" y="794100"/>
                  </a:lnTo>
                  <a:lnTo>
                    <a:pt x="0" y="7941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3463" r="0" b="-125491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7314476" cy="85124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99"/>
                </a:lnSpc>
              </a:pPr>
              <a:r>
                <a:rPr lang="en-US" b="true" sz="2999" spc="-1">
                  <a:solidFill>
                    <a:srgbClr val="06D6A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Achieved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1234440" y="4841643"/>
            <a:ext cx="123120" cy="123120"/>
            <a:chOff x="0" y="0"/>
            <a:chExt cx="164160" cy="1641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64084" cy="164084"/>
            </a:xfrm>
            <a:custGeom>
              <a:avLst/>
              <a:gdLst/>
              <a:ahLst/>
              <a:cxnLst/>
              <a:rect r="r" b="b" t="t" l="l"/>
              <a:pathLst>
                <a:path h="164084" w="164084">
                  <a:moveTo>
                    <a:pt x="0" y="82042"/>
                  </a:moveTo>
                  <a:cubicBezTo>
                    <a:pt x="0" y="36703"/>
                    <a:pt x="36703" y="0"/>
                    <a:pt x="82042" y="0"/>
                  </a:cubicBezTo>
                  <a:cubicBezTo>
                    <a:pt x="127381" y="0"/>
                    <a:pt x="164084" y="36703"/>
                    <a:pt x="164084" y="82042"/>
                  </a:cubicBezTo>
                  <a:cubicBezTo>
                    <a:pt x="164084" y="127381"/>
                    <a:pt x="127381" y="164084"/>
                    <a:pt x="82042" y="164084"/>
                  </a:cubicBezTo>
                  <a:cubicBezTo>
                    <a:pt x="36703" y="164084"/>
                    <a:pt x="0" y="127381"/>
                    <a:pt x="0" y="82042"/>
                  </a:cubicBezTo>
                  <a:close/>
                </a:path>
              </a:pathLst>
            </a:custGeom>
            <a:solidFill>
              <a:srgbClr val="06D6A0"/>
            </a:solidFill>
          </p:spPr>
        </p:sp>
      </p:grpSp>
      <p:sp>
        <p:nvSpPr>
          <p:cNvPr name="TextBox 19" id="19"/>
          <p:cNvSpPr txBox="true"/>
          <p:nvPr/>
        </p:nvSpPr>
        <p:spPr>
          <a:xfrm rot="0">
            <a:off x="1577340" y="4554693"/>
            <a:ext cx="6926037" cy="842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8"/>
              </a:lnSpc>
            </a:pPr>
            <a:r>
              <a:rPr lang="en-US" sz="2324" spc="-2">
                <a:solidFill>
                  <a:srgbClr val="E5E9F0"/>
                </a:solidFill>
                <a:latin typeface="Calibri (MS)"/>
                <a:ea typeface="Calibri (MS)"/>
                <a:cs typeface="Calibri (MS)"/>
                <a:sym typeface="Calibri (MS)"/>
              </a:rPr>
              <a:t>Complete Gymnasium + SB3 pipeline: env, wrapper, train, eval, resume.</a:t>
            </a:r>
          </a:p>
        </p:txBody>
      </p:sp>
      <p:grpSp>
        <p:nvGrpSpPr>
          <p:cNvPr name="Group 20" id="20"/>
          <p:cNvGrpSpPr/>
          <p:nvPr/>
        </p:nvGrpSpPr>
        <p:grpSpPr>
          <a:xfrm rot="0">
            <a:off x="1234440" y="5829310"/>
            <a:ext cx="123120" cy="123120"/>
            <a:chOff x="0" y="0"/>
            <a:chExt cx="164160" cy="164160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164084" cy="164084"/>
            </a:xfrm>
            <a:custGeom>
              <a:avLst/>
              <a:gdLst/>
              <a:ahLst/>
              <a:cxnLst/>
              <a:rect r="r" b="b" t="t" l="l"/>
              <a:pathLst>
                <a:path h="164084" w="164084">
                  <a:moveTo>
                    <a:pt x="0" y="82042"/>
                  </a:moveTo>
                  <a:cubicBezTo>
                    <a:pt x="0" y="36703"/>
                    <a:pt x="36703" y="0"/>
                    <a:pt x="82042" y="0"/>
                  </a:cubicBezTo>
                  <a:cubicBezTo>
                    <a:pt x="127381" y="0"/>
                    <a:pt x="164084" y="36703"/>
                    <a:pt x="164084" y="82042"/>
                  </a:cubicBezTo>
                  <a:cubicBezTo>
                    <a:pt x="164084" y="127381"/>
                    <a:pt x="127381" y="164084"/>
                    <a:pt x="82042" y="164084"/>
                  </a:cubicBezTo>
                  <a:cubicBezTo>
                    <a:pt x="36703" y="164084"/>
                    <a:pt x="0" y="127381"/>
                    <a:pt x="0" y="82042"/>
                  </a:cubicBezTo>
                  <a:close/>
                </a:path>
              </a:pathLst>
            </a:custGeom>
            <a:solidFill>
              <a:srgbClr val="06D6A0"/>
            </a:solidFill>
          </p:spPr>
        </p:sp>
      </p:grpSp>
      <p:sp>
        <p:nvSpPr>
          <p:cNvPr name="TextBox 22" id="22"/>
          <p:cNvSpPr txBox="true"/>
          <p:nvPr/>
        </p:nvSpPr>
        <p:spPr>
          <a:xfrm rot="0">
            <a:off x="1577340" y="5542359"/>
            <a:ext cx="6926037" cy="842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8"/>
              </a:lnSpc>
            </a:pPr>
            <a:r>
              <a:rPr lang="en-US" sz="2324" spc="-2">
                <a:solidFill>
                  <a:srgbClr val="E5E9F0"/>
                </a:solidFill>
                <a:latin typeface="Calibri (MS)"/>
                <a:ea typeface="Calibri (MS)"/>
                <a:cs typeface="Calibri (MS)"/>
                <a:sym typeface="Calibri (MS)"/>
              </a:rPr>
              <a:t>A multi-component reward function that effectively curbs backing up/standing still/farming score.</a:t>
            </a:r>
          </a:p>
        </p:txBody>
      </p:sp>
      <p:grpSp>
        <p:nvGrpSpPr>
          <p:cNvPr name="Group 23" id="23"/>
          <p:cNvGrpSpPr/>
          <p:nvPr/>
        </p:nvGrpSpPr>
        <p:grpSpPr>
          <a:xfrm rot="0">
            <a:off x="1234440" y="6816966"/>
            <a:ext cx="123120" cy="123120"/>
            <a:chOff x="0" y="0"/>
            <a:chExt cx="164160" cy="164160"/>
          </a:xfrm>
        </p:grpSpPr>
        <p:sp>
          <p:nvSpPr>
            <p:cNvPr name="Freeform 24" id="24"/>
            <p:cNvSpPr/>
            <p:nvPr/>
          </p:nvSpPr>
          <p:spPr>
            <a:xfrm flipH="false" flipV="false" rot="0">
              <a:off x="0" y="0"/>
              <a:ext cx="164084" cy="164084"/>
            </a:xfrm>
            <a:custGeom>
              <a:avLst/>
              <a:gdLst/>
              <a:ahLst/>
              <a:cxnLst/>
              <a:rect r="r" b="b" t="t" l="l"/>
              <a:pathLst>
                <a:path h="164084" w="164084">
                  <a:moveTo>
                    <a:pt x="0" y="82042"/>
                  </a:moveTo>
                  <a:cubicBezTo>
                    <a:pt x="0" y="36703"/>
                    <a:pt x="36703" y="0"/>
                    <a:pt x="82042" y="0"/>
                  </a:cubicBezTo>
                  <a:cubicBezTo>
                    <a:pt x="127381" y="0"/>
                    <a:pt x="164084" y="36703"/>
                    <a:pt x="164084" y="82042"/>
                  </a:cubicBezTo>
                  <a:cubicBezTo>
                    <a:pt x="164084" y="127381"/>
                    <a:pt x="127381" y="164084"/>
                    <a:pt x="82042" y="164084"/>
                  </a:cubicBezTo>
                  <a:cubicBezTo>
                    <a:pt x="36703" y="164084"/>
                    <a:pt x="0" y="127381"/>
                    <a:pt x="0" y="82042"/>
                  </a:cubicBezTo>
                  <a:close/>
                </a:path>
              </a:pathLst>
            </a:custGeom>
            <a:solidFill>
              <a:srgbClr val="06D6A0"/>
            </a:solidFill>
          </p:spPr>
        </p:sp>
      </p:grpSp>
      <p:sp>
        <p:nvSpPr>
          <p:cNvPr name="TextBox 25" id="25"/>
          <p:cNvSpPr txBox="true"/>
          <p:nvPr/>
        </p:nvSpPr>
        <p:spPr>
          <a:xfrm rot="0">
            <a:off x="1577340" y="6529473"/>
            <a:ext cx="6926037" cy="842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8"/>
              </a:lnSpc>
            </a:pPr>
            <a:r>
              <a:rPr lang="en-US" sz="2324" spc="-2">
                <a:solidFill>
                  <a:srgbClr val="E5E9F0"/>
                </a:solidFill>
                <a:latin typeface="Calibri (MS)"/>
                <a:ea typeface="Calibri (MS)"/>
                <a:cs typeface="Calibri (MS)"/>
                <a:sym typeface="Calibri (MS)"/>
              </a:rPr>
              <a:t>Robust-best evaluation picks a stable checkpoint instead of a lucky one.</a:t>
            </a:r>
          </a:p>
        </p:txBody>
      </p:sp>
      <p:grpSp>
        <p:nvGrpSpPr>
          <p:cNvPr name="Group 26" id="26"/>
          <p:cNvGrpSpPr/>
          <p:nvPr/>
        </p:nvGrpSpPr>
        <p:grpSpPr>
          <a:xfrm rot="0">
            <a:off x="1234440" y="7804623"/>
            <a:ext cx="123120" cy="123120"/>
            <a:chOff x="0" y="0"/>
            <a:chExt cx="164160" cy="164160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64084" cy="164084"/>
            </a:xfrm>
            <a:custGeom>
              <a:avLst/>
              <a:gdLst/>
              <a:ahLst/>
              <a:cxnLst/>
              <a:rect r="r" b="b" t="t" l="l"/>
              <a:pathLst>
                <a:path h="164084" w="164084">
                  <a:moveTo>
                    <a:pt x="0" y="82042"/>
                  </a:moveTo>
                  <a:cubicBezTo>
                    <a:pt x="0" y="36703"/>
                    <a:pt x="36703" y="0"/>
                    <a:pt x="82042" y="0"/>
                  </a:cubicBezTo>
                  <a:cubicBezTo>
                    <a:pt x="127381" y="0"/>
                    <a:pt x="164084" y="36703"/>
                    <a:pt x="164084" y="82042"/>
                  </a:cubicBezTo>
                  <a:cubicBezTo>
                    <a:pt x="164084" y="127381"/>
                    <a:pt x="127381" y="164084"/>
                    <a:pt x="82042" y="164084"/>
                  </a:cubicBezTo>
                  <a:cubicBezTo>
                    <a:pt x="36703" y="164084"/>
                    <a:pt x="0" y="127381"/>
                    <a:pt x="0" y="82042"/>
                  </a:cubicBezTo>
                  <a:close/>
                </a:path>
              </a:pathLst>
            </a:custGeom>
            <a:solidFill>
              <a:srgbClr val="06D6A0"/>
            </a:solidFill>
          </p:spPr>
        </p:sp>
      </p:grpSp>
      <p:sp>
        <p:nvSpPr>
          <p:cNvPr name="TextBox 28" id="28"/>
          <p:cNvSpPr txBox="true"/>
          <p:nvPr/>
        </p:nvSpPr>
        <p:spPr>
          <a:xfrm rot="0">
            <a:off x="1577340" y="7517140"/>
            <a:ext cx="6926037" cy="842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8"/>
              </a:lnSpc>
            </a:pPr>
            <a:r>
              <a:rPr lang="en-US" sz="2324" spc="-2">
                <a:solidFill>
                  <a:srgbClr val="E5E9F0"/>
                </a:solidFill>
                <a:latin typeface="Calibri (MS)"/>
                <a:ea typeface="Calibri (MS)"/>
                <a:cs typeface="Calibri (MS)"/>
                <a:sym typeface="Calibri (MS)"/>
              </a:rPr>
              <a:t>The agent clearly improves over timesteps: ep_rew_mean rises from ~587 (0.5M) to ~933 (6.6M).</a:t>
            </a:r>
          </a:p>
        </p:txBody>
      </p:sp>
      <p:grpSp>
        <p:nvGrpSpPr>
          <p:cNvPr name="Group 29" id="29"/>
          <p:cNvGrpSpPr/>
          <p:nvPr/>
        </p:nvGrpSpPr>
        <p:grpSpPr>
          <a:xfrm rot="0">
            <a:off x="9367923" y="2400300"/>
            <a:ext cx="8091897" cy="6308817"/>
            <a:chOff x="0" y="0"/>
            <a:chExt cx="10789196" cy="8411756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0789286" cy="8411845"/>
            </a:xfrm>
            <a:custGeom>
              <a:avLst/>
              <a:gdLst/>
              <a:ahLst/>
              <a:cxnLst/>
              <a:rect r="r" b="b" t="t" l="l"/>
              <a:pathLst>
                <a:path h="8411845" w="10789286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10642981" y="0"/>
                  </a:lnTo>
                  <a:cubicBezTo>
                    <a:pt x="10723753" y="0"/>
                    <a:pt x="10789286" y="65532"/>
                    <a:pt x="10789286" y="146304"/>
                  </a:cubicBezTo>
                  <a:lnTo>
                    <a:pt x="10789286" y="8265541"/>
                  </a:lnTo>
                  <a:cubicBezTo>
                    <a:pt x="10789286" y="8346313"/>
                    <a:pt x="10723753" y="8411845"/>
                    <a:pt x="10642981" y="8411845"/>
                  </a:cubicBezTo>
                  <a:lnTo>
                    <a:pt x="146304" y="8411845"/>
                  </a:lnTo>
                  <a:cubicBezTo>
                    <a:pt x="65532" y="8411718"/>
                    <a:pt x="0" y="8346313"/>
                    <a:pt x="0" y="8265541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31" id="31"/>
          <p:cNvGrpSpPr/>
          <p:nvPr/>
        </p:nvGrpSpPr>
        <p:grpSpPr>
          <a:xfrm rot="0">
            <a:off x="9779403" y="2743200"/>
            <a:ext cx="1096737" cy="1096737"/>
            <a:chOff x="0" y="0"/>
            <a:chExt cx="1462316" cy="1462316"/>
          </a:xfrm>
        </p:grpSpPr>
        <p:sp>
          <p:nvSpPr>
            <p:cNvPr name="Freeform 32" id="32"/>
            <p:cNvSpPr/>
            <p:nvPr/>
          </p:nvSpPr>
          <p:spPr>
            <a:xfrm flipH="false" flipV="false" rot="0">
              <a:off x="0" y="0"/>
              <a:ext cx="1462278" cy="1462278"/>
            </a:xfrm>
            <a:custGeom>
              <a:avLst/>
              <a:gdLst/>
              <a:ahLst/>
              <a:cxnLst/>
              <a:rect r="r" b="b" t="t" l="l"/>
              <a:pathLst>
                <a:path h="1462278" w="1462278">
                  <a:moveTo>
                    <a:pt x="0" y="731139"/>
                  </a:moveTo>
                  <a:cubicBezTo>
                    <a:pt x="0" y="327406"/>
                    <a:pt x="327406" y="0"/>
                    <a:pt x="731139" y="0"/>
                  </a:cubicBezTo>
                  <a:cubicBezTo>
                    <a:pt x="1134872" y="0"/>
                    <a:pt x="1462278" y="327406"/>
                    <a:pt x="1462278" y="731139"/>
                  </a:cubicBezTo>
                  <a:cubicBezTo>
                    <a:pt x="1462278" y="1134872"/>
                    <a:pt x="1134872" y="1462278"/>
                    <a:pt x="731139" y="1462278"/>
                  </a:cubicBezTo>
                  <a:cubicBezTo>
                    <a:pt x="327406" y="1462278"/>
                    <a:pt x="0" y="1134999"/>
                    <a:pt x="0" y="73113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33" id="33"/>
          <p:cNvGrpSpPr/>
          <p:nvPr/>
        </p:nvGrpSpPr>
        <p:grpSpPr>
          <a:xfrm rot="0">
            <a:off x="10042922" y="3006719"/>
            <a:ext cx="570243" cy="570243"/>
            <a:chOff x="0" y="0"/>
            <a:chExt cx="760324" cy="760324"/>
          </a:xfrm>
        </p:grpSpPr>
        <p:sp>
          <p:nvSpPr>
            <p:cNvPr name="Freeform 34" id="34" descr="/tmp/claude-1000/-media-hung-Work-Project-AI-Engineer-RL-contra-PPO/70c7dc7d-8f3f-4139-8f25-95b0e9e6dca5/scratchpad/build/icons/lightbulb.png"/>
            <p:cNvSpPr/>
            <p:nvPr/>
          </p:nvSpPr>
          <p:spPr>
            <a:xfrm flipH="false" flipV="false" rot="0">
              <a:off x="0" y="0"/>
              <a:ext cx="760349" cy="760349"/>
            </a:xfrm>
            <a:custGeom>
              <a:avLst/>
              <a:gdLst/>
              <a:ahLst/>
              <a:cxnLst/>
              <a:rect r="r" b="b" t="t" l="l"/>
              <a:pathLst>
                <a:path h="760349" w="760349">
                  <a:moveTo>
                    <a:pt x="0" y="0"/>
                  </a:moveTo>
                  <a:lnTo>
                    <a:pt x="760349" y="0"/>
                  </a:lnTo>
                  <a:lnTo>
                    <a:pt x="760349" y="760349"/>
                  </a:lnTo>
                  <a:lnTo>
                    <a:pt x="0" y="760349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3" b="3"/>
              </a:stretch>
            </a:blipFill>
          </p:spPr>
        </p:sp>
      </p:grpSp>
      <p:grpSp>
        <p:nvGrpSpPr>
          <p:cNvPr name="Group 35" id="35"/>
          <p:cNvGrpSpPr/>
          <p:nvPr/>
        </p:nvGrpSpPr>
        <p:grpSpPr>
          <a:xfrm rot="0">
            <a:off x="11104740" y="3006719"/>
            <a:ext cx="5485857" cy="595572"/>
            <a:chOff x="0" y="0"/>
            <a:chExt cx="7314476" cy="794096"/>
          </a:xfrm>
        </p:grpSpPr>
        <p:sp>
          <p:nvSpPr>
            <p:cNvPr name="Freeform 36" id="36"/>
            <p:cNvSpPr/>
            <p:nvPr/>
          </p:nvSpPr>
          <p:spPr>
            <a:xfrm flipH="false" flipV="false" rot="0">
              <a:off x="0" y="0"/>
              <a:ext cx="7314480" cy="794100"/>
            </a:xfrm>
            <a:custGeom>
              <a:avLst/>
              <a:gdLst/>
              <a:ahLst/>
              <a:cxnLst/>
              <a:rect r="r" b="b" t="t" l="l"/>
              <a:pathLst>
                <a:path h="794100" w="7314480">
                  <a:moveTo>
                    <a:pt x="0" y="0"/>
                  </a:moveTo>
                  <a:lnTo>
                    <a:pt x="7314480" y="0"/>
                  </a:lnTo>
                  <a:lnTo>
                    <a:pt x="7314480" y="794100"/>
                  </a:lnTo>
                  <a:lnTo>
                    <a:pt x="0" y="7941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33463" r="0" b="-125491"/>
              </a:stretch>
            </a:blipFill>
          </p:spPr>
        </p:sp>
        <p:sp>
          <p:nvSpPr>
            <p:cNvPr name="TextBox 37" id="37"/>
            <p:cNvSpPr txBox="true"/>
            <p:nvPr/>
          </p:nvSpPr>
          <p:spPr>
            <a:xfrm>
              <a:off x="0" y="-57150"/>
              <a:ext cx="7314476" cy="85124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599"/>
                </a:lnSpc>
              </a:pPr>
              <a:r>
                <a:rPr lang="en-US" b="true" sz="2999" spc="-1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Directions for improvement</a:t>
              </a:r>
            </a:p>
          </p:txBody>
        </p:sp>
      </p:grpSp>
      <p:grpSp>
        <p:nvGrpSpPr>
          <p:cNvPr name="Group 38" id="38"/>
          <p:cNvGrpSpPr/>
          <p:nvPr/>
        </p:nvGrpSpPr>
        <p:grpSpPr>
          <a:xfrm rot="0">
            <a:off x="9779403" y="4838338"/>
            <a:ext cx="123120" cy="123120"/>
            <a:chOff x="0" y="0"/>
            <a:chExt cx="164160" cy="164160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64084" cy="164084"/>
            </a:xfrm>
            <a:custGeom>
              <a:avLst/>
              <a:gdLst/>
              <a:ahLst/>
              <a:cxnLst/>
              <a:rect r="r" b="b" t="t" l="l"/>
              <a:pathLst>
                <a:path h="164084" w="164084">
                  <a:moveTo>
                    <a:pt x="0" y="82042"/>
                  </a:moveTo>
                  <a:cubicBezTo>
                    <a:pt x="0" y="36703"/>
                    <a:pt x="36703" y="0"/>
                    <a:pt x="82042" y="0"/>
                  </a:cubicBezTo>
                  <a:cubicBezTo>
                    <a:pt x="127381" y="0"/>
                    <a:pt x="164084" y="36703"/>
                    <a:pt x="164084" y="82042"/>
                  </a:cubicBezTo>
                  <a:cubicBezTo>
                    <a:pt x="164084" y="127381"/>
                    <a:pt x="127381" y="164084"/>
                    <a:pt x="82042" y="164084"/>
                  </a:cubicBezTo>
                  <a:cubicBezTo>
                    <a:pt x="36703" y="164084"/>
                    <a:pt x="0" y="127381"/>
                    <a:pt x="0" y="82042"/>
                  </a:cubicBezTo>
                  <a:close/>
                </a:path>
              </a:pathLst>
            </a:custGeom>
            <a:solidFill>
              <a:srgbClr val="FFB703"/>
            </a:solidFill>
          </p:spPr>
        </p:sp>
      </p:grpSp>
      <p:sp>
        <p:nvSpPr>
          <p:cNvPr name="TextBox 40" id="40"/>
          <p:cNvSpPr txBox="true"/>
          <p:nvPr/>
        </p:nvSpPr>
        <p:spPr>
          <a:xfrm rot="0">
            <a:off x="10122303" y="4354668"/>
            <a:ext cx="6926037" cy="12422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8"/>
              </a:lnSpc>
            </a:pPr>
            <a:r>
              <a:rPr lang="en-US" sz="2324" spc="-2">
                <a:solidFill>
                  <a:srgbClr val="E5E9F0"/>
                </a:solidFill>
                <a:latin typeface="Calibri (MS)"/>
                <a:ea typeface="Calibri (MS)"/>
                <a:cs typeface="Calibri (MS)"/>
                <a:sym typeface="Calibri (MS)"/>
              </a:rPr>
              <a:t>Reward tuning: rebalance the progress/score/stagnation weights to reduce ep_rew_mean fluctuation around the 5–6M mark.</a:t>
            </a:r>
          </a:p>
        </p:txBody>
      </p:sp>
      <p:grpSp>
        <p:nvGrpSpPr>
          <p:cNvPr name="Group 41" id="41"/>
          <p:cNvGrpSpPr/>
          <p:nvPr/>
        </p:nvGrpSpPr>
        <p:grpSpPr>
          <a:xfrm rot="0">
            <a:off x="9779403" y="5908624"/>
            <a:ext cx="123120" cy="123120"/>
            <a:chOff x="0" y="0"/>
            <a:chExt cx="164160" cy="16416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64084" cy="164084"/>
            </a:xfrm>
            <a:custGeom>
              <a:avLst/>
              <a:gdLst/>
              <a:ahLst/>
              <a:cxnLst/>
              <a:rect r="r" b="b" t="t" l="l"/>
              <a:pathLst>
                <a:path h="164084" w="164084">
                  <a:moveTo>
                    <a:pt x="0" y="82042"/>
                  </a:moveTo>
                  <a:cubicBezTo>
                    <a:pt x="0" y="36703"/>
                    <a:pt x="36703" y="0"/>
                    <a:pt x="82042" y="0"/>
                  </a:cubicBezTo>
                  <a:cubicBezTo>
                    <a:pt x="127381" y="0"/>
                    <a:pt x="164084" y="36703"/>
                    <a:pt x="164084" y="82042"/>
                  </a:cubicBezTo>
                  <a:cubicBezTo>
                    <a:pt x="164084" y="127381"/>
                    <a:pt x="127381" y="164084"/>
                    <a:pt x="82042" y="164084"/>
                  </a:cubicBezTo>
                  <a:cubicBezTo>
                    <a:pt x="36703" y="164084"/>
                    <a:pt x="0" y="127381"/>
                    <a:pt x="0" y="82042"/>
                  </a:cubicBezTo>
                  <a:close/>
                </a:path>
              </a:pathLst>
            </a:custGeom>
            <a:solidFill>
              <a:srgbClr val="FFB703"/>
            </a:solidFill>
          </p:spPr>
        </p:sp>
      </p:grpSp>
      <p:sp>
        <p:nvSpPr>
          <p:cNvPr name="TextBox 43" id="43"/>
          <p:cNvSpPr txBox="true"/>
          <p:nvPr/>
        </p:nvSpPr>
        <p:spPr>
          <a:xfrm rot="0">
            <a:off x="10121598" y="5734060"/>
            <a:ext cx="6926037" cy="842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8"/>
              </a:lnSpc>
            </a:pPr>
            <a:r>
              <a:rPr lang="en-US" sz="2324" spc="-2">
                <a:solidFill>
                  <a:srgbClr val="E5E9F0"/>
                </a:solidFill>
                <a:latin typeface="Calibri (MS)"/>
                <a:ea typeface="Calibri (MS)"/>
                <a:cs typeface="Calibri (MS)"/>
                <a:sym typeface="Calibri (MS)"/>
              </a:rPr>
              <a:t>Longer training / more seeds to assess stability beyond Stage 1.</a:t>
            </a:r>
          </a:p>
        </p:txBody>
      </p:sp>
      <p:grpSp>
        <p:nvGrpSpPr>
          <p:cNvPr name="Group 44" id="44"/>
          <p:cNvGrpSpPr/>
          <p:nvPr/>
        </p:nvGrpSpPr>
        <p:grpSpPr>
          <a:xfrm rot="0">
            <a:off x="9779403" y="6978358"/>
            <a:ext cx="123120" cy="123120"/>
            <a:chOff x="0" y="0"/>
            <a:chExt cx="164160" cy="164160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164084" cy="164084"/>
            </a:xfrm>
            <a:custGeom>
              <a:avLst/>
              <a:gdLst/>
              <a:ahLst/>
              <a:cxnLst/>
              <a:rect r="r" b="b" t="t" l="l"/>
              <a:pathLst>
                <a:path h="164084" w="164084">
                  <a:moveTo>
                    <a:pt x="0" y="82042"/>
                  </a:moveTo>
                  <a:cubicBezTo>
                    <a:pt x="0" y="36703"/>
                    <a:pt x="36703" y="0"/>
                    <a:pt x="82042" y="0"/>
                  </a:cubicBezTo>
                  <a:cubicBezTo>
                    <a:pt x="127381" y="0"/>
                    <a:pt x="164084" y="36703"/>
                    <a:pt x="164084" y="82042"/>
                  </a:cubicBezTo>
                  <a:cubicBezTo>
                    <a:pt x="164084" y="127381"/>
                    <a:pt x="127381" y="164084"/>
                    <a:pt x="82042" y="164084"/>
                  </a:cubicBezTo>
                  <a:cubicBezTo>
                    <a:pt x="36703" y="164084"/>
                    <a:pt x="0" y="127381"/>
                    <a:pt x="0" y="82042"/>
                  </a:cubicBezTo>
                  <a:close/>
                </a:path>
              </a:pathLst>
            </a:custGeom>
            <a:solidFill>
              <a:srgbClr val="FFB703"/>
            </a:solidFill>
          </p:spPr>
        </p:sp>
      </p:grpSp>
      <p:sp>
        <p:nvSpPr>
          <p:cNvPr name="TextBox 46" id="46"/>
          <p:cNvSpPr txBox="true"/>
          <p:nvPr/>
        </p:nvSpPr>
        <p:spPr>
          <a:xfrm rot="0">
            <a:off x="10122303" y="6832777"/>
            <a:ext cx="6926037" cy="44215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8"/>
              </a:lnSpc>
            </a:pPr>
            <a:r>
              <a:rPr lang="en-US" sz="2324" spc="-2">
                <a:solidFill>
                  <a:srgbClr val="E5E9F0"/>
                </a:solidFill>
                <a:latin typeface="Calibri (MS)"/>
                <a:ea typeface="Calibri (MS)"/>
                <a:cs typeface="Calibri (MS)"/>
                <a:sym typeface="Calibri (MS)"/>
              </a:rPr>
              <a:t>Extend to later stages instead of just the Stage 1 boss.</a:t>
            </a:r>
          </a:p>
        </p:txBody>
      </p:sp>
      <p:grpSp>
        <p:nvGrpSpPr>
          <p:cNvPr name="Group 47" id="47"/>
          <p:cNvGrpSpPr/>
          <p:nvPr/>
        </p:nvGrpSpPr>
        <p:grpSpPr>
          <a:xfrm rot="0">
            <a:off x="9779403" y="8048101"/>
            <a:ext cx="123120" cy="123120"/>
            <a:chOff x="0" y="0"/>
            <a:chExt cx="164160" cy="164160"/>
          </a:xfrm>
        </p:grpSpPr>
        <p:sp>
          <p:nvSpPr>
            <p:cNvPr name="Freeform 48" id="48"/>
            <p:cNvSpPr/>
            <p:nvPr/>
          </p:nvSpPr>
          <p:spPr>
            <a:xfrm flipH="false" flipV="false" rot="0">
              <a:off x="0" y="0"/>
              <a:ext cx="164084" cy="164084"/>
            </a:xfrm>
            <a:custGeom>
              <a:avLst/>
              <a:gdLst/>
              <a:ahLst/>
              <a:cxnLst/>
              <a:rect r="r" b="b" t="t" l="l"/>
              <a:pathLst>
                <a:path h="164084" w="164084">
                  <a:moveTo>
                    <a:pt x="0" y="82042"/>
                  </a:moveTo>
                  <a:cubicBezTo>
                    <a:pt x="0" y="36703"/>
                    <a:pt x="36703" y="0"/>
                    <a:pt x="82042" y="0"/>
                  </a:cubicBezTo>
                  <a:cubicBezTo>
                    <a:pt x="127381" y="0"/>
                    <a:pt x="164084" y="36703"/>
                    <a:pt x="164084" y="82042"/>
                  </a:cubicBezTo>
                  <a:cubicBezTo>
                    <a:pt x="164084" y="127381"/>
                    <a:pt x="127381" y="164084"/>
                    <a:pt x="82042" y="164084"/>
                  </a:cubicBezTo>
                  <a:cubicBezTo>
                    <a:pt x="36703" y="164084"/>
                    <a:pt x="0" y="127381"/>
                    <a:pt x="0" y="82042"/>
                  </a:cubicBezTo>
                  <a:close/>
                </a:path>
              </a:pathLst>
            </a:custGeom>
            <a:solidFill>
              <a:srgbClr val="FFB703"/>
            </a:solidFill>
          </p:spPr>
        </p:sp>
      </p:grpSp>
      <p:sp>
        <p:nvSpPr>
          <p:cNvPr name="TextBox 49" id="49"/>
          <p:cNvSpPr txBox="true"/>
          <p:nvPr/>
        </p:nvSpPr>
        <p:spPr>
          <a:xfrm rot="0">
            <a:off x="10122303" y="7760608"/>
            <a:ext cx="6926037" cy="842201"/>
          </a:xfrm>
          <a:prstGeom prst="rect">
            <a:avLst/>
          </a:prstGeom>
        </p:spPr>
        <p:txBody>
          <a:bodyPr anchor="t" rtlCol="false" tIns="0" lIns="0" bIns="0" rIns="0">
            <a:spAutoFit/>
          </a:bodyPr>
          <a:lstStyle/>
          <a:p>
            <a:pPr algn="l">
              <a:lnSpc>
                <a:spcPts val="3208"/>
              </a:lnSpc>
            </a:pPr>
            <a:r>
              <a:rPr lang="en-US" sz="2324" spc="-2">
                <a:solidFill>
                  <a:srgbClr val="E5E9F0"/>
                </a:solidFill>
                <a:latin typeface="Calibri (MS)"/>
                <a:ea typeface="Calibri (MS)"/>
                <a:cs typeface="Calibri (MS)"/>
                <a:sym typeface="Calibri (MS)"/>
              </a:rPr>
              <a:t>Try other policy architectures (larger frame-stack, recurrent policy) for situations that need longer memory.</a:t>
            </a:r>
          </a:p>
        </p:txBody>
      </p:sp>
      <p:grpSp>
        <p:nvGrpSpPr>
          <p:cNvPr name="Group 50" id="50"/>
          <p:cNvGrpSpPr/>
          <p:nvPr/>
        </p:nvGrpSpPr>
        <p:grpSpPr>
          <a:xfrm rot="0">
            <a:off x="685800" y="9710823"/>
            <a:ext cx="4114257" cy="410937"/>
            <a:chOff x="0" y="0"/>
            <a:chExt cx="5485676" cy="547916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5485680" cy="547920"/>
            </a:xfrm>
            <a:custGeom>
              <a:avLst/>
              <a:gdLst/>
              <a:ahLst/>
              <a:cxnLst/>
              <a:rect r="r" b="b" t="t" l="l"/>
              <a:pathLst>
                <a:path h="547920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081" r="0" b="-145080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38100"/>
              <a:ext cx="5485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Contra-PPO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16911723" y="9710823"/>
            <a:ext cx="822417" cy="410937"/>
            <a:chOff x="0" y="0"/>
            <a:chExt cx="1096556" cy="547916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096560" cy="547920"/>
            </a:xfrm>
            <a:custGeom>
              <a:avLst/>
              <a:gdLst/>
              <a:ahLst/>
              <a:cxnLst/>
              <a:rect r="r" b="b" t="t" l="l"/>
              <a:pathLst>
                <a:path h="547920" w="1096560">
                  <a:moveTo>
                    <a:pt x="0" y="0"/>
                  </a:moveTo>
                  <a:lnTo>
                    <a:pt x="1096560" y="0"/>
                  </a:lnTo>
                  <a:lnTo>
                    <a:pt x="109656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09" t="0" r="-14109" b="0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38100"/>
              <a:ext cx="109655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10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12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480060"/>
            <a:ext cx="10972257" cy="410937"/>
            <a:chOff x="0" y="0"/>
            <a:chExt cx="14629676" cy="5479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29681" cy="547920"/>
            </a:xfrm>
            <a:custGeom>
              <a:avLst/>
              <a:gdLst/>
              <a:ahLst/>
              <a:cxnLst/>
              <a:rect r="r" b="b" t="t" l="l"/>
              <a:pathLst>
                <a:path h="547920" w="14629681">
                  <a:moveTo>
                    <a:pt x="0" y="0"/>
                  </a:moveTo>
                  <a:lnTo>
                    <a:pt x="14629681" y="0"/>
                  </a:lnTo>
                  <a:lnTo>
                    <a:pt x="14629681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0258" r="0" b="-47025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29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98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REFERENCES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850497"/>
            <a:ext cx="15910017" cy="959577"/>
            <a:chOff x="0" y="0"/>
            <a:chExt cx="21213356" cy="12794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213359" cy="1279440"/>
            </a:xfrm>
            <a:custGeom>
              <a:avLst/>
              <a:gdLst/>
              <a:ahLst/>
              <a:cxnLst/>
              <a:rect r="r" b="b" t="t" l="l"/>
              <a:pathLst>
                <a:path h="1279440" w="21213359">
                  <a:moveTo>
                    <a:pt x="0" y="0"/>
                  </a:moveTo>
                  <a:lnTo>
                    <a:pt x="21213359" y="0"/>
                  </a:lnTo>
                  <a:lnTo>
                    <a:pt x="21213359" y="1279440"/>
                  </a:lnTo>
                  <a:lnTo>
                    <a:pt x="0" y="1279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65" r="0" b="-27306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213356" cy="12984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 spc="-1">
                  <a:solidFill>
                    <a:srgbClr val="E5E9F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References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822960" y="2606040"/>
            <a:ext cx="16636860" cy="1302477"/>
            <a:chOff x="0" y="0"/>
            <a:chExt cx="22182480" cy="173663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22182582" cy="1736725"/>
            </a:xfrm>
            <a:custGeom>
              <a:avLst/>
              <a:gdLst/>
              <a:ahLst/>
              <a:cxnLst/>
              <a:rect r="r" b="b" t="t" l="l"/>
              <a:pathLst>
                <a:path h="1736725" w="22182582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2036278" y="0"/>
                  </a:lnTo>
                  <a:cubicBezTo>
                    <a:pt x="22117050" y="0"/>
                    <a:pt x="22182582" y="65532"/>
                    <a:pt x="22182582" y="146304"/>
                  </a:cubicBezTo>
                  <a:lnTo>
                    <a:pt x="22182582" y="1590421"/>
                  </a:lnTo>
                  <a:cubicBezTo>
                    <a:pt x="22182582" y="1671193"/>
                    <a:pt x="22117050" y="1736725"/>
                    <a:pt x="22036278" y="1736725"/>
                  </a:cubicBezTo>
                  <a:lnTo>
                    <a:pt x="146304" y="1736725"/>
                  </a:lnTo>
                  <a:cubicBezTo>
                    <a:pt x="65532" y="1736598"/>
                    <a:pt x="0" y="1671193"/>
                    <a:pt x="0" y="1590421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10" id="10"/>
          <p:cNvGrpSpPr/>
          <p:nvPr/>
        </p:nvGrpSpPr>
        <p:grpSpPr>
          <a:xfrm rot="0">
            <a:off x="1165860" y="2852823"/>
            <a:ext cx="822417" cy="822417"/>
            <a:chOff x="0" y="0"/>
            <a:chExt cx="1096556" cy="1096556"/>
          </a:xfrm>
        </p:grpSpPr>
        <p:sp>
          <p:nvSpPr>
            <p:cNvPr name="Freeform 11" id="11"/>
            <p:cNvSpPr/>
            <p:nvPr/>
          </p:nvSpPr>
          <p:spPr>
            <a:xfrm flipH="false" flipV="false" rot="0">
              <a:off x="0" y="0"/>
              <a:ext cx="1096518" cy="1096518"/>
            </a:xfrm>
            <a:custGeom>
              <a:avLst/>
              <a:gdLst/>
              <a:ahLst/>
              <a:cxnLst/>
              <a:rect r="r" b="b" t="t" l="l"/>
              <a:pathLst>
                <a:path h="1096518" w="1096518">
                  <a:moveTo>
                    <a:pt x="0" y="548259"/>
                  </a:moveTo>
                  <a:cubicBezTo>
                    <a:pt x="0" y="245491"/>
                    <a:pt x="245491" y="0"/>
                    <a:pt x="548259" y="0"/>
                  </a:cubicBezTo>
                  <a:cubicBezTo>
                    <a:pt x="851027" y="0"/>
                    <a:pt x="1096518" y="245491"/>
                    <a:pt x="1096518" y="548259"/>
                  </a:cubicBezTo>
                  <a:cubicBezTo>
                    <a:pt x="1096518" y="851027"/>
                    <a:pt x="851027" y="1096518"/>
                    <a:pt x="548259" y="1096518"/>
                  </a:cubicBezTo>
                  <a:cubicBezTo>
                    <a:pt x="245491" y="1096518"/>
                    <a:pt x="0" y="851027"/>
                    <a:pt x="0" y="54825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12" id="12"/>
          <p:cNvGrpSpPr/>
          <p:nvPr/>
        </p:nvGrpSpPr>
        <p:grpSpPr>
          <a:xfrm rot="0">
            <a:off x="1363504" y="3050457"/>
            <a:ext cx="427139" cy="427139"/>
            <a:chOff x="0" y="0"/>
            <a:chExt cx="569519" cy="569519"/>
          </a:xfrm>
        </p:grpSpPr>
        <p:sp>
          <p:nvSpPr>
            <p:cNvPr name="Freeform 13" id="13" descr="/tmp/claude-1000/-media-hung-Work-Project-AI-Engineer-RL-contra-PPO/70c7dc7d-8f3f-4139-8f25-95b0e9e6dca5/scratchpad/build/icons/book.png"/>
            <p:cNvSpPr/>
            <p:nvPr/>
          </p:nvSpPr>
          <p:spPr>
            <a:xfrm flipH="false" flipV="false" rot="0">
              <a:off x="0" y="0"/>
              <a:ext cx="569468" cy="569468"/>
            </a:xfrm>
            <a:custGeom>
              <a:avLst/>
              <a:gdLst/>
              <a:ahLst/>
              <a:cxnLst/>
              <a:rect r="r" b="b" t="t" l="l"/>
              <a:pathLst>
                <a:path h="569468" w="569468">
                  <a:moveTo>
                    <a:pt x="0" y="0"/>
                  </a:moveTo>
                  <a:lnTo>
                    <a:pt x="569468" y="0"/>
                  </a:lnTo>
                  <a:lnTo>
                    <a:pt x="569468" y="569468"/>
                  </a:lnTo>
                  <a:lnTo>
                    <a:pt x="0" y="5694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4"/>
              <a:stretch>
                <a:fillRect l="0" t="0" r="-8" b="-8"/>
              </a:stretch>
            </a:blipFill>
          </p:spPr>
        </p:sp>
      </p:grpSp>
      <p:grpSp>
        <p:nvGrpSpPr>
          <p:cNvPr name="Group 14" id="14"/>
          <p:cNvGrpSpPr/>
          <p:nvPr/>
        </p:nvGrpSpPr>
        <p:grpSpPr>
          <a:xfrm rot="0">
            <a:off x="2331720" y="2770737"/>
            <a:ext cx="14812737" cy="542682"/>
            <a:chOff x="0" y="0"/>
            <a:chExt cx="19750316" cy="723577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19750320" cy="723580"/>
            </a:xfrm>
            <a:custGeom>
              <a:avLst/>
              <a:gdLst/>
              <a:ahLst/>
              <a:cxnLst/>
              <a:rect r="r" b="b" t="t" l="l"/>
              <a:pathLst>
                <a:path h="723580" w="19750320">
                  <a:moveTo>
                    <a:pt x="0" y="0"/>
                  </a:moveTo>
                  <a:lnTo>
                    <a:pt x="19750320" y="0"/>
                  </a:lnTo>
                  <a:lnTo>
                    <a:pt x="19750320" y="723580"/>
                  </a:lnTo>
                  <a:lnTo>
                    <a:pt x="0" y="7235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7669" r="0" b="-476029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57150"/>
              <a:ext cx="19750316" cy="7807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39"/>
                </a:lnSpc>
              </a:pPr>
              <a:r>
                <a:rPr lang="en-US" b="true" sz="2699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Schulman et al. (2017)</a:t>
              </a:r>
            </a:p>
          </p:txBody>
        </p:sp>
      </p:grpSp>
      <p:grpSp>
        <p:nvGrpSpPr>
          <p:cNvPr name="Group 17" id="17"/>
          <p:cNvGrpSpPr/>
          <p:nvPr/>
        </p:nvGrpSpPr>
        <p:grpSpPr>
          <a:xfrm rot="0">
            <a:off x="2331720" y="3264303"/>
            <a:ext cx="14812737" cy="479520"/>
            <a:chOff x="0" y="0"/>
            <a:chExt cx="19750316" cy="639360"/>
          </a:xfrm>
        </p:grpSpPr>
        <p:sp>
          <p:nvSpPr>
            <p:cNvPr name="Freeform 18" id="18"/>
            <p:cNvSpPr/>
            <p:nvPr/>
          </p:nvSpPr>
          <p:spPr>
            <a:xfrm flipH="false" flipV="false" rot="0">
              <a:off x="0" y="0"/>
              <a:ext cx="19750320" cy="639364"/>
            </a:xfrm>
            <a:custGeom>
              <a:avLst/>
              <a:gdLst/>
              <a:ahLst/>
              <a:cxnLst/>
              <a:rect r="r" b="b" t="t" l="l"/>
              <a:pathLst>
                <a:path h="639364" w="19750320">
                  <a:moveTo>
                    <a:pt x="0" y="0"/>
                  </a:moveTo>
                  <a:lnTo>
                    <a:pt x="19750320" y="0"/>
                  </a:lnTo>
                  <a:lnTo>
                    <a:pt x="1975032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1904" r="0" b="-551903"/>
              </a:stretch>
            </a:blipFill>
          </p:spPr>
        </p:sp>
        <p:sp>
          <p:nvSpPr>
            <p:cNvPr name="TextBox 19" id="19"/>
            <p:cNvSpPr txBox="true"/>
            <p:nvPr/>
          </p:nvSpPr>
          <p:spPr>
            <a:xfrm>
              <a:off x="0" y="-47625"/>
              <a:ext cx="19750316" cy="686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99"/>
                </a:lnSpc>
              </a:pPr>
              <a:r>
                <a:rPr lang="en-US" sz="2249" spc="-2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Proximal Policy Optimization Algorithms — arXiv:1707.06347</a:t>
              </a:r>
            </a:p>
          </p:txBody>
        </p:sp>
      </p:grpSp>
      <p:grpSp>
        <p:nvGrpSpPr>
          <p:cNvPr name="Group 20" id="20"/>
          <p:cNvGrpSpPr/>
          <p:nvPr/>
        </p:nvGrpSpPr>
        <p:grpSpPr>
          <a:xfrm rot="0">
            <a:off x="822960" y="4114800"/>
            <a:ext cx="16636860" cy="1302477"/>
            <a:chOff x="0" y="0"/>
            <a:chExt cx="22182480" cy="1736636"/>
          </a:xfrm>
        </p:grpSpPr>
        <p:sp>
          <p:nvSpPr>
            <p:cNvPr name="Freeform 21" id="21"/>
            <p:cNvSpPr/>
            <p:nvPr/>
          </p:nvSpPr>
          <p:spPr>
            <a:xfrm flipH="false" flipV="false" rot="0">
              <a:off x="0" y="0"/>
              <a:ext cx="22182582" cy="1736725"/>
            </a:xfrm>
            <a:custGeom>
              <a:avLst/>
              <a:gdLst/>
              <a:ahLst/>
              <a:cxnLst/>
              <a:rect r="r" b="b" t="t" l="l"/>
              <a:pathLst>
                <a:path h="1736725" w="22182582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2036278" y="0"/>
                  </a:lnTo>
                  <a:cubicBezTo>
                    <a:pt x="22117050" y="0"/>
                    <a:pt x="22182582" y="65532"/>
                    <a:pt x="22182582" y="146304"/>
                  </a:cubicBezTo>
                  <a:lnTo>
                    <a:pt x="22182582" y="1590421"/>
                  </a:lnTo>
                  <a:cubicBezTo>
                    <a:pt x="22182582" y="1671193"/>
                    <a:pt x="22117050" y="1736725"/>
                    <a:pt x="22036278" y="1736725"/>
                  </a:cubicBezTo>
                  <a:lnTo>
                    <a:pt x="146304" y="1736725"/>
                  </a:lnTo>
                  <a:cubicBezTo>
                    <a:pt x="65532" y="1736598"/>
                    <a:pt x="0" y="1671193"/>
                    <a:pt x="0" y="1590421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22" id="22"/>
          <p:cNvGrpSpPr/>
          <p:nvPr/>
        </p:nvGrpSpPr>
        <p:grpSpPr>
          <a:xfrm rot="0">
            <a:off x="1165860" y="4361583"/>
            <a:ext cx="822417" cy="822417"/>
            <a:chOff x="0" y="0"/>
            <a:chExt cx="1096556" cy="1096556"/>
          </a:xfrm>
        </p:grpSpPr>
        <p:sp>
          <p:nvSpPr>
            <p:cNvPr name="Freeform 23" id="23"/>
            <p:cNvSpPr/>
            <p:nvPr/>
          </p:nvSpPr>
          <p:spPr>
            <a:xfrm flipH="false" flipV="false" rot="0">
              <a:off x="0" y="0"/>
              <a:ext cx="1096518" cy="1096518"/>
            </a:xfrm>
            <a:custGeom>
              <a:avLst/>
              <a:gdLst/>
              <a:ahLst/>
              <a:cxnLst/>
              <a:rect r="r" b="b" t="t" l="l"/>
              <a:pathLst>
                <a:path h="1096518" w="1096518">
                  <a:moveTo>
                    <a:pt x="0" y="548259"/>
                  </a:moveTo>
                  <a:cubicBezTo>
                    <a:pt x="0" y="245491"/>
                    <a:pt x="245491" y="0"/>
                    <a:pt x="548259" y="0"/>
                  </a:cubicBezTo>
                  <a:cubicBezTo>
                    <a:pt x="851027" y="0"/>
                    <a:pt x="1096518" y="245491"/>
                    <a:pt x="1096518" y="548259"/>
                  </a:cubicBezTo>
                  <a:cubicBezTo>
                    <a:pt x="1096518" y="851027"/>
                    <a:pt x="851027" y="1096518"/>
                    <a:pt x="548259" y="1096518"/>
                  </a:cubicBezTo>
                  <a:cubicBezTo>
                    <a:pt x="245491" y="1096518"/>
                    <a:pt x="0" y="851027"/>
                    <a:pt x="0" y="54825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24" id="24"/>
          <p:cNvGrpSpPr/>
          <p:nvPr/>
        </p:nvGrpSpPr>
        <p:grpSpPr>
          <a:xfrm rot="0">
            <a:off x="1363504" y="4559217"/>
            <a:ext cx="427139" cy="427139"/>
            <a:chOff x="0" y="0"/>
            <a:chExt cx="569519" cy="569519"/>
          </a:xfrm>
        </p:grpSpPr>
        <p:sp>
          <p:nvSpPr>
            <p:cNvPr name="Freeform 25" id="25" descr="/tmp/claude-1000/-media-hung-Work-Project-AI-Engineer-RL-contra-PPO/70c7dc7d-8f3f-4139-8f25-95b0e9e6dca5/scratchpad/build/icons/cogs.png"/>
            <p:cNvSpPr/>
            <p:nvPr/>
          </p:nvSpPr>
          <p:spPr>
            <a:xfrm flipH="false" flipV="false" rot="0">
              <a:off x="0" y="0"/>
              <a:ext cx="569468" cy="569468"/>
            </a:xfrm>
            <a:custGeom>
              <a:avLst/>
              <a:gdLst/>
              <a:ahLst/>
              <a:cxnLst/>
              <a:rect r="r" b="b" t="t" l="l"/>
              <a:pathLst>
                <a:path h="569468" w="569468">
                  <a:moveTo>
                    <a:pt x="0" y="0"/>
                  </a:moveTo>
                  <a:lnTo>
                    <a:pt x="569468" y="0"/>
                  </a:lnTo>
                  <a:lnTo>
                    <a:pt x="569468" y="569468"/>
                  </a:lnTo>
                  <a:lnTo>
                    <a:pt x="0" y="5694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5"/>
              <a:stretch>
                <a:fillRect l="0" t="0" r="-8" b="-8"/>
              </a:stretch>
            </a:blipFill>
          </p:spPr>
        </p:sp>
      </p:grpSp>
      <p:grpSp>
        <p:nvGrpSpPr>
          <p:cNvPr name="Group 26" id="26"/>
          <p:cNvGrpSpPr/>
          <p:nvPr/>
        </p:nvGrpSpPr>
        <p:grpSpPr>
          <a:xfrm rot="0">
            <a:off x="2331720" y="4279497"/>
            <a:ext cx="14812737" cy="542682"/>
            <a:chOff x="0" y="0"/>
            <a:chExt cx="19750316" cy="723577"/>
          </a:xfrm>
        </p:grpSpPr>
        <p:sp>
          <p:nvSpPr>
            <p:cNvPr name="Freeform 27" id="27"/>
            <p:cNvSpPr/>
            <p:nvPr/>
          </p:nvSpPr>
          <p:spPr>
            <a:xfrm flipH="false" flipV="false" rot="0">
              <a:off x="0" y="0"/>
              <a:ext cx="19750320" cy="723580"/>
            </a:xfrm>
            <a:custGeom>
              <a:avLst/>
              <a:gdLst/>
              <a:ahLst/>
              <a:cxnLst/>
              <a:rect r="r" b="b" t="t" l="l"/>
              <a:pathLst>
                <a:path h="723580" w="19750320">
                  <a:moveTo>
                    <a:pt x="0" y="0"/>
                  </a:moveTo>
                  <a:lnTo>
                    <a:pt x="19750320" y="0"/>
                  </a:lnTo>
                  <a:lnTo>
                    <a:pt x="19750320" y="723580"/>
                  </a:lnTo>
                  <a:lnTo>
                    <a:pt x="0" y="7235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7669" r="0" b="-476029"/>
              </a:stretch>
            </a:blipFill>
          </p:spPr>
        </p:sp>
        <p:sp>
          <p:nvSpPr>
            <p:cNvPr name="TextBox 28" id="28"/>
            <p:cNvSpPr txBox="true"/>
            <p:nvPr/>
          </p:nvSpPr>
          <p:spPr>
            <a:xfrm>
              <a:off x="0" y="-57150"/>
              <a:ext cx="19750316" cy="7807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39"/>
                </a:lnSpc>
              </a:pPr>
              <a:r>
                <a:rPr lang="en-US" b="true" sz="2699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Stable-Baselines3</a:t>
              </a:r>
            </a:p>
          </p:txBody>
        </p:sp>
      </p:grpSp>
      <p:grpSp>
        <p:nvGrpSpPr>
          <p:cNvPr name="Group 29" id="29"/>
          <p:cNvGrpSpPr/>
          <p:nvPr/>
        </p:nvGrpSpPr>
        <p:grpSpPr>
          <a:xfrm rot="0">
            <a:off x="2331720" y="4773063"/>
            <a:ext cx="14812737" cy="479520"/>
            <a:chOff x="0" y="0"/>
            <a:chExt cx="19750316" cy="639360"/>
          </a:xfrm>
        </p:grpSpPr>
        <p:sp>
          <p:nvSpPr>
            <p:cNvPr name="Freeform 30" id="30"/>
            <p:cNvSpPr/>
            <p:nvPr/>
          </p:nvSpPr>
          <p:spPr>
            <a:xfrm flipH="false" flipV="false" rot="0">
              <a:off x="0" y="0"/>
              <a:ext cx="19750320" cy="639364"/>
            </a:xfrm>
            <a:custGeom>
              <a:avLst/>
              <a:gdLst/>
              <a:ahLst/>
              <a:cxnLst/>
              <a:rect r="r" b="b" t="t" l="l"/>
              <a:pathLst>
                <a:path h="639364" w="19750320">
                  <a:moveTo>
                    <a:pt x="0" y="0"/>
                  </a:moveTo>
                  <a:lnTo>
                    <a:pt x="19750320" y="0"/>
                  </a:lnTo>
                  <a:lnTo>
                    <a:pt x="1975032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1904" r="0" b="-551903"/>
              </a:stretch>
            </a:blipFill>
          </p:spPr>
        </p:sp>
        <p:sp>
          <p:nvSpPr>
            <p:cNvPr name="TextBox 31" id="31"/>
            <p:cNvSpPr txBox="true"/>
            <p:nvPr/>
          </p:nvSpPr>
          <p:spPr>
            <a:xfrm>
              <a:off x="0" y="-47625"/>
              <a:ext cx="19750316" cy="686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99"/>
                </a:lnSpc>
              </a:pPr>
              <a:r>
                <a:rPr lang="en-US" sz="2249" spc="-2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PyTorch implementation of PPO and other RL algorithms — Documentation</a:t>
              </a:r>
            </a:p>
          </p:txBody>
        </p:sp>
      </p:grpSp>
      <p:grpSp>
        <p:nvGrpSpPr>
          <p:cNvPr name="Group 32" id="32"/>
          <p:cNvGrpSpPr/>
          <p:nvPr/>
        </p:nvGrpSpPr>
        <p:grpSpPr>
          <a:xfrm rot="0">
            <a:off x="822960" y="5623560"/>
            <a:ext cx="16636860" cy="1302477"/>
            <a:chOff x="0" y="0"/>
            <a:chExt cx="22182480" cy="1736636"/>
          </a:xfrm>
        </p:grpSpPr>
        <p:sp>
          <p:nvSpPr>
            <p:cNvPr name="Freeform 33" id="33"/>
            <p:cNvSpPr/>
            <p:nvPr/>
          </p:nvSpPr>
          <p:spPr>
            <a:xfrm flipH="false" flipV="false" rot="0">
              <a:off x="0" y="0"/>
              <a:ext cx="22182582" cy="1736725"/>
            </a:xfrm>
            <a:custGeom>
              <a:avLst/>
              <a:gdLst/>
              <a:ahLst/>
              <a:cxnLst/>
              <a:rect r="r" b="b" t="t" l="l"/>
              <a:pathLst>
                <a:path h="1736725" w="22182582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2036278" y="0"/>
                  </a:lnTo>
                  <a:cubicBezTo>
                    <a:pt x="22117050" y="0"/>
                    <a:pt x="22182582" y="65532"/>
                    <a:pt x="22182582" y="146304"/>
                  </a:cubicBezTo>
                  <a:lnTo>
                    <a:pt x="22182582" y="1590421"/>
                  </a:lnTo>
                  <a:cubicBezTo>
                    <a:pt x="22182582" y="1671193"/>
                    <a:pt x="22117050" y="1736725"/>
                    <a:pt x="22036278" y="1736725"/>
                  </a:cubicBezTo>
                  <a:lnTo>
                    <a:pt x="146304" y="1736725"/>
                  </a:lnTo>
                  <a:cubicBezTo>
                    <a:pt x="65532" y="1736598"/>
                    <a:pt x="0" y="1671193"/>
                    <a:pt x="0" y="1590421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34" id="34"/>
          <p:cNvGrpSpPr/>
          <p:nvPr/>
        </p:nvGrpSpPr>
        <p:grpSpPr>
          <a:xfrm rot="0">
            <a:off x="1165860" y="5870343"/>
            <a:ext cx="822417" cy="822417"/>
            <a:chOff x="0" y="0"/>
            <a:chExt cx="1096556" cy="1096556"/>
          </a:xfrm>
        </p:grpSpPr>
        <p:sp>
          <p:nvSpPr>
            <p:cNvPr name="Freeform 35" id="35"/>
            <p:cNvSpPr/>
            <p:nvPr/>
          </p:nvSpPr>
          <p:spPr>
            <a:xfrm flipH="false" flipV="false" rot="0">
              <a:off x="0" y="0"/>
              <a:ext cx="1096518" cy="1096518"/>
            </a:xfrm>
            <a:custGeom>
              <a:avLst/>
              <a:gdLst/>
              <a:ahLst/>
              <a:cxnLst/>
              <a:rect r="r" b="b" t="t" l="l"/>
              <a:pathLst>
                <a:path h="1096518" w="1096518">
                  <a:moveTo>
                    <a:pt x="0" y="548259"/>
                  </a:moveTo>
                  <a:cubicBezTo>
                    <a:pt x="0" y="245491"/>
                    <a:pt x="245491" y="0"/>
                    <a:pt x="548259" y="0"/>
                  </a:cubicBezTo>
                  <a:cubicBezTo>
                    <a:pt x="851027" y="0"/>
                    <a:pt x="1096518" y="245491"/>
                    <a:pt x="1096518" y="548259"/>
                  </a:cubicBezTo>
                  <a:cubicBezTo>
                    <a:pt x="1096518" y="851027"/>
                    <a:pt x="851027" y="1096518"/>
                    <a:pt x="548259" y="1096518"/>
                  </a:cubicBezTo>
                  <a:cubicBezTo>
                    <a:pt x="245491" y="1096518"/>
                    <a:pt x="0" y="851027"/>
                    <a:pt x="0" y="54825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36" id="36"/>
          <p:cNvGrpSpPr/>
          <p:nvPr/>
        </p:nvGrpSpPr>
        <p:grpSpPr>
          <a:xfrm rot="0">
            <a:off x="1363504" y="6067977"/>
            <a:ext cx="427139" cy="427139"/>
            <a:chOff x="0" y="0"/>
            <a:chExt cx="569519" cy="569519"/>
          </a:xfrm>
        </p:grpSpPr>
        <p:sp>
          <p:nvSpPr>
            <p:cNvPr name="Freeform 37" id="37" descr="/tmp/claude-1000/-media-hung-Work-Project-AI-Engineer-RL-contra-PPO/70c7dc7d-8f3f-4139-8f25-95b0e9e6dca5/scratchpad/build/icons/boxes.png"/>
            <p:cNvSpPr/>
            <p:nvPr/>
          </p:nvSpPr>
          <p:spPr>
            <a:xfrm flipH="false" flipV="false" rot="0">
              <a:off x="0" y="0"/>
              <a:ext cx="569468" cy="569468"/>
            </a:xfrm>
            <a:custGeom>
              <a:avLst/>
              <a:gdLst/>
              <a:ahLst/>
              <a:cxnLst/>
              <a:rect r="r" b="b" t="t" l="l"/>
              <a:pathLst>
                <a:path h="569468" w="569468">
                  <a:moveTo>
                    <a:pt x="0" y="0"/>
                  </a:moveTo>
                  <a:lnTo>
                    <a:pt x="569468" y="0"/>
                  </a:lnTo>
                  <a:lnTo>
                    <a:pt x="569468" y="569468"/>
                  </a:lnTo>
                  <a:lnTo>
                    <a:pt x="0" y="5694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6"/>
              <a:stretch>
                <a:fillRect l="0" t="0" r="-8" b="-8"/>
              </a:stretch>
            </a:blipFill>
          </p:spPr>
        </p:sp>
      </p:grpSp>
      <p:grpSp>
        <p:nvGrpSpPr>
          <p:cNvPr name="Group 38" id="38"/>
          <p:cNvGrpSpPr/>
          <p:nvPr/>
        </p:nvGrpSpPr>
        <p:grpSpPr>
          <a:xfrm rot="0">
            <a:off x="2331720" y="5788257"/>
            <a:ext cx="14812737" cy="542682"/>
            <a:chOff x="0" y="0"/>
            <a:chExt cx="19750316" cy="723577"/>
          </a:xfrm>
        </p:grpSpPr>
        <p:sp>
          <p:nvSpPr>
            <p:cNvPr name="Freeform 39" id="39"/>
            <p:cNvSpPr/>
            <p:nvPr/>
          </p:nvSpPr>
          <p:spPr>
            <a:xfrm flipH="false" flipV="false" rot="0">
              <a:off x="0" y="0"/>
              <a:ext cx="19750320" cy="723580"/>
            </a:xfrm>
            <a:custGeom>
              <a:avLst/>
              <a:gdLst/>
              <a:ahLst/>
              <a:cxnLst/>
              <a:rect r="r" b="b" t="t" l="l"/>
              <a:pathLst>
                <a:path h="723580" w="19750320">
                  <a:moveTo>
                    <a:pt x="0" y="0"/>
                  </a:moveTo>
                  <a:lnTo>
                    <a:pt x="19750320" y="0"/>
                  </a:lnTo>
                  <a:lnTo>
                    <a:pt x="19750320" y="723580"/>
                  </a:lnTo>
                  <a:lnTo>
                    <a:pt x="0" y="7235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7669" r="0" b="-476029"/>
              </a:stretch>
            </a:blipFill>
          </p:spPr>
        </p:sp>
        <p:sp>
          <p:nvSpPr>
            <p:cNvPr name="TextBox 40" id="40"/>
            <p:cNvSpPr txBox="true"/>
            <p:nvPr/>
          </p:nvSpPr>
          <p:spPr>
            <a:xfrm>
              <a:off x="0" y="-57150"/>
              <a:ext cx="19750316" cy="7807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39"/>
                </a:lnSpc>
              </a:pPr>
              <a:r>
                <a:rPr lang="en-US" b="true" sz="2699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Gymnasium (Farama Foundation)</a:t>
              </a:r>
            </a:p>
          </p:txBody>
        </p:sp>
      </p:grpSp>
      <p:grpSp>
        <p:nvGrpSpPr>
          <p:cNvPr name="Group 41" id="41"/>
          <p:cNvGrpSpPr/>
          <p:nvPr/>
        </p:nvGrpSpPr>
        <p:grpSpPr>
          <a:xfrm rot="0">
            <a:off x="2331720" y="6281823"/>
            <a:ext cx="14812737" cy="479520"/>
            <a:chOff x="0" y="0"/>
            <a:chExt cx="19750316" cy="639360"/>
          </a:xfrm>
        </p:grpSpPr>
        <p:sp>
          <p:nvSpPr>
            <p:cNvPr name="Freeform 42" id="42"/>
            <p:cNvSpPr/>
            <p:nvPr/>
          </p:nvSpPr>
          <p:spPr>
            <a:xfrm flipH="false" flipV="false" rot="0">
              <a:off x="0" y="0"/>
              <a:ext cx="19750320" cy="639364"/>
            </a:xfrm>
            <a:custGeom>
              <a:avLst/>
              <a:gdLst/>
              <a:ahLst/>
              <a:cxnLst/>
              <a:rect r="r" b="b" t="t" l="l"/>
              <a:pathLst>
                <a:path h="639364" w="19750320">
                  <a:moveTo>
                    <a:pt x="0" y="0"/>
                  </a:moveTo>
                  <a:lnTo>
                    <a:pt x="19750320" y="0"/>
                  </a:lnTo>
                  <a:lnTo>
                    <a:pt x="1975032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1904" r="0" b="-551903"/>
              </a:stretch>
            </a:blipFill>
          </p:spPr>
        </p:sp>
        <p:sp>
          <p:nvSpPr>
            <p:cNvPr name="TextBox 43" id="43"/>
            <p:cNvSpPr txBox="true"/>
            <p:nvPr/>
          </p:nvSpPr>
          <p:spPr>
            <a:xfrm>
              <a:off x="0" y="-47625"/>
              <a:ext cx="19750316" cy="686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99"/>
                </a:lnSpc>
              </a:pPr>
              <a:r>
                <a:rPr lang="en-US" sz="2249" spc="-2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Standard RL environment API — successor to OpenAI Gym</a:t>
              </a:r>
            </a:p>
          </p:txBody>
        </p:sp>
      </p:grpSp>
      <p:grpSp>
        <p:nvGrpSpPr>
          <p:cNvPr name="Group 44" id="44"/>
          <p:cNvGrpSpPr/>
          <p:nvPr/>
        </p:nvGrpSpPr>
        <p:grpSpPr>
          <a:xfrm rot="0">
            <a:off x="822960" y="7132320"/>
            <a:ext cx="16636860" cy="1302477"/>
            <a:chOff x="0" y="0"/>
            <a:chExt cx="22182480" cy="1736636"/>
          </a:xfrm>
        </p:grpSpPr>
        <p:sp>
          <p:nvSpPr>
            <p:cNvPr name="Freeform 45" id="45"/>
            <p:cNvSpPr/>
            <p:nvPr/>
          </p:nvSpPr>
          <p:spPr>
            <a:xfrm flipH="false" flipV="false" rot="0">
              <a:off x="0" y="0"/>
              <a:ext cx="22182582" cy="1736725"/>
            </a:xfrm>
            <a:custGeom>
              <a:avLst/>
              <a:gdLst/>
              <a:ahLst/>
              <a:cxnLst/>
              <a:rect r="r" b="b" t="t" l="l"/>
              <a:pathLst>
                <a:path h="1736725" w="22182582">
                  <a:moveTo>
                    <a:pt x="0" y="146304"/>
                  </a:moveTo>
                  <a:cubicBezTo>
                    <a:pt x="0" y="65532"/>
                    <a:pt x="65532" y="0"/>
                    <a:pt x="146304" y="0"/>
                  </a:cubicBezTo>
                  <a:lnTo>
                    <a:pt x="22036278" y="0"/>
                  </a:lnTo>
                  <a:cubicBezTo>
                    <a:pt x="22117050" y="0"/>
                    <a:pt x="22182582" y="65532"/>
                    <a:pt x="22182582" y="146304"/>
                  </a:cubicBezTo>
                  <a:lnTo>
                    <a:pt x="22182582" y="1590421"/>
                  </a:lnTo>
                  <a:cubicBezTo>
                    <a:pt x="22182582" y="1671193"/>
                    <a:pt x="22117050" y="1736725"/>
                    <a:pt x="22036278" y="1736725"/>
                  </a:cubicBezTo>
                  <a:lnTo>
                    <a:pt x="146304" y="1736725"/>
                  </a:lnTo>
                  <a:cubicBezTo>
                    <a:pt x="65532" y="1736598"/>
                    <a:pt x="0" y="1671193"/>
                    <a:pt x="0" y="1590421"/>
                  </a:cubicBezTo>
                  <a:close/>
                </a:path>
              </a:pathLst>
            </a:custGeom>
            <a:solidFill>
              <a:srgbClr val="16213E"/>
            </a:solidFill>
          </p:spPr>
        </p:sp>
      </p:grpSp>
      <p:grpSp>
        <p:nvGrpSpPr>
          <p:cNvPr name="Group 46" id="46"/>
          <p:cNvGrpSpPr/>
          <p:nvPr/>
        </p:nvGrpSpPr>
        <p:grpSpPr>
          <a:xfrm rot="0">
            <a:off x="1165860" y="7379103"/>
            <a:ext cx="822417" cy="822417"/>
            <a:chOff x="0" y="0"/>
            <a:chExt cx="1096556" cy="1096556"/>
          </a:xfrm>
        </p:grpSpPr>
        <p:sp>
          <p:nvSpPr>
            <p:cNvPr name="Freeform 47" id="47"/>
            <p:cNvSpPr/>
            <p:nvPr/>
          </p:nvSpPr>
          <p:spPr>
            <a:xfrm flipH="false" flipV="false" rot="0">
              <a:off x="0" y="0"/>
              <a:ext cx="1096518" cy="1096518"/>
            </a:xfrm>
            <a:custGeom>
              <a:avLst/>
              <a:gdLst/>
              <a:ahLst/>
              <a:cxnLst/>
              <a:rect r="r" b="b" t="t" l="l"/>
              <a:pathLst>
                <a:path h="1096518" w="1096518">
                  <a:moveTo>
                    <a:pt x="0" y="548259"/>
                  </a:moveTo>
                  <a:cubicBezTo>
                    <a:pt x="0" y="245491"/>
                    <a:pt x="245491" y="0"/>
                    <a:pt x="548259" y="0"/>
                  </a:cubicBezTo>
                  <a:cubicBezTo>
                    <a:pt x="851027" y="0"/>
                    <a:pt x="1096518" y="245491"/>
                    <a:pt x="1096518" y="548259"/>
                  </a:cubicBezTo>
                  <a:cubicBezTo>
                    <a:pt x="1096518" y="851027"/>
                    <a:pt x="851027" y="1096518"/>
                    <a:pt x="548259" y="1096518"/>
                  </a:cubicBezTo>
                  <a:cubicBezTo>
                    <a:pt x="245491" y="1096518"/>
                    <a:pt x="0" y="851027"/>
                    <a:pt x="0" y="548259"/>
                  </a:cubicBezTo>
                  <a:close/>
                </a:path>
              </a:pathLst>
            </a:custGeom>
            <a:solidFill>
              <a:srgbClr val="1C2B4A"/>
            </a:solidFill>
          </p:spPr>
        </p:sp>
      </p:grpSp>
      <p:grpSp>
        <p:nvGrpSpPr>
          <p:cNvPr name="Group 48" id="48"/>
          <p:cNvGrpSpPr/>
          <p:nvPr/>
        </p:nvGrpSpPr>
        <p:grpSpPr>
          <a:xfrm rot="0">
            <a:off x="1363504" y="7576737"/>
            <a:ext cx="427139" cy="427139"/>
            <a:chOff x="0" y="0"/>
            <a:chExt cx="569519" cy="569519"/>
          </a:xfrm>
        </p:grpSpPr>
        <p:sp>
          <p:nvSpPr>
            <p:cNvPr name="Freeform 49" id="49" descr="/tmp/claude-1000/-media-hung-Work-Project-AI-Engineer-RL-contra-PPO/70c7dc7d-8f3f-4139-8f25-95b0e9e6dca5/scratchpad/build/icons/gamepad.png"/>
            <p:cNvSpPr/>
            <p:nvPr/>
          </p:nvSpPr>
          <p:spPr>
            <a:xfrm flipH="false" flipV="false" rot="0">
              <a:off x="0" y="0"/>
              <a:ext cx="569468" cy="569468"/>
            </a:xfrm>
            <a:custGeom>
              <a:avLst/>
              <a:gdLst/>
              <a:ahLst/>
              <a:cxnLst/>
              <a:rect r="r" b="b" t="t" l="l"/>
              <a:pathLst>
                <a:path h="569468" w="569468">
                  <a:moveTo>
                    <a:pt x="0" y="0"/>
                  </a:moveTo>
                  <a:lnTo>
                    <a:pt x="569468" y="0"/>
                  </a:lnTo>
                  <a:lnTo>
                    <a:pt x="569468" y="569468"/>
                  </a:lnTo>
                  <a:lnTo>
                    <a:pt x="0" y="569468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7"/>
              <a:stretch>
                <a:fillRect l="0" t="0" r="-8" b="-8"/>
              </a:stretch>
            </a:blipFill>
          </p:spPr>
        </p:sp>
      </p:grpSp>
      <p:grpSp>
        <p:nvGrpSpPr>
          <p:cNvPr name="Group 50" id="50"/>
          <p:cNvGrpSpPr/>
          <p:nvPr/>
        </p:nvGrpSpPr>
        <p:grpSpPr>
          <a:xfrm rot="0">
            <a:off x="2331720" y="7297017"/>
            <a:ext cx="14812737" cy="542682"/>
            <a:chOff x="0" y="0"/>
            <a:chExt cx="19750316" cy="723577"/>
          </a:xfrm>
        </p:grpSpPr>
        <p:sp>
          <p:nvSpPr>
            <p:cNvPr name="Freeform 51" id="51"/>
            <p:cNvSpPr/>
            <p:nvPr/>
          </p:nvSpPr>
          <p:spPr>
            <a:xfrm flipH="false" flipV="false" rot="0">
              <a:off x="0" y="0"/>
              <a:ext cx="19750320" cy="723580"/>
            </a:xfrm>
            <a:custGeom>
              <a:avLst/>
              <a:gdLst/>
              <a:ahLst/>
              <a:cxnLst/>
              <a:rect r="r" b="b" t="t" l="l"/>
              <a:pathLst>
                <a:path h="723580" w="19750320">
                  <a:moveTo>
                    <a:pt x="0" y="0"/>
                  </a:moveTo>
                  <a:lnTo>
                    <a:pt x="19750320" y="0"/>
                  </a:lnTo>
                  <a:lnTo>
                    <a:pt x="19750320" y="723580"/>
                  </a:lnTo>
                  <a:lnTo>
                    <a:pt x="0" y="72358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87669" r="0" b="-476029"/>
              </a:stretch>
            </a:blipFill>
          </p:spPr>
        </p:sp>
        <p:sp>
          <p:nvSpPr>
            <p:cNvPr name="TextBox 52" id="52"/>
            <p:cNvSpPr txBox="true"/>
            <p:nvPr/>
          </p:nvSpPr>
          <p:spPr>
            <a:xfrm>
              <a:off x="0" y="-57150"/>
              <a:ext cx="19750316" cy="780727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3239"/>
                </a:lnSpc>
              </a:pPr>
              <a:r>
                <a:rPr lang="en-US" b="true" sz="2699" spc="-1">
                  <a:solidFill>
                    <a:srgbClr val="E5E9F0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nes-py</a:t>
              </a:r>
            </a:p>
          </p:txBody>
        </p:sp>
      </p:grpSp>
      <p:grpSp>
        <p:nvGrpSpPr>
          <p:cNvPr name="Group 53" id="53"/>
          <p:cNvGrpSpPr/>
          <p:nvPr/>
        </p:nvGrpSpPr>
        <p:grpSpPr>
          <a:xfrm rot="0">
            <a:off x="2331720" y="7790583"/>
            <a:ext cx="14812737" cy="479520"/>
            <a:chOff x="0" y="0"/>
            <a:chExt cx="19750316" cy="639360"/>
          </a:xfrm>
        </p:grpSpPr>
        <p:sp>
          <p:nvSpPr>
            <p:cNvPr name="Freeform 54" id="54"/>
            <p:cNvSpPr/>
            <p:nvPr/>
          </p:nvSpPr>
          <p:spPr>
            <a:xfrm flipH="false" flipV="false" rot="0">
              <a:off x="0" y="0"/>
              <a:ext cx="19750320" cy="639364"/>
            </a:xfrm>
            <a:custGeom>
              <a:avLst/>
              <a:gdLst/>
              <a:ahLst/>
              <a:cxnLst/>
              <a:rect r="r" b="b" t="t" l="l"/>
              <a:pathLst>
                <a:path h="639364" w="19750320">
                  <a:moveTo>
                    <a:pt x="0" y="0"/>
                  </a:moveTo>
                  <a:lnTo>
                    <a:pt x="19750320" y="0"/>
                  </a:lnTo>
                  <a:lnTo>
                    <a:pt x="19750320" y="639364"/>
                  </a:lnTo>
                  <a:lnTo>
                    <a:pt x="0" y="639364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51904" r="0" b="-551903"/>
              </a:stretch>
            </a:blipFill>
          </p:spPr>
        </p:sp>
        <p:sp>
          <p:nvSpPr>
            <p:cNvPr name="TextBox 55" id="55"/>
            <p:cNvSpPr txBox="true"/>
            <p:nvPr/>
          </p:nvSpPr>
          <p:spPr>
            <a:xfrm>
              <a:off x="0" y="-47625"/>
              <a:ext cx="19750316" cy="686985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699"/>
                </a:lnSpc>
              </a:pPr>
              <a:r>
                <a:rPr lang="en-US" sz="2249" spc="-2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NES emulator for Python, the foundation for ContraEnv</a:t>
              </a:r>
            </a:p>
          </p:txBody>
        </p:sp>
      </p:grpSp>
      <p:grpSp>
        <p:nvGrpSpPr>
          <p:cNvPr name="Group 56" id="56"/>
          <p:cNvGrpSpPr/>
          <p:nvPr/>
        </p:nvGrpSpPr>
        <p:grpSpPr>
          <a:xfrm rot="0">
            <a:off x="685800" y="9710823"/>
            <a:ext cx="4114257" cy="410937"/>
            <a:chOff x="0" y="0"/>
            <a:chExt cx="5485676" cy="547916"/>
          </a:xfrm>
        </p:grpSpPr>
        <p:sp>
          <p:nvSpPr>
            <p:cNvPr name="Freeform 57" id="57"/>
            <p:cNvSpPr/>
            <p:nvPr/>
          </p:nvSpPr>
          <p:spPr>
            <a:xfrm flipH="false" flipV="false" rot="0">
              <a:off x="0" y="0"/>
              <a:ext cx="5485680" cy="547920"/>
            </a:xfrm>
            <a:custGeom>
              <a:avLst/>
              <a:gdLst/>
              <a:ahLst/>
              <a:cxnLst/>
              <a:rect r="r" b="b" t="t" l="l"/>
              <a:pathLst>
                <a:path h="547920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081" r="0" b="-145080"/>
              </a:stretch>
            </a:blipFill>
          </p:spPr>
        </p:sp>
        <p:sp>
          <p:nvSpPr>
            <p:cNvPr name="TextBox 58" id="58"/>
            <p:cNvSpPr txBox="true"/>
            <p:nvPr/>
          </p:nvSpPr>
          <p:spPr>
            <a:xfrm>
              <a:off x="0" y="-38100"/>
              <a:ext cx="5485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Contra-PPO</a:t>
              </a:r>
            </a:p>
          </p:txBody>
        </p:sp>
      </p:grpSp>
      <p:grpSp>
        <p:nvGrpSpPr>
          <p:cNvPr name="Group 59" id="59"/>
          <p:cNvGrpSpPr/>
          <p:nvPr/>
        </p:nvGrpSpPr>
        <p:grpSpPr>
          <a:xfrm rot="0">
            <a:off x="16911723" y="9710823"/>
            <a:ext cx="822417" cy="410937"/>
            <a:chOff x="0" y="0"/>
            <a:chExt cx="1096556" cy="547916"/>
          </a:xfrm>
        </p:grpSpPr>
        <p:sp>
          <p:nvSpPr>
            <p:cNvPr name="Freeform 60" id="60"/>
            <p:cNvSpPr/>
            <p:nvPr/>
          </p:nvSpPr>
          <p:spPr>
            <a:xfrm flipH="false" flipV="false" rot="0">
              <a:off x="0" y="0"/>
              <a:ext cx="1096560" cy="547920"/>
            </a:xfrm>
            <a:custGeom>
              <a:avLst/>
              <a:gdLst/>
              <a:ahLst/>
              <a:cxnLst/>
              <a:rect r="r" b="b" t="t" l="l"/>
              <a:pathLst>
                <a:path h="547920" w="1096560">
                  <a:moveTo>
                    <a:pt x="0" y="0"/>
                  </a:moveTo>
                  <a:lnTo>
                    <a:pt x="1096560" y="0"/>
                  </a:lnTo>
                  <a:lnTo>
                    <a:pt x="109656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09" t="0" r="-14109" b="0"/>
              </a:stretch>
            </a:blipFill>
          </p:spPr>
        </p:sp>
        <p:sp>
          <p:nvSpPr>
            <p:cNvPr name="TextBox 61" id="61"/>
            <p:cNvSpPr txBox="true"/>
            <p:nvPr/>
          </p:nvSpPr>
          <p:spPr>
            <a:xfrm>
              <a:off x="0" y="-38100"/>
              <a:ext cx="109655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11</a:t>
              </a:r>
            </a:p>
          </p:txBody>
        </p:sp>
      </p:grpSp>
    </p:spTree>
  </p:cSld>
  <p:clrMapOvr>
    <a:masterClrMapping/>
  </p:clrMapOvr>
  <p:transition spd="fast">
    <p:fade/>
  </p:transition>
</p:sld>
</file>

<file path=ppt/slides/slide13.xml><?xml version="1.0" encoding="utf-8"?>
<p:sld xmlns:p="http://schemas.openxmlformats.org/presentationml/2006/main" xmlns:a="http://schemas.openxmlformats.org/drawingml/2006/main" xmlns:r="http://schemas.openxmlformats.org/officeDocument/2006/relationships">
  <p:cSld>
    <p:bg>
      <p:bgPr>
        <a:solidFill>
          <a:srgbClr val="0B132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name="Group 2" id="2"/>
          <p:cNvGrpSpPr/>
          <p:nvPr/>
        </p:nvGrpSpPr>
        <p:grpSpPr>
          <a:xfrm rot="0">
            <a:off x="822960" y="480060"/>
            <a:ext cx="10972257" cy="410937"/>
            <a:chOff x="0" y="0"/>
            <a:chExt cx="14629676" cy="547916"/>
          </a:xfrm>
        </p:grpSpPr>
        <p:sp>
          <p:nvSpPr>
            <p:cNvPr name="Freeform 3" id="3"/>
            <p:cNvSpPr/>
            <p:nvPr/>
          </p:nvSpPr>
          <p:spPr>
            <a:xfrm flipH="false" flipV="false" rot="0">
              <a:off x="0" y="0"/>
              <a:ext cx="14629681" cy="547920"/>
            </a:xfrm>
            <a:custGeom>
              <a:avLst/>
              <a:gdLst/>
              <a:ahLst/>
              <a:cxnLst/>
              <a:rect r="r" b="b" t="t" l="l"/>
              <a:pathLst>
                <a:path h="547920" w="14629681">
                  <a:moveTo>
                    <a:pt x="0" y="0"/>
                  </a:moveTo>
                  <a:lnTo>
                    <a:pt x="14629681" y="0"/>
                  </a:lnTo>
                  <a:lnTo>
                    <a:pt x="14629681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470258" r="0" b="-470257"/>
              </a:stretch>
            </a:blipFill>
          </p:spPr>
        </p:sp>
        <p:sp>
          <p:nvSpPr>
            <p:cNvPr name="TextBox 4" id="4"/>
            <p:cNvSpPr txBox="true"/>
            <p:nvPr/>
          </p:nvSpPr>
          <p:spPr>
            <a:xfrm>
              <a:off x="0" y="-38100"/>
              <a:ext cx="14629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2160"/>
                </a:lnSpc>
              </a:pPr>
              <a:r>
                <a:rPr lang="en-US" b="true" sz="1800" spc="298">
                  <a:solidFill>
                    <a:srgbClr val="FFB703"/>
                  </a:solidFill>
                  <a:latin typeface="Calibri (MS) Bold"/>
                  <a:ea typeface="Calibri (MS) Bold"/>
                  <a:cs typeface="Calibri (MS) Bold"/>
                  <a:sym typeface="Calibri (MS) Bold"/>
                </a:rPr>
                <a:t>REFERENCES</a:t>
              </a:r>
            </a:p>
          </p:txBody>
        </p:sp>
      </p:grpSp>
      <p:grpSp>
        <p:nvGrpSpPr>
          <p:cNvPr name="Group 5" id="5"/>
          <p:cNvGrpSpPr/>
          <p:nvPr/>
        </p:nvGrpSpPr>
        <p:grpSpPr>
          <a:xfrm rot="0">
            <a:off x="822960" y="850497"/>
            <a:ext cx="15910017" cy="959577"/>
            <a:chOff x="0" y="0"/>
            <a:chExt cx="21213356" cy="1279436"/>
          </a:xfrm>
        </p:grpSpPr>
        <p:sp>
          <p:nvSpPr>
            <p:cNvPr name="Freeform 6" id="6"/>
            <p:cNvSpPr/>
            <p:nvPr/>
          </p:nvSpPr>
          <p:spPr>
            <a:xfrm flipH="false" flipV="false" rot="0">
              <a:off x="0" y="0"/>
              <a:ext cx="21213359" cy="1279440"/>
            </a:xfrm>
            <a:custGeom>
              <a:avLst/>
              <a:gdLst/>
              <a:ahLst/>
              <a:cxnLst/>
              <a:rect r="r" b="b" t="t" l="l"/>
              <a:pathLst>
                <a:path h="1279440" w="21213359">
                  <a:moveTo>
                    <a:pt x="0" y="0"/>
                  </a:moveTo>
                  <a:lnTo>
                    <a:pt x="21213359" y="0"/>
                  </a:lnTo>
                  <a:lnTo>
                    <a:pt x="21213359" y="1279440"/>
                  </a:lnTo>
                  <a:lnTo>
                    <a:pt x="0" y="127944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273065" r="0" b="-273065"/>
              </a:stretch>
            </a:blipFill>
          </p:spPr>
        </p:sp>
        <p:sp>
          <p:nvSpPr>
            <p:cNvPr name="TextBox 7" id="7"/>
            <p:cNvSpPr txBox="true"/>
            <p:nvPr/>
          </p:nvSpPr>
          <p:spPr>
            <a:xfrm>
              <a:off x="0" y="-19050"/>
              <a:ext cx="21213356" cy="129848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5400"/>
                </a:lnSpc>
              </a:pPr>
              <a:r>
                <a:rPr lang="en-US" b="true" sz="4500" spc="-1">
                  <a:solidFill>
                    <a:srgbClr val="E5E9F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References</a:t>
              </a:r>
            </a:p>
          </p:txBody>
        </p:sp>
      </p:grpSp>
      <p:grpSp>
        <p:nvGrpSpPr>
          <p:cNvPr name="Group 8" id="8"/>
          <p:cNvGrpSpPr/>
          <p:nvPr/>
        </p:nvGrpSpPr>
        <p:grpSpPr>
          <a:xfrm rot="0">
            <a:off x="685800" y="9710823"/>
            <a:ext cx="4114257" cy="410937"/>
            <a:chOff x="0" y="0"/>
            <a:chExt cx="5485676" cy="547916"/>
          </a:xfrm>
        </p:grpSpPr>
        <p:sp>
          <p:nvSpPr>
            <p:cNvPr name="Freeform 9" id="9"/>
            <p:cNvSpPr/>
            <p:nvPr/>
          </p:nvSpPr>
          <p:spPr>
            <a:xfrm flipH="false" flipV="false" rot="0">
              <a:off x="0" y="0"/>
              <a:ext cx="5485680" cy="547920"/>
            </a:xfrm>
            <a:custGeom>
              <a:avLst/>
              <a:gdLst/>
              <a:ahLst/>
              <a:cxnLst/>
              <a:rect r="r" b="b" t="t" l="l"/>
              <a:pathLst>
                <a:path h="547920" w="5485680">
                  <a:moveTo>
                    <a:pt x="0" y="0"/>
                  </a:moveTo>
                  <a:lnTo>
                    <a:pt x="5485680" y="0"/>
                  </a:lnTo>
                  <a:lnTo>
                    <a:pt x="548568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145081" r="0" b="-145080"/>
              </a:stretch>
            </a:blipFill>
          </p:spPr>
        </p:sp>
        <p:sp>
          <p:nvSpPr>
            <p:cNvPr name="TextBox 10" id="10"/>
            <p:cNvSpPr txBox="true"/>
            <p:nvPr/>
          </p:nvSpPr>
          <p:spPr>
            <a:xfrm>
              <a:off x="0" y="-38100"/>
              <a:ext cx="548567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Contra-PPO</a:t>
              </a:r>
            </a:p>
          </p:txBody>
        </p:sp>
      </p:grpSp>
      <p:grpSp>
        <p:nvGrpSpPr>
          <p:cNvPr name="Group 11" id="11"/>
          <p:cNvGrpSpPr/>
          <p:nvPr/>
        </p:nvGrpSpPr>
        <p:grpSpPr>
          <a:xfrm rot="0">
            <a:off x="16911723" y="9710823"/>
            <a:ext cx="822417" cy="410937"/>
            <a:chOff x="0" y="0"/>
            <a:chExt cx="1096556" cy="547916"/>
          </a:xfrm>
        </p:grpSpPr>
        <p:sp>
          <p:nvSpPr>
            <p:cNvPr name="Freeform 12" id="12"/>
            <p:cNvSpPr/>
            <p:nvPr/>
          </p:nvSpPr>
          <p:spPr>
            <a:xfrm flipH="false" flipV="false" rot="0">
              <a:off x="0" y="0"/>
              <a:ext cx="1096560" cy="547920"/>
            </a:xfrm>
            <a:custGeom>
              <a:avLst/>
              <a:gdLst/>
              <a:ahLst/>
              <a:cxnLst/>
              <a:rect r="r" b="b" t="t" l="l"/>
              <a:pathLst>
                <a:path h="547920" w="1096560">
                  <a:moveTo>
                    <a:pt x="0" y="0"/>
                  </a:moveTo>
                  <a:lnTo>
                    <a:pt x="1096560" y="0"/>
                  </a:lnTo>
                  <a:lnTo>
                    <a:pt x="1096560" y="547920"/>
                  </a:lnTo>
                  <a:lnTo>
                    <a:pt x="0" y="54792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-14109" t="0" r="-14109" b="0"/>
              </a:stretch>
            </a:blipFill>
          </p:spPr>
        </p:sp>
        <p:sp>
          <p:nvSpPr>
            <p:cNvPr name="TextBox 13" id="13"/>
            <p:cNvSpPr txBox="true"/>
            <p:nvPr/>
          </p:nvSpPr>
          <p:spPr>
            <a:xfrm>
              <a:off x="0" y="-38100"/>
              <a:ext cx="1096556" cy="586016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r">
                <a:lnSpc>
                  <a:spcPts val="1800"/>
                </a:lnSpc>
              </a:pPr>
              <a:r>
                <a:rPr lang="en-US" sz="1500" spc="-1">
                  <a:solidFill>
                    <a:srgbClr val="9AA6C1"/>
                  </a:solidFill>
                  <a:latin typeface="Calibri (MS)"/>
                  <a:ea typeface="Calibri (MS)"/>
                  <a:cs typeface="Calibri (MS)"/>
                  <a:sym typeface="Calibri (MS)"/>
                </a:rPr>
                <a:t>11</a:t>
              </a:r>
            </a:p>
          </p:txBody>
        </p:sp>
      </p:grpSp>
      <p:grpSp>
        <p:nvGrpSpPr>
          <p:cNvPr name="Group 14" id="14"/>
          <p:cNvGrpSpPr/>
          <p:nvPr/>
        </p:nvGrpSpPr>
        <p:grpSpPr>
          <a:xfrm rot="0">
            <a:off x="1412915" y="3195750"/>
            <a:ext cx="15910017" cy="5129397"/>
            <a:chOff x="0" y="0"/>
            <a:chExt cx="21213356" cy="6839196"/>
          </a:xfrm>
        </p:grpSpPr>
        <p:sp>
          <p:nvSpPr>
            <p:cNvPr name="Freeform 15" id="15"/>
            <p:cNvSpPr/>
            <p:nvPr/>
          </p:nvSpPr>
          <p:spPr>
            <a:xfrm flipH="false" flipV="false" rot="0">
              <a:off x="0" y="0"/>
              <a:ext cx="21213359" cy="6839200"/>
            </a:xfrm>
            <a:custGeom>
              <a:avLst/>
              <a:gdLst/>
              <a:ahLst/>
              <a:cxnLst/>
              <a:rect r="r" b="b" t="t" l="l"/>
              <a:pathLst>
                <a:path h="6839200" w="21213359">
                  <a:moveTo>
                    <a:pt x="0" y="0"/>
                  </a:moveTo>
                  <a:lnTo>
                    <a:pt x="21213359" y="0"/>
                  </a:lnTo>
                  <a:lnTo>
                    <a:pt x="21213359" y="6839200"/>
                  </a:lnTo>
                  <a:lnTo>
                    <a:pt x="0" y="6839200"/>
                  </a:lnTo>
                  <a:close/>
                </a:path>
              </a:pathLst>
            </a:custGeom>
            <a:blipFill>
              <a:blip r:embed="rId3">
                <a:alphaModFix amt="0"/>
              </a:blip>
              <a:stretch>
                <a:fillRect l="0" t="-51083" r="0" b="30208"/>
              </a:stretch>
            </a:blipFill>
          </p:spPr>
        </p:sp>
        <p:sp>
          <p:nvSpPr>
            <p:cNvPr name="TextBox 16" id="16"/>
            <p:cNvSpPr txBox="true"/>
            <p:nvPr/>
          </p:nvSpPr>
          <p:spPr>
            <a:xfrm>
              <a:off x="0" y="-9525"/>
              <a:ext cx="21213356" cy="6848721"/>
            </a:xfrm>
            <a:prstGeom prst="rect">
              <a:avLst/>
            </a:prstGeom>
          </p:spPr>
          <p:txBody>
            <a:bodyPr anchor="ctr" rtlCol="false" tIns="0" lIns="0" bIns="0" rIns="0"/>
            <a:lstStyle/>
            <a:p>
              <a:pPr algn="l">
                <a:lnSpc>
                  <a:spcPts val="8399"/>
                </a:lnSpc>
              </a:pPr>
              <a:r>
                <a:rPr lang="en-US" b="true" sz="6999" spc="-2">
                  <a:solidFill>
                    <a:srgbClr val="E5E9F0"/>
                  </a:solidFill>
                  <a:latin typeface="Cambria Bold"/>
                  <a:ea typeface="Cambria Bold"/>
                  <a:cs typeface="Cambria Bold"/>
                  <a:sym typeface="Cambria Bold"/>
                </a:rPr>
                <a:t>Thank you for watching presentation</a:t>
              </a:r>
            </a:p>
          </p:txBody>
        </p:sp>
      </p:grp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Company/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xsi="http://www.w3.org/2001/XMLSchema-instance">
  <dcterms:created xsi:type="dcterms:W3CDTF">2006-08-16T00:00:00Z</dcterms:created>
  <dc:identifier>DAHP8eJqchA</dc:identifier>
  <dcterms:modified xsi:type="dcterms:W3CDTF">2011-08-01T06:04:30Z</dcterms:modified>
  <cp:revision>1</cp:revision>
  <dc:title>contra_ppo_presentation.pptx</dc:title>
</cp:coreProperties>
</file>