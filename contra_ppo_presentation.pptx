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ambria Bold" charset="1" panose="02040803050406030204"/>
      <p:regular r:id="rId20"/>
    </p:embeddedFont>
    <p:embeddedFont>
      <p:font typeface="Calibri (MS)" charset="1" panose="020F0502020204030204"/>
      <p:regular r:id="rId21"/>
    </p:embeddedFont>
    <p:embeddedFont>
      <p:font typeface="Calibri (MS) Bold" charset="1" panose="020F0702030404030204"/>
      <p:regular r:id="rId22"/>
    </p:embeddedFont>
    <p:embeddedFont>
      <p:font typeface="Calibri (MS) Italics" charset="1" panose="020F05020202040A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&lt;number&gt;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&lt;number&gt;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&lt;number&gt;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&lt;number&gt;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&lt;number&gt;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&lt;number&gt;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&lt;number&gt;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&lt;number&gt;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&lt;number&gt;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&lt;number&gt;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&lt;number&gt;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https://github.com/pikamanh/contra-PPO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8.pn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jpeg" Type="http://schemas.openxmlformats.org/officeDocument/2006/relationships/image"/><Relationship Id="rId4" Target="../media/image9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.jpeg" Type="http://schemas.openxmlformats.org/officeDocument/2006/relationships/image"/><Relationship Id="rId4" Target="../media/image22.png" Type="http://schemas.openxmlformats.org/officeDocument/2006/relationships/image"/><Relationship Id="rId5" Target="../media/image13.png" Type="http://schemas.openxmlformats.org/officeDocument/2006/relationships/image"/><Relationship Id="rId6" Target="../media/image5.png" Type="http://schemas.openxmlformats.org/officeDocument/2006/relationships/image"/><Relationship Id="rId7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2780" cy="10286457"/>
            <a:chOff x="0" y="0"/>
            <a:chExt cx="24377040" cy="137152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014" cy="13715237"/>
            </a:xfrm>
            <a:custGeom>
              <a:avLst/>
              <a:gdLst/>
              <a:ahLst/>
              <a:cxnLst/>
              <a:rect r="r" b="b" t="t" l="l"/>
              <a:pathLst>
                <a:path h="13715237" w="24377014">
                  <a:moveTo>
                    <a:pt x="0" y="0"/>
                  </a:moveTo>
                  <a:lnTo>
                    <a:pt x="24377014" y="0"/>
                  </a:lnTo>
                  <a:lnTo>
                    <a:pt x="24377014" y="13715237"/>
                  </a:lnTo>
                  <a:lnTo>
                    <a:pt x="0" y="13715237"/>
                  </a:lnTo>
                  <a:close/>
                </a:path>
              </a:pathLst>
            </a:custGeom>
            <a:solidFill>
              <a:srgbClr val="0B132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157835" y="813435"/>
            <a:ext cx="1184367" cy="1184367"/>
            <a:chOff x="0" y="0"/>
            <a:chExt cx="1579156" cy="15791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79118" cy="1579118"/>
            </a:xfrm>
            <a:custGeom>
              <a:avLst/>
              <a:gdLst/>
              <a:ahLst/>
              <a:cxnLst/>
              <a:rect r="r" b="b" t="t" l="l"/>
              <a:pathLst>
                <a:path h="1579118" w="1579118">
                  <a:moveTo>
                    <a:pt x="0" y="0"/>
                  </a:moveTo>
                  <a:lnTo>
                    <a:pt x="1579118" y="0"/>
                  </a:lnTo>
                  <a:lnTo>
                    <a:pt x="1579118" y="1579118"/>
                  </a:lnTo>
                  <a:lnTo>
                    <a:pt x="0" y="1579118"/>
                  </a:lnTo>
                  <a:close/>
                </a:path>
              </a:pathLst>
            </a:custGeom>
            <a:solidFill>
              <a:srgbClr val="1C2B4A">
                <a:alpha val="20000"/>
              </a:srgbClr>
            </a:solidFill>
            <a:ln w="19050" cap="sq">
              <a:solidFill>
                <a:srgbClr val="2A3B5C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4598015" y="813435"/>
            <a:ext cx="1184367" cy="1184367"/>
            <a:chOff x="0" y="0"/>
            <a:chExt cx="1579156" cy="15791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79118" cy="1579118"/>
            </a:xfrm>
            <a:custGeom>
              <a:avLst/>
              <a:gdLst/>
              <a:ahLst/>
              <a:cxnLst/>
              <a:rect r="r" b="b" t="t" l="l"/>
              <a:pathLst>
                <a:path h="1579118" w="1579118">
                  <a:moveTo>
                    <a:pt x="0" y="0"/>
                  </a:moveTo>
                  <a:lnTo>
                    <a:pt x="1579118" y="0"/>
                  </a:lnTo>
                  <a:lnTo>
                    <a:pt x="1579118" y="1579118"/>
                  </a:lnTo>
                  <a:lnTo>
                    <a:pt x="0" y="1579118"/>
                  </a:lnTo>
                  <a:close/>
                </a:path>
              </a:pathLst>
            </a:custGeom>
            <a:solidFill>
              <a:srgbClr val="1C2B4A">
                <a:alpha val="20000"/>
              </a:srgbClr>
            </a:solidFill>
            <a:ln w="19050" cap="sq">
              <a:solidFill>
                <a:srgbClr val="2A3B5C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6038195" y="813435"/>
            <a:ext cx="1184367" cy="1184367"/>
            <a:chOff x="0" y="0"/>
            <a:chExt cx="1579156" cy="15791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79118" cy="1579118"/>
            </a:xfrm>
            <a:custGeom>
              <a:avLst/>
              <a:gdLst/>
              <a:ahLst/>
              <a:cxnLst/>
              <a:rect r="r" b="b" t="t" l="l"/>
              <a:pathLst>
                <a:path h="1579118" w="1579118">
                  <a:moveTo>
                    <a:pt x="0" y="0"/>
                  </a:moveTo>
                  <a:lnTo>
                    <a:pt x="1579118" y="0"/>
                  </a:lnTo>
                  <a:lnTo>
                    <a:pt x="1579118" y="1579118"/>
                  </a:lnTo>
                  <a:lnTo>
                    <a:pt x="0" y="1579118"/>
                  </a:lnTo>
                  <a:close/>
                </a:path>
              </a:pathLst>
            </a:custGeom>
            <a:solidFill>
              <a:srgbClr val="1C2B4A">
                <a:alpha val="20000"/>
              </a:srgbClr>
            </a:solidFill>
            <a:ln w="19050" cap="sq">
              <a:solidFill>
                <a:srgbClr val="2A3B5C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3157835" y="2253615"/>
            <a:ext cx="1184367" cy="1184367"/>
            <a:chOff x="0" y="0"/>
            <a:chExt cx="1579156" cy="15791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79118" cy="1579118"/>
            </a:xfrm>
            <a:custGeom>
              <a:avLst/>
              <a:gdLst/>
              <a:ahLst/>
              <a:cxnLst/>
              <a:rect r="r" b="b" t="t" l="l"/>
              <a:pathLst>
                <a:path h="1579118" w="1579118">
                  <a:moveTo>
                    <a:pt x="0" y="0"/>
                  </a:moveTo>
                  <a:lnTo>
                    <a:pt x="1579118" y="0"/>
                  </a:lnTo>
                  <a:lnTo>
                    <a:pt x="1579118" y="1579118"/>
                  </a:lnTo>
                  <a:lnTo>
                    <a:pt x="0" y="1579118"/>
                  </a:lnTo>
                  <a:close/>
                </a:path>
              </a:pathLst>
            </a:custGeom>
            <a:solidFill>
              <a:srgbClr val="1C2B4A">
                <a:alpha val="20000"/>
              </a:srgbClr>
            </a:solidFill>
            <a:ln w="19050" cap="sq">
              <a:solidFill>
                <a:srgbClr val="2A3B5C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4598015" y="2253615"/>
            <a:ext cx="1184367" cy="1184367"/>
            <a:chOff x="0" y="0"/>
            <a:chExt cx="1579156" cy="15791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79118" cy="1579118"/>
            </a:xfrm>
            <a:custGeom>
              <a:avLst/>
              <a:gdLst/>
              <a:ahLst/>
              <a:cxnLst/>
              <a:rect r="r" b="b" t="t" l="l"/>
              <a:pathLst>
                <a:path h="1579118" w="1579118">
                  <a:moveTo>
                    <a:pt x="0" y="0"/>
                  </a:moveTo>
                  <a:lnTo>
                    <a:pt x="1579118" y="0"/>
                  </a:lnTo>
                  <a:lnTo>
                    <a:pt x="1579118" y="1579118"/>
                  </a:lnTo>
                  <a:lnTo>
                    <a:pt x="0" y="1579118"/>
                  </a:lnTo>
                  <a:close/>
                </a:path>
              </a:pathLst>
            </a:custGeom>
            <a:solidFill>
              <a:srgbClr val="1C2B4A">
                <a:alpha val="20000"/>
              </a:srgbClr>
            </a:solidFill>
            <a:ln w="19050" cap="sq">
              <a:solidFill>
                <a:srgbClr val="2A3B5C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6038195" y="2253615"/>
            <a:ext cx="1184367" cy="1184367"/>
            <a:chOff x="0" y="0"/>
            <a:chExt cx="1579156" cy="15791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79118" cy="1579118"/>
            </a:xfrm>
            <a:custGeom>
              <a:avLst/>
              <a:gdLst/>
              <a:ahLst/>
              <a:cxnLst/>
              <a:rect r="r" b="b" t="t" l="l"/>
              <a:pathLst>
                <a:path h="1579118" w="1579118">
                  <a:moveTo>
                    <a:pt x="0" y="0"/>
                  </a:moveTo>
                  <a:lnTo>
                    <a:pt x="1579118" y="0"/>
                  </a:lnTo>
                  <a:lnTo>
                    <a:pt x="1579118" y="1579118"/>
                  </a:lnTo>
                  <a:lnTo>
                    <a:pt x="0" y="1579118"/>
                  </a:lnTo>
                  <a:close/>
                </a:path>
              </a:pathLst>
            </a:custGeom>
            <a:solidFill>
              <a:srgbClr val="1C2B4A">
                <a:alpha val="20000"/>
              </a:srgbClr>
            </a:solidFill>
            <a:ln w="19050" cap="sq">
              <a:solidFill>
                <a:srgbClr val="2A3B5C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46685" y="573676"/>
            <a:ext cx="1576797" cy="1576797"/>
            <a:chOff x="0" y="0"/>
            <a:chExt cx="2102396" cy="210239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02358" cy="2102358"/>
            </a:xfrm>
            <a:custGeom>
              <a:avLst/>
              <a:gdLst/>
              <a:ahLst/>
              <a:cxnLst/>
              <a:rect r="r" b="b" t="t" l="l"/>
              <a:pathLst>
                <a:path h="2102358" w="2102358">
                  <a:moveTo>
                    <a:pt x="0" y="1051179"/>
                  </a:moveTo>
                  <a:cubicBezTo>
                    <a:pt x="0" y="470662"/>
                    <a:pt x="470662" y="0"/>
                    <a:pt x="1051179" y="0"/>
                  </a:cubicBezTo>
                  <a:cubicBezTo>
                    <a:pt x="1631696" y="0"/>
                    <a:pt x="2102358" y="470662"/>
                    <a:pt x="2102358" y="1051179"/>
                  </a:cubicBezTo>
                  <a:cubicBezTo>
                    <a:pt x="2102358" y="1631696"/>
                    <a:pt x="1631696" y="2102358"/>
                    <a:pt x="1051179" y="2102358"/>
                  </a:cubicBezTo>
                  <a:cubicBezTo>
                    <a:pt x="470662" y="2102358"/>
                    <a:pt x="0" y="1631823"/>
                    <a:pt x="0" y="1051179"/>
                  </a:cubicBez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25228" y="952219"/>
            <a:ext cx="819722" cy="819722"/>
            <a:chOff x="0" y="0"/>
            <a:chExt cx="1092962" cy="1092962"/>
          </a:xfrm>
        </p:grpSpPr>
        <p:sp>
          <p:nvSpPr>
            <p:cNvPr name="Freeform 19" id="19" descr="/tmp/claude-1000/-media-hung-Work-Project-AI-Engineer-RL-contra-PPO/70c7dc7d-8f3f-4139-8f25-95b0e9e6dca5/scratchpad/build/icons/gamepad.png"/>
            <p:cNvSpPr/>
            <p:nvPr/>
          </p:nvSpPr>
          <p:spPr>
            <a:xfrm flipH="false" flipV="false" rot="0">
              <a:off x="0" y="0"/>
              <a:ext cx="1092962" cy="1092962"/>
            </a:xfrm>
            <a:custGeom>
              <a:avLst/>
              <a:gdLst/>
              <a:ahLst/>
              <a:cxnLst/>
              <a:rect r="r" b="b" t="t" l="l"/>
              <a:pathLst>
                <a:path h="1092962" w="1092962">
                  <a:moveTo>
                    <a:pt x="0" y="0"/>
                  </a:moveTo>
                  <a:lnTo>
                    <a:pt x="1092962" y="0"/>
                  </a:lnTo>
                  <a:lnTo>
                    <a:pt x="1092962" y="1092962"/>
                  </a:lnTo>
                  <a:lnTo>
                    <a:pt x="0" y="10929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066925" y="436516"/>
            <a:ext cx="13715457" cy="1508217"/>
            <a:chOff x="0" y="0"/>
            <a:chExt cx="18287276" cy="20109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287281" cy="2010960"/>
            </a:xfrm>
            <a:custGeom>
              <a:avLst/>
              <a:gdLst/>
              <a:ahLst/>
              <a:cxnLst/>
              <a:rect r="r" b="b" t="t" l="l"/>
              <a:pathLst>
                <a:path h="2010960" w="18287281">
                  <a:moveTo>
                    <a:pt x="0" y="0"/>
                  </a:moveTo>
                  <a:lnTo>
                    <a:pt x="18287281" y="0"/>
                  </a:lnTo>
                  <a:lnTo>
                    <a:pt x="18287281" y="2010960"/>
                  </a:lnTo>
                  <a:lnTo>
                    <a:pt x="0" y="2010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7193" r="0" b="-12719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18287276" cy="20300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720"/>
                </a:lnSpc>
              </a:pPr>
              <a:r>
                <a:rPr lang="en-US" b="true" sz="8100" spc="-1">
                  <a:solidFill>
                    <a:srgbClr val="E5E9F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CONTRA-PPO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07968" y="1813348"/>
            <a:ext cx="8236839" cy="1086277"/>
            <a:chOff x="0" y="0"/>
            <a:chExt cx="10982452" cy="144837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82456" cy="1448374"/>
            </a:xfrm>
            <a:custGeom>
              <a:avLst/>
              <a:gdLst/>
              <a:ahLst/>
              <a:cxnLst/>
              <a:rect r="r" b="b" t="t" l="l"/>
              <a:pathLst>
                <a:path h="1448374" w="10982456">
                  <a:moveTo>
                    <a:pt x="0" y="0"/>
                  </a:moveTo>
                  <a:lnTo>
                    <a:pt x="10982456" y="0"/>
                  </a:lnTo>
                  <a:lnTo>
                    <a:pt x="10982456" y="1448374"/>
                  </a:lnTo>
                  <a:lnTo>
                    <a:pt x="0" y="14483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3244" r="-63183" b="-17895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10982452" cy="1515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19"/>
                </a:lnSpc>
              </a:pPr>
              <a:r>
                <a:rPr lang="en-US" sz="3099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Reinforcement Learning Agent that Plays Contra with Proximal Policy Optimization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107968" y="3042556"/>
            <a:ext cx="753837" cy="81544"/>
            <a:chOff x="0" y="0"/>
            <a:chExt cx="1005116" cy="10872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05078" cy="108712"/>
            </a:xfrm>
            <a:custGeom>
              <a:avLst/>
              <a:gdLst/>
              <a:ahLst/>
              <a:cxnLst/>
              <a:rect r="r" b="b" t="t" l="l"/>
              <a:pathLst>
                <a:path h="108712" w="1005078">
                  <a:moveTo>
                    <a:pt x="0" y="0"/>
                  </a:moveTo>
                  <a:lnTo>
                    <a:pt x="1005078" y="0"/>
                  </a:lnTo>
                  <a:lnTo>
                    <a:pt x="1005078" y="108712"/>
                  </a:lnTo>
                  <a:lnTo>
                    <a:pt x="0" y="108712"/>
                  </a:lnTo>
                  <a:close/>
                </a:path>
              </a:pathLst>
            </a:custGeom>
            <a:solidFill>
              <a:srgbClr val="FFB703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107968" y="3522616"/>
            <a:ext cx="13029657" cy="548100"/>
            <a:chOff x="0" y="0"/>
            <a:chExt cx="17372876" cy="730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7372881" cy="730804"/>
            </a:xfrm>
            <a:custGeom>
              <a:avLst/>
              <a:gdLst/>
              <a:ahLst/>
              <a:cxnLst/>
              <a:rect r="r" b="b" t="t" l="l"/>
              <a:pathLst>
                <a:path h="730804" w="17372881">
                  <a:moveTo>
                    <a:pt x="0" y="0"/>
                  </a:moveTo>
                  <a:lnTo>
                    <a:pt x="17372881" y="0"/>
                  </a:lnTo>
                  <a:lnTo>
                    <a:pt x="17372881" y="730804"/>
                  </a:lnTo>
                  <a:lnTo>
                    <a:pt x="0" y="7308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3204" r="0" b="-41320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7372876" cy="778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59"/>
                </a:lnSpc>
              </a:pPr>
              <a:r>
                <a:rPr lang="en-US" b="true" sz="2549" spc="-1">
                  <a:solidFill>
                    <a:srgbClr val="FFB70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Gymnasium</a:t>
              </a:r>
              <a:r>
                <a:rPr lang="en-US" sz="2549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·   </a:t>
              </a:r>
              <a:r>
                <a:rPr lang="en-US" b="true" sz="2549" spc="-1">
                  <a:solidFill>
                    <a:srgbClr val="FFB70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PyTorch</a:t>
              </a:r>
              <a:r>
                <a:rPr lang="en-US" sz="2549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·   </a:t>
              </a:r>
              <a:r>
                <a:rPr lang="en-US" b="true" sz="2549" spc="-1">
                  <a:solidFill>
                    <a:srgbClr val="FFB70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Stable-Baselines3</a:t>
              </a:r>
              <a:r>
                <a:rPr lang="en-US" sz="2549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·   </a:t>
              </a:r>
              <a:r>
                <a:rPr lang="en-US" b="true" sz="2549" spc="-1">
                  <a:solidFill>
                    <a:srgbClr val="FFB70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nes-py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796923" y="9258300"/>
            <a:ext cx="4662897" cy="479520"/>
            <a:chOff x="0" y="0"/>
            <a:chExt cx="6217196" cy="6393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217200" cy="639364"/>
            </a:xfrm>
            <a:custGeom>
              <a:avLst/>
              <a:gdLst/>
              <a:ahLst/>
              <a:cxnLst/>
              <a:rect r="r" b="b" t="t" l="l"/>
              <a:pathLst>
                <a:path h="639364" w="6217200">
                  <a:moveTo>
                    <a:pt x="0" y="0"/>
                  </a:moveTo>
                  <a:lnTo>
                    <a:pt x="6217200" y="0"/>
                  </a:lnTo>
                  <a:lnTo>
                    <a:pt x="6217200" y="639364"/>
                  </a:lnTo>
                  <a:lnTo>
                    <a:pt x="0" y="6393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9473" r="0" b="-13947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217196" cy="677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spc="-1" u="sng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5" tooltip="https://github.com/pikamanh/contra-PPO"/>
                </a:rPr>
                <a:t>github.com/pikamanh</a:t>
              </a:r>
            </a:p>
          </p:txBody>
        </p:sp>
      </p:grpSp>
      <p:graphicFrame>
        <p:nvGraphicFramePr>
          <p:cNvPr name="Table 34" id="34"/>
          <p:cNvGraphicFramePr>
            <a:graphicFrameLocks noGrp="true"/>
          </p:cNvGraphicFramePr>
          <p:nvPr/>
        </p:nvGraphicFramePr>
        <p:xfrm>
          <a:off x="4896567" y="5881979"/>
          <a:ext cx="8490293" cy="3295650"/>
        </p:xfrm>
        <a:graphic>
          <a:graphicData uri="http://schemas.openxmlformats.org/drawingml/2006/table">
            <a:tbl>
              <a:tblPr/>
              <a:tblGrid>
                <a:gridCol w="4765447"/>
                <a:gridCol w="3724846"/>
              </a:tblGrid>
              <a:tr h="10985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 b="true">
                          <a:solidFill>
                            <a:srgbClr val="E5E9F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b="true" sz="3299">
                          <a:solidFill>
                            <a:srgbClr val="E5E9F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MSSV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85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E5E9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Lại Hoàng Minh Phúc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61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299" strike="noStrike" u="none">
                          <a:solidFill>
                            <a:srgbClr val="E5E9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SE184914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85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E5E9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Nguyễn Mạnh Hưng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E5E9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SE184693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0972257" cy="410937"/>
            <a:chOff x="0" y="0"/>
            <a:chExt cx="14629676" cy="5479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29681" cy="547920"/>
            </a:xfrm>
            <a:custGeom>
              <a:avLst/>
              <a:gdLst/>
              <a:ahLst/>
              <a:cxnLst/>
              <a:rect r="r" b="b" t="t" l="l"/>
              <a:pathLst>
                <a:path h="547920" w="14629681">
                  <a:moveTo>
                    <a:pt x="0" y="0"/>
                  </a:moveTo>
                  <a:lnTo>
                    <a:pt x="14629681" y="0"/>
                  </a:lnTo>
                  <a:lnTo>
                    <a:pt x="14629681" y="547920"/>
                  </a:lnTo>
                  <a:lnTo>
                    <a:pt x="0" y="547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0258" r="0" b="-47025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29676" cy="5860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8">
                  <a:solidFill>
                    <a:srgbClr val="FFB70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PROBLEM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850497"/>
            <a:ext cx="15910017" cy="959577"/>
            <a:chOff x="0" y="0"/>
            <a:chExt cx="21213356" cy="12794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213359" cy="1279440"/>
            </a:xfrm>
            <a:custGeom>
              <a:avLst/>
              <a:gdLst/>
              <a:ahLst/>
              <a:cxnLst/>
              <a:rect r="r" b="b" t="t" l="l"/>
              <a:pathLst>
                <a:path h="1279440" w="21213359">
                  <a:moveTo>
                    <a:pt x="0" y="0"/>
                  </a:moveTo>
                  <a:lnTo>
                    <a:pt x="21213359" y="0"/>
                  </a:lnTo>
                  <a:lnTo>
                    <a:pt x="21213359" y="1279440"/>
                  </a:lnTo>
                  <a:lnTo>
                    <a:pt x="0" y="1279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065" r="0" b="-2730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213356" cy="1298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 spc="-1">
                  <a:solidFill>
                    <a:srgbClr val="E5E9F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Contra: a side-scrolling shooter with a large action space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400300"/>
            <a:ext cx="7611837" cy="1782537"/>
            <a:chOff x="0" y="0"/>
            <a:chExt cx="10149116" cy="23767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49205" cy="2376805"/>
            </a:xfrm>
            <a:custGeom>
              <a:avLst/>
              <a:gdLst/>
              <a:ahLst/>
              <a:cxnLst/>
              <a:rect r="r" b="b" t="t" l="l"/>
              <a:pathLst>
                <a:path h="2376805" w="10149205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002901" y="0"/>
                  </a:lnTo>
                  <a:cubicBezTo>
                    <a:pt x="10083673" y="0"/>
                    <a:pt x="10149205" y="65532"/>
                    <a:pt x="10149205" y="146304"/>
                  </a:cubicBezTo>
                  <a:lnTo>
                    <a:pt x="10149205" y="2230501"/>
                  </a:lnTo>
                  <a:cubicBezTo>
                    <a:pt x="10149205" y="2311273"/>
                    <a:pt x="10083673" y="2376805"/>
                    <a:pt x="10002901" y="2376805"/>
                  </a:cubicBezTo>
                  <a:lnTo>
                    <a:pt x="146304" y="2376805"/>
                  </a:lnTo>
                  <a:cubicBezTo>
                    <a:pt x="65532" y="2376678"/>
                    <a:pt x="0" y="2311273"/>
                    <a:pt x="0" y="2230501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24817" y="2743200"/>
            <a:ext cx="1096737" cy="1096737"/>
            <a:chOff x="0" y="0"/>
            <a:chExt cx="1462316" cy="14623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2278" cy="1462278"/>
            </a:xfrm>
            <a:custGeom>
              <a:avLst/>
              <a:gdLst/>
              <a:ahLst/>
              <a:cxnLst/>
              <a:rect r="r" b="b" t="t" l="l"/>
              <a:pathLst>
                <a:path h="1462278" w="1462278">
                  <a:moveTo>
                    <a:pt x="0" y="731139"/>
                  </a:moveTo>
                  <a:cubicBezTo>
                    <a:pt x="0" y="327406"/>
                    <a:pt x="327406" y="0"/>
                    <a:pt x="731139" y="0"/>
                  </a:cubicBezTo>
                  <a:cubicBezTo>
                    <a:pt x="1134872" y="0"/>
                    <a:pt x="1462278" y="327406"/>
                    <a:pt x="1462278" y="731139"/>
                  </a:cubicBezTo>
                  <a:cubicBezTo>
                    <a:pt x="1462278" y="1134872"/>
                    <a:pt x="1134872" y="1462278"/>
                    <a:pt x="731139" y="1462278"/>
                  </a:cubicBezTo>
                  <a:cubicBezTo>
                    <a:pt x="327406" y="1462278"/>
                    <a:pt x="0" y="1134999"/>
                    <a:pt x="0" y="731139"/>
                  </a:cubicBez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87802" y="3006719"/>
            <a:ext cx="570243" cy="570243"/>
            <a:chOff x="0" y="0"/>
            <a:chExt cx="760324" cy="760324"/>
          </a:xfrm>
        </p:grpSpPr>
        <p:sp>
          <p:nvSpPr>
            <p:cNvPr name="Freeform 13" id="13" descr="/tmp/claude-1000/-media-hung-Work-Project-AI-Engineer-RL-contra-PPO/70c7dc7d-8f3f-4139-8f25-95b0e9e6dca5/scratchpad/build/icons/crosshair.png"/>
            <p:cNvSpPr/>
            <p:nvPr/>
          </p:nvSpPr>
          <p:spPr>
            <a:xfrm flipH="false" flipV="false" rot="0">
              <a:off x="0" y="0"/>
              <a:ext cx="760349" cy="760349"/>
            </a:xfrm>
            <a:custGeom>
              <a:avLst/>
              <a:gdLst/>
              <a:ahLst/>
              <a:cxnLst/>
              <a:rect r="r" b="b" t="t" l="l"/>
              <a:pathLst>
                <a:path h="760349" w="760349">
                  <a:moveTo>
                    <a:pt x="0" y="0"/>
                  </a:moveTo>
                  <a:lnTo>
                    <a:pt x="760349" y="0"/>
                  </a:lnTo>
                  <a:lnTo>
                    <a:pt x="760349" y="760349"/>
                  </a:lnTo>
                  <a:lnTo>
                    <a:pt x="0" y="7603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68880" y="2647083"/>
            <a:ext cx="5691597" cy="548097"/>
            <a:chOff x="0" y="0"/>
            <a:chExt cx="7588796" cy="7307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588800" cy="730800"/>
            </a:xfrm>
            <a:custGeom>
              <a:avLst/>
              <a:gdLst/>
              <a:ahLst/>
              <a:cxnLst/>
              <a:rect r="r" b="b" t="t" l="l"/>
              <a:pathLst>
                <a:path h="730800" w="7588800">
                  <a:moveTo>
                    <a:pt x="0" y="0"/>
                  </a:moveTo>
                  <a:lnTo>
                    <a:pt x="7588800" y="0"/>
                  </a:lnTo>
                  <a:lnTo>
                    <a:pt x="7588800" y="730800"/>
                  </a:lnTo>
                  <a:lnTo>
                    <a:pt x="0" y="730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337" r="0" b="-15233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7588796" cy="787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-1">
                  <a:solidFill>
                    <a:srgbClr val="E5E9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Terrain navigation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468880" y="3195723"/>
            <a:ext cx="5691597" cy="891000"/>
            <a:chOff x="0" y="0"/>
            <a:chExt cx="7588796" cy="1188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588800" cy="1188004"/>
            </a:xfrm>
            <a:custGeom>
              <a:avLst/>
              <a:gdLst/>
              <a:ahLst/>
              <a:cxnLst/>
              <a:rect r="r" b="b" t="t" l="l"/>
              <a:pathLst>
                <a:path h="1188004" w="7588800">
                  <a:moveTo>
                    <a:pt x="0" y="0"/>
                  </a:moveTo>
                  <a:lnTo>
                    <a:pt x="7588800" y="0"/>
                  </a:lnTo>
                  <a:lnTo>
                    <a:pt x="7588800" y="1188004"/>
                  </a:lnTo>
                  <a:lnTo>
                    <a:pt x="0" y="11880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467" r="0" b="-7446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7588796" cy="1245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72"/>
                </a:lnSpc>
              </a:pPr>
              <a:r>
                <a:rPr lang="en-US" sz="2024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Climb, jump, and dodge obstacles while the screen auto-scrolls in real time.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21140" y="2400300"/>
            <a:ext cx="7611837" cy="1782537"/>
            <a:chOff x="0" y="0"/>
            <a:chExt cx="10149116" cy="23767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149205" cy="2376805"/>
            </a:xfrm>
            <a:custGeom>
              <a:avLst/>
              <a:gdLst/>
              <a:ahLst/>
              <a:cxnLst/>
              <a:rect r="r" b="b" t="t" l="l"/>
              <a:pathLst>
                <a:path h="2376805" w="10149205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002901" y="0"/>
                  </a:lnTo>
                  <a:cubicBezTo>
                    <a:pt x="10083673" y="0"/>
                    <a:pt x="10149205" y="65532"/>
                    <a:pt x="10149205" y="146304"/>
                  </a:cubicBezTo>
                  <a:lnTo>
                    <a:pt x="10149205" y="2230501"/>
                  </a:lnTo>
                  <a:cubicBezTo>
                    <a:pt x="10149205" y="2311273"/>
                    <a:pt x="10083673" y="2376805"/>
                    <a:pt x="10002901" y="2376805"/>
                  </a:cubicBezTo>
                  <a:lnTo>
                    <a:pt x="146304" y="2376805"/>
                  </a:lnTo>
                  <a:cubicBezTo>
                    <a:pt x="65532" y="2376678"/>
                    <a:pt x="0" y="2311273"/>
                    <a:pt x="0" y="2230501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422997" y="2743200"/>
            <a:ext cx="1096737" cy="1096737"/>
            <a:chOff x="0" y="0"/>
            <a:chExt cx="1462316" cy="14623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62278" cy="1462278"/>
            </a:xfrm>
            <a:custGeom>
              <a:avLst/>
              <a:gdLst/>
              <a:ahLst/>
              <a:cxnLst/>
              <a:rect r="r" b="b" t="t" l="l"/>
              <a:pathLst>
                <a:path h="1462278" w="1462278">
                  <a:moveTo>
                    <a:pt x="0" y="731139"/>
                  </a:moveTo>
                  <a:cubicBezTo>
                    <a:pt x="0" y="327406"/>
                    <a:pt x="327406" y="0"/>
                    <a:pt x="731139" y="0"/>
                  </a:cubicBezTo>
                  <a:cubicBezTo>
                    <a:pt x="1134872" y="0"/>
                    <a:pt x="1462278" y="327406"/>
                    <a:pt x="1462278" y="731139"/>
                  </a:cubicBezTo>
                  <a:cubicBezTo>
                    <a:pt x="1462278" y="1134872"/>
                    <a:pt x="1134872" y="1462278"/>
                    <a:pt x="731139" y="1462278"/>
                  </a:cubicBezTo>
                  <a:cubicBezTo>
                    <a:pt x="327406" y="1462278"/>
                    <a:pt x="0" y="1134999"/>
                    <a:pt x="0" y="731139"/>
                  </a:cubicBez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685982" y="3006719"/>
            <a:ext cx="570243" cy="570243"/>
            <a:chOff x="0" y="0"/>
            <a:chExt cx="760324" cy="760324"/>
          </a:xfrm>
        </p:grpSpPr>
        <p:sp>
          <p:nvSpPr>
            <p:cNvPr name="Freeform 25" id="25" descr="/tmp/claude-1000/-media-hung-Work-Project-AI-Engineer-RL-contra-PPO/70c7dc7d-8f3f-4139-8f25-95b0e9e6dca5/scratchpad/build/icons/crosshair.png"/>
            <p:cNvSpPr/>
            <p:nvPr/>
          </p:nvSpPr>
          <p:spPr>
            <a:xfrm flipH="false" flipV="false" rot="0">
              <a:off x="0" y="0"/>
              <a:ext cx="760349" cy="760349"/>
            </a:xfrm>
            <a:custGeom>
              <a:avLst/>
              <a:gdLst/>
              <a:ahLst/>
              <a:cxnLst/>
              <a:rect r="r" b="b" t="t" l="l"/>
              <a:pathLst>
                <a:path h="760349" w="760349">
                  <a:moveTo>
                    <a:pt x="0" y="0"/>
                  </a:moveTo>
                  <a:lnTo>
                    <a:pt x="760349" y="0"/>
                  </a:lnTo>
                  <a:lnTo>
                    <a:pt x="760349" y="760349"/>
                  </a:lnTo>
                  <a:lnTo>
                    <a:pt x="0" y="7603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767060" y="2647083"/>
            <a:ext cx="5691597" cy="548097"/>
            <a:chOff x="0" y="0"/>
            <a:chExt cx="7588796" cy="73079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588800" cy="730800"/>
            </a:xfrm>
            <a:custGeom>
              <a:avLst/>
              <a:gdLst/>
              <a:ahLst/>
              <a:cxnLst/>
              <a:rect r="r" b="b" t="t" l="l"/>
              <a:pathLst>
                <a:path h="730800" w="7588800">
                  <a:moveTo>
                    <a:pt x="0" y="0"/>
                  </a:moveTo>
                  <a:lnTo>
                    <a:pt x="7588800" y="0"/>
                  </a:lnTo>
                  <a:lnTo>
                    <a:pt x="7588800" y="730800"/>
                  </a:lnTo>
                  <a:lnTo>
                    <a:pt x="0" y="730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337" r="0" b="-15233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7588796" cy="787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-1">
                  <a:solidFill>
                    <a:srgbClr val="E5E9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Dodging attacks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767060" y="3195723"/>
            <a:ext cx="5691597" cy="891000"/>
            <a:chOff x="0" y="0"/>
            <a:chExt cx="7588796" cy="1188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588800" cy="1188004"/>
            </a:xfrm>
            <a:custGeom>
              <a:avLst/>
              <a:gdLst/>
              <a:ahLst/>
              <a:cxnLst/>
              <a:rect r="r" b="b" t="t" l="l"/>
              <a:pathLst>
                <a:path h="1188004" w="7588800">
                  <a:moveTo>
                    <a:pt x="0" y="0"/>
                  </a:moveTo>
                  <a:lnTo>
                    <a:pt x="7588800" y="0"/>
                  </a:lnTo>
                  <a:lnTo>
                    <a:pt x="7588800" y="1188004"/>
                  </a:lnTo>
                  <a:lnTo>
                    <a:pt x="0" y="11880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467" r="0" b="-7446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7588796" cy="1245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72"/>
                </a:lnSpc>
              </a:pPr>
              <a:r>
                <a:rPr lang="en-US" sz="2024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Bullets and enemies spawn continuously, with no fixed pattern across playthroughs.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" y="4526280"/>
            <a:ext cx="7611837" cy="1782537"/>
            <a:chOff x="0" y="0"/>
            <a:chExt cx="10149116" cy="23767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149205" cy="2376805"/>
            </a:xfrm>
            <a:custGeom>
              <a:avLst/>
              <a:gdLst/>
              <a:ahLst/>
              <a:cxnLst/>
              <a:rect r="r" b="b" t="t" l="l"/>
              <a:pathLst>
                <a:path h="2376805" w="10149205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002901" y="0"/>
                  </a:lnTo>
                  <a:cubicBezTo>
                    <a:pt x="10083673" y="0"/>
                    <a:pt x="10149205" y="65532"/>
                    <a:pt x="10149205" y="146304"/>
                  </a:cubicBezTo>
                  <a:lnTo>
                    <a:pt x="10149205" y="2230501"/>
                  </a:lnTo>
                  <a:cubicBezTo>
                    <a:pt x="10149205" y="2311273"/>
                    <a:pt x="10083673" y="2376805"/>
                    <a:pt x="10002901" y="2376805"/>
                  </a:cubicBezTo>
                  <a:lnTo>
                    <a:pt x="146304" y="2376805"/>
                  </a:lnTo>
                  <a:cubicBezTo>
                    <a:pt x="65532" y="2376678"/>
                    <a:pt x="0" y="2311273"/>
                    <a:pt x="0" y="2230501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24817" y="4869180"/>
            <a:ext cx="1096737" cy="1096737"/>
            <a:chOff x="0" y="0"/>
            <a:chExt cx="1462316" cy="146231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62278" cy="1462278"/>
            </a:xfrm>
            <a:custGeom>
              <a:avLst/>
              <a:gdLst/>
              <a:ahLst/>
              <a:cxnLst/>
              <a:rect r="r" b="b" t="t" l="l"/>
              <a:pathLst>
                <a:path h="1462278" w="1462278">
                  <a:moveTo>
                    <a:pt x="0" y="731139"/>
                  </a:moveTo>
                  <a:cubicBezTo>
                    <a:pt x="0" y="327406"/>
                    <a:pt x="327406" y="0"/>
                    <a:pt x="731139" y="0"/>
                  </a:cubicBezTo>
                  <a:cubicBezTo>
                    <a:pt x="1134872" y="0"/>
                    <a:pt x="1462278" y="327406"/>
                    <a:pt x="1462278" y="731139"/>
                  </a:cubicBezTo>
                  <a:cubicBezTo>
                    <a:pt x="1462278" y="1134872"/>
                    <a:pt x="1134872" y="1462278"/>
                    <a:pt x="731139" y="1462278"/>
                  </a:cubicBezTo>
                  <a:cubicBezTo>
                    <a:pt x="327406" y="1462278"/>
                    <a:pt x="0" y="1134999"/>
                    <a:pt x="0" y="731139"/>
                  </a:cubicBez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387802" y="5132699"/>
            <a:ext cx="570243" cy="570243"/>
            <a:chOff x="0" y="0"/>
            <a:chExt cx="760324" cy="760324"/>
          </a:xfrm>
        </p:grpSpPr>
        <p:sp>
          <p:nvSpPr>
            <p:cNvPr name="Freeform 37" id="37" descr="/tmp/claude-1000/-media-hung-Work-Project-AI-Engineer-RL-contra-PPO/70c7dc7d-8f3f-4139-8f25-95b0e9e6dca5/scratchpad/build/icons/crosshair.png"/>
            <p:cNvSpPr/>
            <p:nvPr/>
          </p:nvSpPr>
          <p:spPr>
            <a:xfrm flipH="false" flipV="false" rot="0">
              <a:off x="0" y="0"/>
              <a:ext cx="760349" cy="760349"/>
            </a:xfrm>
            <a:custGeom>
              <a:avLst/>
              <a:gdLst/>
              <a:ahLst/>
              <a:cxnLst/>
              <a:rect r="r" b="b" t="t" l="l"/>
              <a:pathLst>
                <a:path h="760349" w="760349">
                  <a:moveTo>
                    <a:pt x="0" y="0"/>
                  </a:moveTo>
                  <a:lnTo>
                    <a:pt x="760349" y="0"/>
                  </a:lnTo>
                  <a:lnTo>
                    <a:pt x="760349" y="760349"/>
                  </a:lnTo>
                  <a:lnTo>
                    <a:pt x="0" y="7603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2468880" y="4773063"/>
            <a:ext cx="5691597" cy="548097"/>
            <a:chOff x="0" y="0"/>
            <a:chExt cx="7588796" cy="73079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588800" cy="730800"/>
            </a:xfrm>
            <a:custGeom>
              <a:avLst/>
              <a:gdLst/>
              <a:ahLst/>
              <a:cxnLst/>
              <a:rect r="r" b="b" t="t" l="l"/>
              <a:pathLst>
                <a:path h="730800" w="7588800">
                  <a:moveTo>
                    <a:pt x="0" y="0"/>
                  </a:moveTo>
                  <a:lnTo>
                    <a:pt x="7588800" y="0"/>
                  </a:lnTo>
                  <a:lnTo>
                    <a:pt x="7588800" y="730800"/>
                  </a:lnTo>
                  <a:lnTo>
                    <a:pt x="0" y="730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337" r="0" b="-15233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7588796" cy="787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-1">
                  <a:solidFill>
                    <a:srgbClr val="E5E9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Defeating enemies &amp; bosses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468880" y="5321703"/>
            <a:ext cx="5691597" cy="891000"/>
            <a:chOff x="0" y="0"/>
            <a:chExt cx="7588796" cy="1188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588800" cy="1188004"/>
            </a:xfrm>
            <a:custGeom>
              <a:avLst/>
              <a:gdLst/>
              <a:ahLst/>
              <a:cxnLst/>
              <a:rect r="r" b="b" t="t" l="l"/>
              <a:pathLst>
                <a:path h="1188004" w="7588800">
                  <a:moveTo>
                    <a:pt x="0" y="0"/>
                  </a:moveTo>
                  <a:lnTo>
                    <a:pt x="7588800" y="0"/>
                  </a:lnTo>
                  <a:lnTo>
                    <a:pt x="7588800" y="1188004"/>
                  </a:lnTo>
                  <a:lnTo>
                    <a:pt x="0" y="11880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467" r="0" b="-7446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7588796" cy="1245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72"/>
                </a:lnSpc>
              </a:pPr>
              <a:r>
                <a:rPr lang="en-US" sz="2024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Aiming accurately while still keeping up the pace of movement.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121140" y="4526280"/>
            <a:ext cx="7611837" cy="1782537"/>
            <a:chOff x="0" y="0"/>
            <a:chExt cx="10149116" cy="237671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149205" cy="2376805"/>
            </a:xfrm>
            <a:custGeom>
              <a:avLst/>
              <a:gdLst/>
              <a:ahLst/>
              <a:cxnLst/>
              <a:rect r="r" b="b" t="t" l="l"/>
              <a:pathLst>
                <a:path h="2376805" w="10149205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002901" y="0"/>
                  </a:lnTo>
                  <a:cubicBezTo>
                    <a:pt x="10083673" y="0"/>
                    <a:pt x="10149205" y="65532"/>
                    <a:pt x="10149205" y="146304"/>
                  </a:cubicBezTo>
                  <a:lnTo>
                    <a:pt x="10149205" y="2230501"/>
                  </a:lnTo>
                  <a:cubicBezTo>
                    <a:pt x="10149205" y="2311273"/>
                    <a:pt x="10083673" y="2376805"/>
                    <a:pt x="10002901" y="2376805"/>
                  </a:cubicBezTo>
                  <a:lnTo>
                    <a:pt x="146304" y="2376805"/>
                  </a:lnTo>
                  <a:cubicBezTo>
                    <a:pt x="65532" y="2376678"/>
                    <a:pt x="0" y="2311273"/>
                    <a:pt x="0" y="2230501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422997" y="4869180"/>
            <a:ext cx="1096737" cy="1096737"/>
            <a:chOff x="0" y="0"/>
            <a:chExt cx="1462316" cy="146231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462278" cy="1462278"/>
            </a:xfrm>
            <a:custGeom>
              <a:avLst/>
              <a:gdLst/>
              <a:ahLst/>
              <a:cxnLst/>
              <a:rect r="r" b="b" t="t" l="l"/>
              <a:pathLst>
                <a:path h="1462278" w="1462278">
                  <a:moveTo>
                    <a:pt x="0" y="731139"/>
                  </a:moveTo>
                  <a:cubicBezTo>
                    <a:pt x="0" y="327406"/>
                    <a:pt x="327406" y="0"/>
                    <a:pt x="731139" y="0"/>
                  </a:cubicBezTo>
                  <a:cubicBezTo>
                    <a:pt x="1134872" y="0"/>
                    <a:pt x="1462278" y="327406"/>
                    <a:pt x="1462278" y="731139"/>
                  </a:cubicBezTo>
                  <a:cubicBezTo>
                    <a:pt x="1462278" y="1134872"/>
                    <a:pt x="1134872" y="1462278"/>
                    <a:pt x="731139" y="1462278"/>
                  </a:cubicBezTo>
                  <a:cubicBezTo>
                    <a:pt x="327406" y="1462278"/>
                    <a:pt x="0" y="1134999"/>
                    <a:pt x="0" y="731139"/>
                  </a:cubicBez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685982" y="5132699"/>
            <a:ext cx="570243" cy="570243"/>
            <a:chOff x="0" y="0"/>
            <a:chExt cx="760324" cy="760324"/>
          </a:xfrm>
        </p:grpSpPr>
        <p:sp>
          <p:nvSpPr>
            <p:cNvPr name="Freeform 49" id="49" descr="/tmp/claude-1000/-media-hung-Work-Project-AI-Engineer-RL-contra-PPO/70c7dc7d-8f3f-4139-8f25-95b0e9e6dca5/scratchpad/build/icons/crosshair.png"/>
            <p:cNvSpPr/>
            <p:nvPr/>
          </p:nvSpPr>
          <p:spPr>
            <a:xfrm flipH="false" flipV="false" rot="0">
              <a:off x="0" y="0"/>
              <a:ext cx="760349" cy="760349"/>
            </a:xfrm>
            <a:custGeom>
              <a:avLst/>
              <a:gdLst/>
              <a:ahLst/>
              <a:cxnLst/>
              <a:rect r="r" b="b" t="t" l="l"/>
              <a:pathLst>
                <a:path h="760349" w="760349">
                  <a:moveTo>
                    <a:pt x="0" y="0"/>
                  </a:moveTo>
                  <a:lnTo>
                    <a:pt x="760349" y="0"/>
                  </a:lnTo>
                  <a:lnTo>
                    <a:pt x="760349" y="760349"/>
                  </a:lnTo>
                  <a:lnTo>
                    <a:pt x="0" y="7603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0767060" y="4773063"/>
            <a:ext cx="5691597" cy="548097"/>
            <a:chOff x="0" y="0"/>
            <a:chExt cx="7588796" cy="73079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588800" cy="730800"/>
            </a:xfrm>
            <a:custGeom>
              <a:avLst/>
              <a:gdLst/>
              <a:ahLst/>
              <a:cxnLst/>
              <a:rect r="r" b="b" t="t" l="l"/>
              <a:pathLst>
                <a:path h="730800" w="7588800">
                  <a:moveTo>
                    <a:pt x="0" y="0"/>
                  </a:moveTo>
                  <a:lnTo>
                    <a:pt x="7588800" y="0"/>
                  </a:lnTo>
                  <a:lnTo>
                    <a:pt x="7588800" y="730800"/>
                  </a:lnTo>
                  <a:lnTo>
                    <a:pt x="0" y="730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337" r="0" b="-15233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7588796" cy="787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-1">
                  <a:solidFill>
                    <a:srgbClr val="E5E9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Reaching the end of the stage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767060" y="5321703"/>
            <a:ext cx="5691597" cy="891000"/>
            <a:chOff x="0" y="0"/>
            <a:chExt cx="7588796" cy="11880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588800" cy="1188004"/>
            </a:xfrm>
            <a:custGeom>
              <a:avLst/>
              <a:gdLst/>
              <a:ahLst/>
              <a:cxnLst/>
              <a:rect r="r" b="b" t="t" l="l"/>
              <a:pathLst>
                <a:path h="1188004" w="7588800">
                  <a:moveTo>
                    <a:pt x="0" y="0"/>
                  </a:moveTo>
                  <a:lnTo>
                    <a:pt x="7588800" y="0"/>
                  </a:lnTo>
                  <a:lnTo>
                    <a:pt x="7588800" y="1188004"/>
                  </a:lnTo>
                  <a:lnTo>
                    <a:pt x="0" y="11880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467" r="0" b="-74467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7588796" cy="1245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72"/>
                </a:lnSpc>
              </a:pPr>
              <a:r>
                <a:rPr lang="en-US" sz="2024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long-horizon goal that requires hundreds of consecutive correct decisions.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22960" y="6926580"/>
            <a:ext cx="16636860" cy="2125437"/>
            <a:chOff x="0" y="0"/>
            <a:chExt cx="22182480" cy="283391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2182582" cy="2834005"/>
            </a:xfrm>
            <a:custGeom>
              <a:avLst/>
              <a:gdLst/>
              <a:ahLst/>
              <a:cxnLst/>
              <a:rect r="r" b="b" t="t" l="l"/>
              <a:pathLst>
                <a:path h="2834005" w="2218258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036278" y="0"/>
                  </a:lnTo>
                  <a:cubicBezTo>
                    <a:pt x="22117050" y="0"/>
                    <a:pt x="22182582" y="65532"/>
                    <a:pt x="22182582" y="146304"/>
                  </a:cubicBezTo>
                  <a:lnTo>
                    <a:pt x="22182582" y="2687701"/>
                  </a:lnTo>
                  <a:cubicBezTo>
                    <a:pt x="22182582" y="2768473"/>
                    <a:pt x="22117050" y="2834005"/>
                    <a:pt x="22036278" y="2834005"/>
                  </a:cubicBezTo>
                  <a:lnTo>
                    <a:pt x="146304" y="2834005"/>
                  </a:lnTo>
                  <a:cubicBezTo>
                    <a:pt x="65532" y="2833878"/>
                    <a:pt x="0" y="2768473"/>
                    <a:pt x="0" y="2687701"/>
                  </a:cubicBez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371600" y="7200900"/>
            <a:ext cx="15087057" cy="479517"/>
            <a:chOff x="0" y="0"/>
            <a:chExt cx="20116076" cy="63935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0116081" cy="639360"/>
            </a:xfrm>
            <a:custGeom>
              <a:avLst/>
              <a:gdLst/>
              <a:ahLst/>
              <a:cxnLst/>
              <a:rect r="r" b="b" t="t" l="l"/>
              <a:pathLst>
                <a:path h="639360" w="20116081">
                  <a:moveTo>
                    <a:pt x="0" y="0"/>
                  </a:moveTo>
                  <a:lnTo>
                    <a:pt x="20116081" y="0"/>
                  </a:lnTo>
                  <a:lnTo>
                    <a:pt x="20116081" y="639360"/>
                  </a:lnTo>
                  <a:lnTo>
                    <a:pt x="0" y="639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3054" r="0" b="-563054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20116076" cy="6869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-1">
                  <a:solidFill>
                    <a:srgbClr val="FFB70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isn’t rule-based AI enough?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371600" y="7680960"/>
            <a:ext cx="15498537" cy="1233900"/>
            <a:chOff x="0" y="0"/>
            <a:chExt cx="20664716" cy="16452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0664720" cy="1645204"/>
            </a:xfrm>
            <a:custGeom>
              <a:avLst/>
              <a:gdLst/>
              <a:ahLst/>
              <a:cxnLst/>
              <a:rect r="r" b="b" t="t" l="l"/>
              <a:pathLst>
                <a:path h="1645204" w="20664720">
                  <a:moveTo>
                    <a:pt x="0" y="0"/>
                  </a:moveTo>
                  <a:lnTo>
                    <a:pt x="20664720" y="0"/>
                  </a:lnTo>
                  <a:lnTo>
                    <a:pt x="20664720" y="1645204"/>
                  </a:lnTo>
                  <a:lnTo>
                    <a:pt x="0" y="16452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743" r="0" b="-194743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85725"/>
              <a:ext cx="20664716" cy="1730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5"/>
                </a:lnSpc>
              </a:pPr>
              <a:r>
                <a:rPr lang="en-US" sz="1974" spc="-1">
                  <a:solidFill>
                    <a:srgbClr val="E5E9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Enemy/scroll state changes continuously and randomly based on the game's RAM — a fixed set of if/else rules cannot cover the resulting space of situations. Contra-PPO uses Deep RL: the agent learns optimal behavior (movement, shooting, dodging) directly from interaction with the environment, instead of being hand-coded with rules.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685800" y="9710823"/>
            <a:ext cx="4114257" cy="410937"/>
            <a:chOff x="0" y="0"/>
            <a:chExt cx="5485676" cy="54791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485680" cy="547920"/>
            </a:xfrm>
            <a:custGeom>
              <a:avLst/>
              <a:gdLst/>
              <a:ahLst/>
              <a:cxnLst/>
              <a:rect r="r" b="b" t="t" l="l"/>
              <a:pathLst>
                <a:path h="547920" w="5485680">
                  <a:moveTo>
                    <a:pt x="0" y="0"/>
                  </a:moveTo>
                  <a:lnTo>
                    <a:pt x="5485680" y="0"/>
                  </a:lnTo>
                  <a:lnTo>
                    <a:pt x="5485680" y="547920"/>
                  </a:lnTo>
                  <a:lnTo>
                    <a:pt x="0" y="547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5081" r="0" b="-14508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5485676" cy="5860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Contra-PPO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6911723" y="9710823"/>
            <a:ext cx="822417" cy="410937"/>
            <a:chOff x="0" y="0"/>
            <a:chExt cx="1096556" cy="54791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96560" cy="547920"/>
            </a:xfrm>
            <a:custGeom>
              <a:avLst/>
              <a:gdLst/>
              <a:ahLst/>
              <a:cxnLst/>
              <a:rect r="r" b="b" t="t" l="l"/>
              <a:pathLst>
                <a:path h="547920" w="1096560">
                  <a:moveTo>
                    <a:pt x="0" y="0"/>
                  </a:moveTo>
                  <a:lnTo>
                    <a:pt x="1096560" y="0"/>
                  </a:lnTo>
                  <a:lnTo>
                    <a:pt x="1096560" y="547920"/>
                  </a:lnTo>
                  <a:lnTo>
                    <a:pt x="0" y="547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09" t="0" r="-14109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1096556" cy="5860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0972257" cy="410937"/>
            <a:chOff x="0" y="0"/>
            <a:chExt cx="14629676" cy="5479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29681" cy="547920"/>
            </a:xfrm>
            <a:custGeom>
              <a:avLst/>
              <a:gdLst/>
              <a:ahLst/>
              <a:cxnLst/>
              <a:rect r="r" b="b" t="t" l="l"/>
              <a:pathLst>
                <a:path h="547920" w="14629681">
                  <a:moveTo>
                    <a:pt x="0" y="0"/>
                  </a:moveTo>
                  <a:lnTo>
                    <a:pt x="14629681" y="0"/>
                  </a:lnTo>
                  <a:lnTo>
                    <a:pt x="14629681" y="547920"/>
                  </a:lnTo>
                  <a:lnTo>
                    <a:pt x="0" y="547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0258" r="0" b="-47025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29676" cy="5860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8">
                  <a:solidFill>
                    <a:srgbClr val="FFB70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ALGORITHM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850497"/>
            <a:ext cx="15910017" cy="959577"/>
            <a:chOff x="0" y="0"/>
            <a:chExt cx="21213356" cy="12794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213359" cy="1279440"/>
            </a:xfrm>
            <a:custGeom>
              <a:avLst/>
              <a:gdLst/>
              <a:ahLst/>
              <a:cxnLst/>
              <a:rect r="r" b="b" t="t" l="l"/>
              <a:pathLst>
                <a:path h="1279440" w="21213359">
                  <a:moveTo>
                    <a:pt x="0" y="0"/>
                  </a:moveTo>
                  <a:lnTo>
                    <a:pt x="21213359" y="0"/>
                  </a:lnTo>
                  <a:lnTo>
                    <a:pt x="21213359" y="1279440"/>
                  </a:lnTo>
                  <a:lnTo>
                    <a:pt x="0" y="1279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065" r="0" b="-2730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213356" cy="1298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 spc="-1">
                  <a:solidFill>
                    <a:srgbClr val="E5E9F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PPO Overview (Proximal Policy Optimization)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195103"/>
            <a:ext cx="1233897" cy="1233897"/>
            <a:chOff x="0" y="0"/>
            <a:chExt cx="1645196" cy="16451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45158" cy="1645158"/>
            </a:xfrm>
            <a:custGeom>
              <a:avLst/>
              <a:gdLst/>
              <a:ahLst/>
              <a:cxnLst/>
              <a:rect r="r" b="b" t="t" l="l"/>
              <a:pathLst>
                <a:path h="1645158" w="1645158">
                  <a:moveTo>
                    <a:pt x="0" y="822579"/>
                  </a:moveTo>
                  <a:cubicBezTo>
                    <a:pt x="0" y="368300"/>
                    <a:pt x="368300" y="0"/>
                    <a:pt x="822579" y="0"/>
                  </a:cubicBezTo>
                  <a:cubicBezTo>
                    <a:pt x="1276858" y="0"/>
                    <a:pt x="1645158" y="368300"/>
                    <a:pt x="1645158" y="822579"/>
                  </a:cubicBezTo>
                  <a:cubicBezTo>
                    <a:pt x="1645158" y="1276858"/>
                    <a:pt x="1276858" y="1645158"/>
                    <a:pt x="822579" y="1645158"/>
                  </a:cubicBezTo>
                  <a:cubicBezTo>
                    <a:pt x="368300" y="1645158"/>
                    <a:pt x="0" y="1276858"/>
                    <a:pt x="0" y="822579"/>
                  </a:cubicBez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19416" y="2444582"/>
            <a:ext cx="641518" cy="641518"/>
            <a:chOff x="0" y="0"/>
            <a:chExt cx="855358" cy="855358"/>
          </a:xfrm>
        </p:grpSpPr>
        <p:sp>
          <p:nvSpPr>
            <p:cNvPr name="Freeform 11" id="11" descr="/tmp/claude-1000/-media-hung-Work-Project-AI-Engineer-RL-contra-PPO/70c7dc7d-8f3f-4139-8f25-95b0e9e6dca5/scratchpad/build/icons/brain.png"/>
            <p:cNvSpPr/>
            <p:nvPr/>
          </p:nvSpPr>
          <p:spPr>
            <a:xfrm flipH="false" flipV="false" rot="0">
              <a:off x="0" y="0"/>
              <a:ext cx="855345" cy="855345"/>
            </a:xfrm>
            <a:custGeom>
              <a:avLst/>
              <a:gdLst/>
              <a:ahLst/>
              <a:cxnLst/>
              <a:rect r="r" b="b" t="t" l="l"/>
              <a:pathLst>
                <a:path h="855345" w="855345">
                  <a:moveTo>
                    <a:pt x="0" y="0"/>
                  </a:moveTo>
                  <a:lnTo>
                    <a:pt x="855345" y="0"/>
                  </a:lnTo>
                  <a:lnTo>
                    <a:pt x="855345" y="855345"/>
                  </a:lnTo>
                  <a:lnTo>
                    <a:pt x="0" y="8553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263140" y="2578503"/>
            <a:ext cx="6857457" cy="479517"/>
            <a:chOff x="0" y="0"/>
            <a:chExt cx="9143276" cy="6393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3280" cy="639360"/>
            </a:xfrm>
            <a:custGeom>
              <a:avLst/>
              <a:gdLst/>
              <a:ahLst/>
              <a:cxnLst/>
              <a:rect r="r" b="b" t="t" l="l"/>
              <a:pathLst>
                <a:path h="639360" w="9143280">
                  <a:moveTo>
                    <a:pt x="0" y="0"/>
                  </a:moveTo>
                  <a:lnTo>
                    <a:pt x="9143280" y="0"/>
                  </a:lnTo>
                  <a:lnTo>
                    <a:pt x="9143280" y="639360"/>
                  </a:lnTo>
                  <a:lnTo>
                    <a:pt x="0" y="639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649" r="0" b="-22864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9143276" cy="6965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-1">
                  <a:solidFill>
                    <a:srgbClr val="E5E9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Policy Gradient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22960" y="3223260"/>
            <a:ext cx="8229057" cy="1576800"/>
            <a:chOff x="0" y="0"/>
            <a:chExt cx="10972076" cy="2102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080" cy="2102404"/>
            </a:xfrm>
            <a:custGeom>
              <a:avLst/>
              <a:gdLst/>
              <a:ahLst/>
              <a:cxnLst/>
              <a:rect r="r" b="b" t="t" l="l"/>
              <a:pathLst>
                <a:path h="2102404" w="10972080">
                  <a:moveTo>
                    <a:pt x="0" y="0"/>
                  </a:moveTo>
                  <a:lnTo>
                    <a:pt x="10972080" y="0"/>
                  </a:lnTo>
                  <a:lnTo>
                    <a:pt x="10972080" y="2102404"/>
                  </a:lnTo>
                  <a:lnTo>
                    <a:pt x="0" y="21024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689" r="0" b="-5168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10972076" cy="2188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1999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agent has a policy network πθ(a|s) that outputs action probabilities directly from the observation. It is trained by increasing the probability of actions that lead to higher-than-expected reward (positive advantage), and decreasing it for negative advantage.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4869180"/>
            <a:ext cx="8229057" cy="1028160"/>
            <a:chOff x="0" y="0"/>
            <a:chExt cx="10972076" cy="13708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080" cy="1370884"/>
            </a:xfrm>
            <a:custGeom>
              <a:avLst/>
              <a:gdLst/>
              <a:ahLst/>
              <a:cxnLst/>
              <a:rect r="r" b="b" t="t" l="l"/>
              <a:pathLst>
                <a:path h="1370884" w="10972080">
                  <a:moveTo>
                    <a:pt x="0" y="0"/>
                  </a:moveTo>
                  <a:lnTo>
                    <a:pt x="10972080" y="0"/>
                  </a:lnTo>
                  <a:lnTo>
                    <a:pt x="10972080" y="1370884"/>
                  </a:lnTo>
                  <a:lnTo>
                    <a:pt x="0" y="13708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951" r="0" b="-10595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85725"/>
              <a:ext cx="10972076" cy="1456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1999" i="true" spc="-1">
                  <a:solidFill>
                    <a:srgbClr val="E5E9F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problem with plain policy gradient: an update step that is too large can break an otherwise good policy, with no way to recover (no "undo").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6103620"/>
            <a:ext cx="8229057" cy="2948397"/>
            <a:chOff x="0" y="0"/>
            <a:chExt cx="10972076" cy="393119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165" cy="3931285"/>
            </a:xfrm>
            <a:custGeom>
              <a:avLst/>
              <a:gdLst/>
              <a:ahLst/>
              <a:cxnLst/>
              <a:rect r="r" b="b" t="t" l="l"/>
              <a:pathLst>
                <a:path h="3931285" w="10972165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825861" y="0"/>
                  </a:lnTo>
                  <a:cubicBezTo>
                    <a:pt x="10906633" y="0"/>
                    <a:pt x="10972165" y="65532"/>
                    <a:pt x="10972165" y="146304"/>
                  </a:cubicBezTo>
                  <a:lnTo>
                    <a:pt x="10972165" y="3784981"/>
                  </a:lnTo>
                  <a:cubicBezTo>
                    <a:pt x="10972165" y="3865753"/>
                    <a:pt x="10906633" y="3931285"/>
                    <a:pt x="10825861" y="3931285"/>
                  </a:cubicBezTo>
                  <a:lnTo>
                    <a:pt x="146304" y="3931285"/>
                  </a:lnTo>
                  <a:cubicBezTo>
                    <a:pt x="65532" y="3931158"/>
                    <a:pt x="0" y="3865753"/>
                    <a:pt x="0" y="3784981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34440" y="6350403"/>
            <a:ext cx="7406097" cy="479517"/>
            <a:chOff x="0" y="0"/>
            <a:chExt cx="9874796" cy="6393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874800" cy="639360"/>
            </a:xfrm>
            <a:custGeom>
              <a:avLst/>
              <a:gdLst/>
              <a:ahLst/>
              <a:cxnLst/>
              <a:rect r="r" b="b" t="t" l="l"/>
              <a:pathLst>
                <a:path h="639360" w="9874800">
                  <a:moveTo>
                    <a:pt x="0" y="0"/>
                  </a:moveTo>
                  <a:lnTo>
                    <a:pt x="9874800" y="0"/>
                  </a:lnTo>
                  <a:lnTo>
                    <a:pt x="9874800" y="639360"/>
                  </a:lnTo>
                  <a:lnTo>
                    <a:pt x="0" y="639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943" r="0" b="-25094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9874796" cy="6869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-1">
                  <a:solidFill>
                    <a:srgbClr val="FFB70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Clipped Surrogate Objective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34440" y="6858000"/>
            <a:ext cx="7406097" cy="2056860"/>
            <a:chOff x="0" y="0"/>
            <a:chExt cx="9874796" cy="27424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874800" cy="2742484"/>
            </a:xfrm>
            <a:custGeom>
              <a:avLst/>
              <a:gdLst/>
              <a:ahLst/>
              <a:cxnLst/>
              <a:rect r="r" b="b" t="t" l="l"/>
              <a:pathLst>
                <a:path h="2742484" w="9874800">
                  <a:moveTo>
                    <a:pt x="0" y="0"/>
                  </a:moveTo>
                  <a:lnTo>
                    <a:pt x="9874800" y="0"/>
                  </a:lnTo>
                  <a:lnTo>
                    <a:pt x="9874800" y="2742484"/>
                  </a:lnTo>
                  <a:lnTo>
                    <a:pt x="0" y="27424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59" r="0" b="-2015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0"/>
              <a:ext cx="9874796" cy="2837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1"/>
                </a:lnSpc>
              </a:pPr>
              <a:r>
                <a:rPr lang="en-US" sz="1999" spc="-1">
                  <a:solidFill>
                    <a:srgbClr val="E5E9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PPO clips the ratio between the new and old action probabilities to a small range [1-ε, 1+ε]. If the new policy tries to change too much from the old one, the reward for that change gets cut off — the update is "held back" close to the old policy, keeping training stable over thousands of updates.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806940" y="2537460"/>
            <a:ext cx="7680417" cy="6514557"/>
            <a:chOff x="0" y="0"/>
            <a:chExt cx="10240556" cy="868607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240645" cy="8686165"/>
            </a:xfrm>
            <a:custGeom>
              <a:avLst/>
              <a:gdLst/>
              <a:ahLst/>
              <a:cxnLst/>
              <a:rect r="r" b="b" t="t" l="l"/>
              <a:pathLst>
                <a:path h="8686165" w="10240645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094341" y="0"/>
                  </a:lnTo>
                  <a:cubicBezTo>
                    <a:pt x="10175113" y="0"/>
                    <a:pt x="10240645" y="65532"/>
                    <a:pt x="10240645" y="146304"/>
                  </a:cubicBezTo>
                  <a:lnTo>
                    <a:pt x="10240645" y="8539861"/>
                  </a:lnTo>
                  <a:cubicBezTo>
                    <a:pt x="10240645" y="8620633"/>
                    <a:pt x="10175113" y="8686165"/>
                    <a:pt x="10094341" y="8686165"/>
                  </a:cubicBezTo>
                  <a:lnTo>
                    <a:pt x="146304" y="8686165"/>
                  </a:lnTo>
                  <a:cubicBezTo>
                    <a:pt x="65532" y="8686038"/>
                    <a:pt x="0" y="8620633"/>
                    <a:pt x="0" y="8539861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218420" y="2811780"/>
            <a:ext cx="6857457" cy="548097"/>
            <a:chOff x="0" y="0"/>
            <a:chExt cx="9143276" cy="7307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3280" cy="730800"/>
            </a:xfrm>
            <a:custGeom>
              <a:avLst/>
              <a:gdLst/>
              <a:ahLst/>
              <a:cxnLst/>
              <a:rect r="r" b="b" t="t" l="l"/>
              <a:pathLst>
                <a:path h="730800" w="9143280">
                  <a:moveTo>
                    <a:pt x="0" y="0"/>
                  </a:moveTo>
                  <a:lnTo>
                    <a:pt x="9143280" y="0"/>
                  </a:lnTo>
                  <a:lnTo>
                    <a:pt x="9143280" y="730800"/>
                  </a:lnTo>
                  <a:lnTo>
                    <a:pt x="0" y="730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783" r="0" b="-19378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9143276" cy="778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-1">
                  <a:solidFill>
                    <a:srgbClr val="E5E9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Visualizing the "safe zone" of an update step</a:t>
              </a:r>
            </a:p>
          </p:txBody>
        </p:sp>
      </p:grpSp>
      <p:sp>
        <p:nvSpPr>
          <p:cNvPr name="AutoShape 34" id="34"/>
          <p:cNvSpPr/>
          <p:nvPr/>
        </p:nvSpPr>
        <p:spPr>
          <a:xfrm rot="11400">
            <a:off x="10757516" y="7402144"/>
            <a:ext cx="5916959" cy="0"/>
          </a:xfrm>
          <a:prstGeom prst="line">
            <a:avLst/>
          </a:prstGeom>
          <a:ln cap="rnd" w="9525">
            <a:solidFill>
              <a:srgbClr val="9AA6C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 rot="5381880">
            <a:off x="8906123" y="5550218"/>
            <a:ext cx="3722418" cy="0"/>
          </a:xfrm>
          <a:prstGeom prst="line">
            <a:avLst/>
          </a:prstGeom>
          <a:ln cap="rnd" w="9525">
            <a:solidFill>
              <a:srgbClr val="9AA6C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6" id="36"/>
          <p:cNvGrpSpPr/>
          <p:nvPr/>
        </p:nvGrpSpPr>
        <p:grpSpPr>
          <a:xfrm rot="0">
            <a:off x="12831480" y="3703320"/>
            <a:ext cx="1769040" cy="3702777"/>
            <a:chOff x="0" y="0"/>
            <a:chExt cx="2358720" cy="493703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358771" cy="4936998"/>
            </a:xfrm>
            <a:custGeom>
              <a:avLst/>
              <a:gdLst/>
              <a:ahLst/>
              <a:cxnLst/>
              <a:rect r="r" b="b" t="t" l="l"/>
              <a:pathLst>
                <a:path h="4936998" w="2358771">
                  <a:moveTo>
                    <a:pt x="0" y="0"/>
                  </a:moveTo>
                  <a:lnTo>
                    <a:pt x="2358771" y="0"/>
                  </a:lnTo>
                  <a:lnTo>
                    <a:pt x="2358771" y="4936998"/>
                  </a:lnTo>
                  <a:lnTo>
                    <a:pt x="0" y="4936998"/>
                  </a:lnTo>
                  <a:close/>
                </a:path>
              </a:pathLst>
            </a:custGeom>
            <a:solidFill>
              <a:srgbClr val="06D6A0">
                <a:alpha val="3137"/>
              </a:srgbClr>
            </a:solidFill>
          </p:spPr>
        </p:sp>
      </p:grpSp>
      <p:sp>
        <p:nvSpPr>
          <p:cNvPr name="AutoShape 38" id="38"/>
          <p:cNvSpPr/>
          <p:nvPr/>
        </p:nvSpPr>
        <p:spPr>
          <a:xfrm rot="-2677860">
            <a:off x="10315451" y="5447814"/>
            <a:ext cx="2967085" cy="0"/>
          </a:xfrm>
          <a:prstGeom prst="line">
            <a:avLst/>
          </a:prstGeom>
          <a:ln cap="rnd" w="28575">
            <a:solidFill>
              <a:srgbClr val="FFB70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 rot="91080">
            <a:off x="12806810" y="4429639"/>
            <a:ext cx="1817846" cy="0"/>
          </a:xfrm>
          <a:prstGeom prst="line">
            <a:avLst/>
          </a:prstGeom>
          <a:ln cap="rnd" w="28575">
            <a:solidFill>
              <a:srgbClr val="FFB70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 rot="78360">
            <a:off x="14576431" y="4429639"/>
            <a:ext cx="2112597" cy="0"/>
          </a:xfrm>
          <a:prstGeom prst="line">
            <a:avLst/>
          </a:prstGeom>
          <a:ln cap="rnd" w="28575">
            <a:solidFill>
              <a:srgbClr val="FFB70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 rot="-935760">
            <a:off x="14546228" y="4156300"/>
            <a:ext cx="2173005" cy="0"/>
          </a:xfrm>
          <a:prstGeom prst="line">
            <a:avLst/>
          </a:prstGeom>
          <a:ln cap="rnd" w="19050">
            <a:solidFill>
              <a:srgbClr val="9AA6C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2" id="42"/>
          <p:cNvGrpSpPr/>
          <p:nvPr/>
        </p:nvGrpSpPr>
        <p:grpSpPr>
          <a:xfrm rot="0">
            <a:off x="10767060" y="7543800"/>
            <a:ext cx="5897337" cy="328860"/>
            <a:chOff x="0" y="0"/>
            <a:chExt cx="7863116" cy="4384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863120" cy="438480"/>
            </a:xfrm>
            <a:custGeom>
              <a:avLst/>
              <a:gdLst/>
              <a:ahLst/>
              <a:cxnLst/>
              <a:rect r="r" b="b" t="t" l="l"/>
              <a:pathLst>
                <a:path h="438480" w="7863120">
                  <a:moveTo>
                    <a:pt x="0" y="0"/>
                  </a:moveTo>
                  <a:lnTo>
                    <a:pt x="7863120" y="0"/>
                  </a:lnTo>
                  <a:lnTo>
                    <a:pt x="7863120" y="438480"/>
                  </a:lnTo>
                  <a:lnTo>
                    <a:pt x="0" y="438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9418" r="0" b="-29941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7863116" cy="476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r(θ) = πθ / πθ_old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008520" y="7900197"/>
            <a:ext cx="3414960" cy="328860"/>
            <a:chOff x="0" y="0"/>
            <a:chExt cx="4553280" cy="4384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553280" cy="438480"/>
            </a:xfrm>
            <a:custGeom>
              <a:avLst/>
              <a:gdLst/>
              <a:ahLst/>
              <a:cxnLst/>
              <a:rect r="r" b="b" t="t" l="l"/>
              <a:pathLst>
                <a:path h="438480" w="4553280">
                  <a:moveTo>
                    <a:pt x="0" y="0"/>
                  </a:moveTo>
                  <a:lnTo>
                    <a:pt x="4553280" y="0"/>
                  </a:lnTo>
                  <a:lnTo>
                    <a:pt x="4553280" y="438480"/>
                  </a:lnTo>
                  <a:lnTo>
                    <a:pt x="0" y="438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337" r="0" b="-15233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4553280" cy="476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spc="-1">
                  <a:solidFill>
                    <a:srgbClr val="06D6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allowed region (clip range ε)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218420" y="8202063"/>
            <a:ext cx="6857457" cy="651857"/>
            <a:chOff x="0" y="0"/>
            <a:chExt cx="9143276" cy="86914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143280" cy="869146"/>
            </a:xfrm>
            <a:custGeom>
              <a:avLst/>
              <a:gdLst/>
              <a:ahLst/>
              <a:cxnLst/>
              <a:rect r="r" b="b" t="t" l="l"/>
              <a:pathLst>
                <a:path h="869146" w="9143280">
                  <a:moveTo>
                    <a:pt x="0" y="0"/>
                  </a:moveTo>
                  <a:lnTo>
                    <a:pt x="9143280" y="0"/>
                  </a:lnTo>
                  <a:lnTo>
                    <a:pt x="9143280" y="869146"/>
                  </a:lnTo>
                  <a:lnTo>
                    <a:pt x="0" y="8691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678" r="0" b="-15228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57150"/>
              <a:ext cx="9143276" cy="9262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5"/>
                </a:lnSpc>
              </a:pPr>
              <a:r>
                <a:rPr lang="en-US" sz="1799" i="true" spc="-1">
                  <a:solidFill>
                    <a:srgbClr val="9AA6C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objective is "clipped flat" outside the safe zone — preventing the update step from going too far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85800" y="9710823"/>
            <a:ext cx="4114257" cy="410937"/>
            <a:chOff x="0" y="0"/>
            <a:chExt cx="5485676" cy="54791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485680" cy="547920"/>
            </a:xfrm>
            <a:custGeom>
              <a:avLst/>
              <a:gdLst/>
              <a:ahLst/>
              <a:cxnLst/>
              <a:rect r="r" b="b" t="t" l="l"/>
              <a:pathLst>
                <a:path h="547920" w="5485680">
                  <a:moveTo>
                    <a:pt x="0" y="0"/>
                  </a:moveTo>
                  <a:lnTo>
                    <a:pt x="5485680" y="0"/>
                  </a:lnTo>
                  <a:lnTo>
                    <a:pt x="5485680" y="547920"/>
                  </a:lnTo>
                  <a:lnTo>
                    <a:pt x="0" y="547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5081" r="0" b="-14508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5485676" cy="5860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Contra-PPO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6911723" y="9710823"/>
            <a:ext cx="822417" cy="410937"/>
            <a:chOff x="0" y="0"/>
            <a:chExt cx="1096556" cy="54791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96560" cy="547920"/>
            </a:xfrm>
            <a:custGeom>
              <a:avLst/>
              <a:gdLst/>
              <a:ahLst/>
              <a:cxnLst/>
              <a:rect r="r" b="b" t="t" l="l"/>
              <a:pathLst>
                <a:path h="547920" w="1096560">
                  <a:moveTo>
                    <a:pt x="0" y="0"/>
                  </a:moveTo>
                  <a:lnTo>
                    <a:pt x="1096560" y="0"/>
                  </a:lnTo>
                  <a:lnTo>
                    <a:pt x="1096560" y="547920"/>
                  </a:lnTo>
                  <a:lnTo>
                    <a:pt x="0" y="547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09" t="0" r="-14109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1096556" cy="5860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0972257" cy="410937"/>
            <a:chOff x="0" y="0"/>
            <a:chExt cx="14629676" cy="5479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29681" cy="547920"/>
            </a:xfrm>
            <a:custGeom>
              <a:avLst/>
              <a:gdLst/>
              <a:ahLst/>
              <a:cxnLst/>
              <a:rect r="r" b="b" t="t" l="l"/>
              <a:pathLst>
                <a:path h="547920" w="14629681">
                  <a:moveTo>
                    <a:pt x="0" y="0"/>
                  </a:moveTo>
                  <a:lnTo>
                    <a:pt x="14629681" y="0"/>
                  </a:lnTo>
                  <a:lnTo>
                    <a:pt x="14629681" y="547920"/>
                  </a:lnTo>
                  <a:lnTo>
                    <a:pt x="0" y="547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0258" r="0" b="-47025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29676" cy="5860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8">
                  <a:solidFill>
                    <a:srgbClr val="FFB70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ARCHITECTURE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850497"/>
            <a:ext cx="15910017" cy="959577"/>
            <a:chOff x="0" y="0"/>
            <a:chExt cx="21213356" cy="12794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213359" cy="1279440"/>
            </a:xfrm>
            <a:custGeom>
              <a:avLst/>
              <a:gdLst/>
              <a:ahLst/>
              <a:cxnLst/>
              <a:rect r="r" b="b" t="t" l="l"/>
              <a:pathLst>
                <a:path h="1279440" w="21213359">
                  <a:moveTo>
                    <a:pt x="0" y="0"/>
                  </a:moveTo>
                  <a:lnTo>
                    <a:pt x="21213359" y="0"/>
                  </a:lnTo>
                  <a:lnTo>
                    <a:pt x="21213359" y="1279440"/>
                  </a:lnTo>
                  <a:lnTo>
                    <a:pt x="0" y="1279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065" r="0" b="-2730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213356" cy="1298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 spc="-1">
                  <a:solidFill>
                    <a:srgbClr val="E5E9F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Gymnasium env + Stable-Baselines3 pipeline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65958" y="2527935"/>
            <a:ext cx="2967447" cy="2144487"/>
            <a:chOff x="0" y="0"/>
            <a:chExt cx="3956596" cy="28593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56558" cy="2859278"/>
            </a:xfrm>
            <a:custGeom>
              <a:avLst/>
              <a:gdLst/>
              <a:ahLst/>
              <a:cxnLst/>
              <a:rect r="r" b="b" t="t" l="l"/>
              <a:pathLst>
                <a:path h="2859278" w="3956558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3808984" y="0"/>
                  </a:lnTo>
                  <a:cubicBezTo>
                    <a:pt x="3890518" y="0"/>
                    <a:pt x="3956558" y="66040"/>
                    <a:pt x="3956558" y="147574"/>
                  </a:cubicBezTo>
                  <a:lnTo>
                    <a:pt x="3956558" y="2711704"/>
                  </a:lnTo>
                  <a:cubicBezTo>
                    <a:pt x="3956558" y="2793238"/>
                    <a:pt x="3890518" y="2859278"/>
                    <a:pt x="3808984" y="2859278"/>
                  </a:cubicBezTo>
                  <a:lnTo>
                    <a:pt x="147574" y="2859278"/>
                  </a:lnTo>
                  <a:cubicBezTo>
                    <a:pt x="66040" y="2859278"/>
                    <a:pt x="0" y="2793238"/>
                    <a:pt x="0" y="2711704"/>
                  </a:cubicBezTo>
                  <a:close/>
                </a:path>
              </a:pathLst>
            </a:custGeom>
            <a:solidFill>
              <a:srgbClr val="16213E"/>
            </a:solidFill>
            <a:ln w="19050" cap="sq">
              <a:solidFill>
                <a:srgbClr val="2A3B5C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270160" y="2784243"/>
            <a:ext cx="959577" cy="959577"/>
            <a:chOff x="0" y="0"/>
            <a:chExt cx="1279436" cy="12794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79398" cy="1279398"/>
            </a:xfrm>
            <a:custGeom>
              <a:avLst/>
              <a:gdLst/>
              <a:ahLst/>
              <a:cxnLst/>
              <a:rect r="r" b="b" t="t" l="l"/>
              <a:pathLst>
                <a:path h="1279398" w="1279398">
                  <a:moveTo>
                    <a:pt x="0" y="639699"/>
                  </a:moveTo>
                  <a:cubicBezTo>
                    <a:pt x="0" y="286385"/>
                    <a:pt x="286385" y="0"/>
                    <a:pt x="639699" y="0"/>
                  </a:cubicBezTo>
                  <a:cubicBezTo>
                    <a:pt x="993013" y="0"/>
                    <a:pt x="1279398" y="286385"/>
                    <a:pt x="1279398" y="639699"/>
                  </a:cubicBezTo>
                  <a:cubicBezTo>
                    <a:pt x="1279398" y="993013"/>
                    <a:pt x="993013" y="1279398"/>
                    <a:pt x="639699" y="1279398"/>
                  </a:cubicBezTo>
                  <a:cubicBezTo>
                    <a:pt x="286385" y="1279398"/>
                    <a:pt x="0" y="993013"/>
                    <a:pt x="0" y="639699"/>
                  </a:cubicBez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500198" y="3014824"/>
            <a:ext cx="498958" cy="498958"/>
            <a:chOff x="0" y="0"/>
            <a:chExt cx="665277" cy="665277"/>
          </a:xfrm>
        </p:grpSpPr>
        <p:sp>
          <p:nvSpPr>
            <p:cNvPr name="Freeform 13" id="13" descr="/tmp/claude-1000/-media-hung-Work-Project-AI-Engineer-RL-contra-PPO/70c7dc7d-8f3f-4139-8f25-95b0e9e6dca5/scratchpad/build/icons/boxes.png"/>
            <p:cNvSpPr/>
            <p:nvPr/>
          </p:nvSpPr>
          <p:spPr>
            <a:xfrm flipH="false" flipV="false" rot="0">
              <a:off x="0" y="0"/>
              <a:ext cx="665226" cy="665226"/>
            </a:xfrm>
            <a:custGeom>
              <a:avLst/>
              <a:gdLst/>
              <a:ahLst/>
              <a:cxnLst/>
              <a:rect r="r" b="b" t="t" l="l"/>
              <a:pathLst>
                <a:path h="665226" w="665226">
                  <a:moveTo>
                    <a:pt x="0" y="0"/>
                  </a:moveTo>
                  <a:lnTo>
                    <a:pt x="665226" y="0"/>
                  </a:lnTo>
                  <a:lnTo>
                    <a:pt x="665226" y="665226"/>
                  </a:lnTo>
                  <a:lnTo>
                    <a:pt x="0" y="6652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7" b="-7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75483" y="3840480"/>
            <a:ext cx="2948397" cy="431076"/>
            <a:chOff x="0" y="0"/>
            <a:chExt cx="3931196" cy="57476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931200" cy="574771"/>
            </a:xfrm>
            <a:custGeom>
              <a:avLst/>
              <a:gdLst/>
              <a:ahLst/>
              <a:cxnLst/>
              <a:rect r="r" b="b" t="t" l="l"/>
              <a:pathLst>
                <a:path h="574771" w="3931200">
                  <a:moveTo>
                    <a:pt x="0" y="0"/>
                  </a:moveTo>
                  <a:lnTo>
                    <a:pt x="3931200" y="0"/>
                  </a:lnTo>
                  <a:lnTo>
                    <a:pt x="3931200" y="574771"/>
                  </a:lnTo>
                  <a:lnTo>
                    <a:pt x="0" y="5747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605" r="0" b="-8093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3931196" cy="6223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09"/>
                </a:lnSpc>
              </a:pPr>
              <a:r>
                <a:rPr lang="en-US" b="true" sz="2174" spc="-1">
                  <a:solidFill>
                    <a:srgbClr val="E5E9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Environment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44063" y="4238463"/>
            <a:ext cx="2811237" cy="410940"/>
            <a:chOff x="0" y="0"/>
            <a:chExt cx="3748316" cy="5479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748320" cy="547924"/>
            </a:xfrm>
            <a:custGeom>
              <a:avLst/>
              <a:gdLst/>
              <a:ahLst/>
              <a:cxnLst/>
              <a:rect r="r" b="b" t="t" l="l"/>
              <a:pathLst>
                <a:path h="547924" w="3748320">
                  <a:moveTo>
                    <a:pt x="0" y="0"/>
                  </a:moveTo>
                  <a:lnTo>
                    <a:pt x="3748320" y="0"/>
                  </a:lnTo>
                  <a:lnTo>
                    <a:pt x="3748320" y="547924"/>
                  </a:lnTo>
                  <a:lnTo>
                    <a:pt x="0" y="5479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296" r="0" b="-8329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3748316" cy="576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79"/>
                </a:lnSpc>
              </a:pPr>
              <a:r>
                <a:rPr lang="en-US" sz="1649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ContraEnv (NESEnv)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224423" y="3463557"/>
            <a:ext cx="246240" cy="273777"/>
            <a:chOff x="0" y="0"/>
            <a:chExt cx="328320" cy="36503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28295" cy="364998"/>
            </a:xfrm>
            <a:custGeom>
              <a:avLst/>
              <a:gdLst/>
              <a:ahLst/>
              <a:cxnLst/>
              <a:rect r="r" b="b" t="t" l="l"/>
              <a:pathLst>
                <a:path h="364998" w="328295">
                  <a:moveTo>
                    <a:pt x="0" y="91313"/>
                  </a:moveTo>
                  <a:lnTo>
                    <a:pt x="164211" y="91313"/>
                  </a:lnTo>
                  <a:lnTo>
                    <a:pt x="164211" y="0"/>
                  </a:lnTo>
                  <a:lnTo>
                    <a:pt x="328295" y="182499"/>
                  </a:lnTo>
                  <a:lnTo>
                    <a:pt x="164211" y="364998"/>
                  </a:lnTo>
                  <a:lnTo>
                    <a:pt x="164211" y="273812"/>
                  </a:lnTo>
                  <a:lnTo>
                    <a:pt x="0" y="273812"/>
                  </a:lnTo>
                  <a:close/>
                </a:path>
              </a:pathLst>
            </a:custGeom>
            <a:solidFill>
              <a:srgbClr val="FFB70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461672" y="2527935"/>
            <a:ext cx="2967447" cy="2144487"/>
            <a:chOff x="0" y="0"/>
            <a:chExt cx="3956596" cy="28593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956558" cy="2859278"/>
            </a:xfrm>
            <a:custGeom>
              <a:avLst/>
              <a:gdLst/>
              <a:ahLst/>
              <a:cxnLst/>
              <a:rect r="r" b="b" t="t" l="l"/>
              <a:pathLst>
                <a:path h="2859278" w="3956558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3808984" y="0"/>
                  </a:lnTo>
                  <a:cubicBezTo>
                    <a:pt x="3890518" y="0"/>
                    <a:pt x="3956558" y="66040"/>
                    <a:pt x="3956558" y="147574"/>
                  </a:cubicBezTo>
                  <a:lnTo>
                    <a:pt x="3956558" y="2711704"/>
                  </a:lnTo>
                  <a:cubicBezTo>
                    <a:pt x="3956558" y="2793238"/>
                    <a:pt x="3890518" y="2859278"/>
                    <a:pt x="3808984" y="2859278"/>
                  </a:cubicBezTo>
                  <a:lnTo>
                    <a:pt x="147574" y="2859278"/>
                  </a:lnTo>
                  <a:cubicBezTo>
                    <a:pt x="66040" y="2859278"/>
                    <a:pt x="0" y="2793238"/>
                    <a:pt x="0" y="2711704"/>
                  </a:cubicBezTo>
                  <a:close/>
                </a:path>
              </a:pathLst>
            </a:custGeom>
            <a:solidFill>
              <a:srgbClr val="16213E"/>
            </a:solidFill>
            <a:ln w="19050" cap="sq">
              <a:solidFill>
                <a:srgbClr val="2A3B5C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5465883" y="2784243"/>
            <a:ext cx="959577" cy="959577"/>
            <a:chOff x="0" y="0"/>
            <a:chExt cx="1279436" cy="127943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79398" cy="1279398"/>
            </a:xfrm>
            <a:custGeom>
              <a:avLst/>
              <a:gdLst/>
              <a:ahLst/>
              <a:cxnLst/>
              <a:rect r="r" b="b" t="t" l="l"/>
              <a:pathLst>
                <a:path h="1279398" w="1279398">
                  <a:moveTo>
                    <a:pt x="0" y="639699"/>
                  </a:moveTo>
                  <a:cubicBezTo>
                    <a:pt x="0" y="286385"/>
                    <a:pt x="286385" y="0"/>
                    <a:pt x="639699" y="0"/>
                  </a:cubicBezTo>
                  <a:cubicBezTo>
                    <a:pt x="993013" y="0"/>
                    <a:pt x="1279398" y="286385"/>
                    <a:pt x="1279398" y="639699"/>
                  </a:cubicBezTo>
                  <a:cubicBezTo>
                    <a:pt x="1279398" y="993013"/>
                    <a:pt x="993013" y="1279398"/>
                    <a:pt x="639699" y="1279398"/>
                  </a:cubicBezTo>
                  <a:cubicBezTo>
                    <a:pt x="286385" y="1279398"/>
                    <a:pt x="0" y="993013"/>
                    <a:pt x="0" y="639699"/>
                  </a:cubicBez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696464" y="3014824"/>
            <a:ext cx="498958" cy="498958"/>
            <a:chOff x="0" y="0"/>
            <a:chExt cx="665277" cy="665277"/>
          </a:xfrm>
        </p:grpSpPr>
        <p:sp>
          <p:nvSpPr>
            <p:cNvPr name="Freeform 27" id="27" descr="/tmp/claude-1000/-media-hung-Work-Project-AI-Engineer-RL-contra-PPO/70c7dc7d-8f3f-4139-8f25-95b0e9e6dca5/scratchpad/build/icons/eye.png"/>
            <p:cNvSpPr/>
            <p:nvPr/>
          </p:nvSpPr>
          <p:spPr>
            <a:xfrm flipH="false" flipV="false" rot="0">
              <a:off x="0" y="0"/>
              <a:ext cx="665226" cy="665226"/>
            </a:xfrm>
            <a:custGeom>
              <a:avLst/>
              <a:gdLst/>
              <a:ahLst/>
              <a:cxnLst/>
              <a:rect r="r" b="b" t="t" l="l"/>
              <a:pathLst>
                <a:path h="665226" w="665226">
                  <a:moveTo>
                    <a:pt x="0" y="0"/>
                  </a:moveTo>
                  <a:lnTo>
                    <a:pt x="665226" y="0"/>
                  </a:lnTo>
                  <a:lnTo>
                    <a:pt x="665226" y="665226"/>
                  </a:lnTo>
                  <a:lnTo>
                    <a:pt x="0" y="6652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7" b="-7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471197" y="3840480"/>
            <a:ext cx="2948397" cy="431076"/>
            <a:chOff x="0" y="0"/>
            <a:chExt cx="3931196" cy="57476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931200" cy="574771"/>
            </a:xfrm>
            <a:custGeom>
              <a:avLst/>
              <a:gdLst/>
              <a:ahLst/>
              <a:cxnLst/>
              <a:rect r="r" b="b" t="t" l="l"/>
              <a:pathLst>
                <a:path h="574771" w="3931200">
                  <a:moveTo>
                    <a:pt x="0" y="0"/>
                  </a:moveTo>
                  <a:lnTo>
                    <a:pt x="3931200" y="0"/>
                  </a:lnTo>
                  <a:lnTo>
                    <a:pt x="3931200" y="574771"/>
                  </a:lnTo>
                  <a:lnTo>
                    <a:pt x="0" y="5747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605" r="0" b="-8093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3931196" cy="6223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09"/>
                </a:lnSpc>
              </a:pPr>
              <a:r>
                <a:rPr lang="en-US" b="true" sz="2174" spc="-1">
                  <a:solidFill>
                    <a:srgbClr val="E5E9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Observation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539777" y="4238463"/>
            <a:ext cx="2811237" cy="410940"/>
            <a:chOff x="0" y="0"/>
            <a:chExt cx="3748316" cy="5479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748320" cy="547924"/>
            </a:xfrm>
            <a:custGeom>
              <a:avLst/>
              <a:gdLst/>
              <a:ahLst/>
              <a:cxnLst/>
              <a:rect r="r" b="b" t="t" l="l"/>
              <a:pathLst>
                <a:path h="547924" w="3748320">
                  <a:moveTo>
                    <a:pt x="0" y="0"/>
                  </a:moveTo>
                  <a:lnTo>
                    <a:pt x="3748320" y="0"/>
                  </a:lnTo>
                  <a:lnTo>
                    <a:pt x="3748320" y="547924"/>
                  </a:lnTo>
                  <a:lnTo>
                    <a:pt x="0" y="5479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296" r="0" b="-8329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3748316" cy="576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79"/>
                </a:lnSpc>
              </a:pPr>
              <a:r>
                <a:rPr lang="en-US" sz="1649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84×84×4 grayscale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420137" y="3463557"/>
            <a:ext cx="246240" cy="273777"/>
            <a:chOff x="0" y="0"/>
            <a:chExt cx="328320" cy="3650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28295" cy="364998"/>
            </a:xfrm>
            <a:custGeom>
              <a:avLst/>
              <a:gdLst/>
              <a:ahLst/>
              <a:cxnLst/>
              <a:rect r="r" b="b" t="t" l="l"/>
              <a:pathLst>
                <a:path h="364998" w="328295">
                  <a:moveTo>
                    <a:pt x="0" y="91313"/>
                  </a:moveTo>
                  <a:lnTo>
                    <a:pt x="164211" y="91313"/>
                  </a:lnTo>
                  <a:lnTo>
                    <a:pt x="164211" y="0"/>
                  </a:lnTo>
                  <a:lnTo>
                    <a:pt x="328295" y="182499"/>
                  </a:lnTo>
                  <a:lnTo>
                    <a:pt x="164211" y="364998"/>
                  </a:lnTo>
                  <a:lnTo>
                    <a:pt x="164211" y="273812"/>
                  </a:lnTo>
                  <a:lnTo>
                    <a:pt x="0" y="273812"/>
                  </a:lnTo>
                  <a:close/>
                </a:path>
              </a:pathLst>
            </a:custGeom>
            <a:solidFill>
              <a:srgbClr val="FFB703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7657938" y="2527935"/>
            <a:ext cx="2967447" cy="2144487"/>
            <a:chOff x="0" y="0"/>
            <a:chExt cx="3956596" cy="285931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956558" cy="2859278"/>
            </a:xfrm>
            <a:custGeom>
              <a:avLst/>
              <a:gdLst/>
              <a:ahLst/>
              <a:cxnLst/>
              <a:rect r="r" b="b" t="t" l="l"/>
              <a:pathLst>
                <a:path h="2859278" w="3956558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3808984" y="0"/>
                  </a:lnTo>
                  <a:cubicBezTo>
                    <a:pt x="3890518" y="0"/>
                    <a:pt x="3956558" y="66040"/>
                    <a:pt x="3956558" y="147574"/>
                  </a:cubicBezTo>
                  <a:lnTo>
                    <a:pt x="3956558" y="2711704"/>
                  </a:lnTo>
                  <a:cubicBezTo>
                    <a:pt x="3956558" y="2793238"/>
                    <a:pt x="3890518" y="2859278"/>
                    <a:pt x="3808984" y="2859278"/>
                  </a:cubicBezTo>
                  <a:lnTo>
                    <a:pt x="147574" y="2859278"/>
                  </a:lnTo>
                  <a:cubicBezTo>
                    <a:pt x="66040" y="2859278"/>
                    <a:pt x="0" y="2793238"/>
                    <a:pt x="0" y="2711704"/>
                  </a:cubicBezTo>
                  <a:close/>
                </a:path>
              </a:pathLst>
            </a:custGeom>
            <a:solidFill>
              <a:srgbClr val="16213E"/>
            </a:solidFill>
            <a:ln w="19050" cap="sq">
              <a:solidFill>
                <a:srgbClr val="2A3B5C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8661597" y="2784243"/>
            <a:ext cx="959577" cy="959577"/>
            <a:chOff x="0" y="0"/>
            <a:chExt cx="1279436" cy="127943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79398" cy="1279398"/>
            </a:xfrm>
            <a:custGeom>
              <a:avLst/>
              <a:gdLst/>
              <a:ahLst/>
              <a:cxnLst/>
              <a:rect r="r" b="b" t="t" l="l"/>
              <a:pathLst>
                <a:path h="1279398" w="1279398">
                  <a:moveTo>
                    <a:pt x="0" y="639699"/>
                  </a:moveTo>
                  <a:cubicBezTo>
                    <a:pt x="0" y="286385"/>
                    <a:pt x="286385" y="0"/>
                    <a:pt x="639699" y="0"/>
                  </a:cubicBezTo>
                  <a:cubicBezTo>
                    <a:pt x="993013" y="0"/>
                    <a:pt x="1279398" y="286385"/>
                    <a:pt x="1279398" y="639699"/>
                  </a:cubicBezTo>
                  <a:cubicBezTo>
                    <a:pt x="1279398" y="993013"/>
                    <a:pt x="993013" y="1279398"/>
                    <a:pt x="639699" y="1279398"/>
                  </a:cubicBezTo>
                  <a:cubicBezTo>
                    <a:pt x="286385" y="1279398"/>
                    <a:pt x="0" y="993013"/>
                    <a:pt x="0" y="639699"/>
                  </a:cubicBez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8892178" y="3014824"/>
            <a:ext cx="498958" cy="498958"/>
            <a:chOff x="0" y="0"/>
            <a:chExt cx="665277" cy="665277"/>
          </a:xfrm>
        </p:grpSpPr>
        <p:sp>
          <p:nvSpPr>
            <p:cNvPr name="Freeform 41" id="41" descr="/tmp/claude-1000/-media-hung-Work-Project-AI-Engineer-RL-contra-PPO/70c7dc7d-8f3f-4139-8f25-95b0e9e6dca5/scratchpad/build/icons/robot.png"/>
            <p:cNvSpPr/>
            <p:nvPr/>
          </p:nvSpPr>
          <p:spPr>
            <a:xfrm flipH="false" flipV="false" rot="0">
              <a:off x="0" y="0"/>
              <a:ext cx="665226" cy="665226"/>
            </a:xfrm>
            <a:custGeom>
              <a:avLst/>
              <a:gdLst/>
              <a:ahLst/>
              <a:cxnLst/>
              <a:rect r="r" b="b" t="t" l="l"/>
              <a:pathLst>
                <a:path h="665226" w="665226">
                  <a:moveTo>
                    <a:pt x="0" y="0"/>
                  </a:moveTo>
                  <a:lnTo>
                    <a:pt x="665226" y="0"/>
                  </a:lnTo>
                  <a:lnTo>
                    <a:pt x="665226" y="665226"/>
                  </a:lnTo>
                  <a:lnTo>
                    <a:pt x="0" y="6652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7" b="-7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667463" y="3840480"/>
            <a:ext cx="2948397" cy="431076"/>
            <a:chOff x="0" y="0"/>
            <a:chExt cx="3931196" cy="57476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931200" cy="574771"/>
            </a:xfrm>
            <a:custGeom>
              <a:avLst/>
              <a:gdLst/>
              <a:ahLst/>
              <a:cxnLst/>
              <a:rect r="r" b="b" t="t" l="l"/>
              <a:pathLst>
                <a:path h="574771" w="3931200">
                  <a:moveTo>
                    <a:pt x="0" y="0"/>
                  </a:moveTo>
                  <a:lnTo>
                    <a:pt x="3931200" y="0"/>
                  </a:lnTo>
                  <a:lnTo>
                    <a:pt x="3931200" y="574771"/>
                  </a:lnTo>
                  <a:lnTo>
                    <a:pt x="0" y="5747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605" r="0" b="-80933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3931196" cy="6223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09"/>
                </a:lnSpc>
              </a:pPr>
              <a:r>
                <a:rPr lang="en-US" b="true" sz="2174" spc="-1">
                  <a:solidFill>
                    <a:srgbClr val="E5E9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PPO Agent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7736043" y="4238463"/>
            <a:ext cx="2811237" cy="410940"/>
            <a:chOff x="0" y="0"/>
            <a:chExt cx="3748316" cy="5479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748320" cy="547924"/>
            </a:xfrm>
            <a:custGeom>
              <a:avLst/>
              <a:gdLst/>
              <a:ahLst/>
              <a:cxnLst/>
              <a:rect r="r" b="b" t="t" l="l"/>
              <a:pathLst>
                <a:path h="547924" w="3748320">
                  <a:moveTo>
                    <a:pt x="0" y="0"/>
                  </a:moveTo>
                  <a:lnTo>
                    <a:pt x="3748320" y="0"/>
                  </a:lnTo>
                  <a:lnTo>
                    <a:pt x="3748320" y="547924"/>
                  </a:lnTo>
                  <a:lnTo>
                    <a:pt x="0" y="5479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296" r="0" b="-8329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3748316" cy="576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79"/>
                </a:lnSpc>
              </a:pPr>
              <a:r>
                <a:rPr lang="en-US" sz="1649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CnnPolicy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616403" y="3463557"/>
            <a:ext cx="246240" cy="273777"/>
            <a:chOff x="0" y="0"/>
            <a:chExt cx="328320" cy="36503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28295" cy="364998"/>
            </a:xfrm>
            <a:custGeom>
              <a:avLst/>
              <a:gdLst/>
              <a:ahLst/>
              <a:cxnLst/>
              <a:rect r="r" b="b" t="t" l="l"/>
              <a:pathLst>
                <a:path h="364998" w="328295">
                  <a:moveTo>
                    <a:pt x="0" y="91313"/>
                  </a:moveTo>
                  <a:lnTo>
                    <a:pt x="164211" y="91313"/>
                  </a:lnTo>
                  <a:lnTo>
                    <a:pt x="164211" y="0"/>
                  </a:lnTo>
                  <a:lnTo>
                    <a:pt x="328295" y="182499"/>
                  </a:lnTo>
                  <a:lnTo>
                    <a:pt x="164211" y="364998"/>
                  </a:lnTo>
                  <a:lnTo>
                    <a:pt x="164211" y="273812"/>
                  </a:lnTo>
                  <a:lnTo>
                    <a:pt x="0" y="273812"/>
                  </a:lnTo>
                  <a:close/>
                </a:path>
              </a:pathLst>
            </a:custGeom>
            <a:solidFill>
              <a:srgbClr val="FFB703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0853652" y="2527935"/>
            <a:ext cx="2967447" cy="2144487"/>
            <a:chOff x="0" y="0"/>
            <a:chExt cx="3956596" cy="285931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956558" cy="2859278"/>
            </a:xfrm>
            <a:custGeom>
              <a:avLst/>
              <a:gdLst/>
              <a:ahLst/>
              <a:cxnLst/>
              <a:rect r="r" b="b" t="t" l="l"/>
              <a:pathLst>
                <a:path h="2859278" w="3956558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3808984" y="0"/>
                  </a:lnTo>
                  <a:cubicBezTo>
                    <a:pt x="3890518" y="0"/>
                    <a:pt x="3956558" y="66040"/>
                    <a:pt x="3956558" y="147574"/>
                  </a:cubicBezTo>
                  <a:lnTo>
                    <a:pt x="3956558" y="2711704"/>
                  </a:lnTo>
                  <a:cubicBezTo>
                    <a:pt x="3956558" y="2793238"/>
                    <a:pt x="3890518" y="2859278"/>
                    <a:pt x="3808984" y="2859278"/>
                  </a:cubicBezTo>
                  <a:lnTo>
                    <a:pt x="147574" y="2859278"/>
                  </a:lnTo>
                  <a:cubicBezTo>
                    <a:pt x="66040" y="2859278"/>
                    <a:pt x="0" y="2793238"/>
                    <a:pt x="0" y="2711704"/>
                  </a:cubicBezTo>
                  <a:close/>
                </a:path>
              </a:pathLst>
            </a:custGeom>
            <a:solidFill>
              <a:srgbClr val="16213E"/>
            </a:solidFill>
            <a:ln w="19050" cap="sq">
              <a:solidFill>
                <a:srgbClr val="2A3B5C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1857320" y="2784243"/>
            <a:ext cx="959577" cy="959577"/>
            <a:chOff x="0" y="0"/>
            <a:chExt cx="1279436" cy="127943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279398" cy="1279398"/>
            </a:xfrm>
            <a:custGeom>
              <a:avLst/>
              <a:gdLst/>
              <a:ahLst/>
              <a:cxnLst/>
              <a:rect r="r" b="b" t="t" l="l"/>
              <a:pathLst>
                <a:path h="1279398" w="1279398">
                  <a:moveTo>
                    <a:pt x="0" y="639699"/>
                  </a:moveTo>
                  <a:cubicBezTo>
                    <a:pt x="0" y="286385"/>
                    <a:pt x="286385" y="0"/>
                    <a:pt x="639699" y="0"/>
                  </a:cubicBezTo>
                  <a:cubicBezTo>
                    <a:pt x="993013" y="0"/>
                    <a:pt x="1279398" y="286385"/>
                    <a:pt x="1279398" y="639699"/>
                  </a:cubicBezTo>
                  <a:cubicBezTo>
                    <a:pt x="1279398" y="993013"/>
                    <a:pt x="993013" y="1279398"/>
                    <a:pt x="639699" y="1279398"/>
                  </a:cubicBezTo>
                  <a:cubicBezTo>
                    <a:pt x="286385" y="1279398"/>
                    <a:pt x="0" y="993013"/>
                    <a:pt x="0" y="639699"/>
                  </a:cubicBez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2087901" y="3014824"/>
            <a:ext cx="498958" cy="498958"/>
            <a:chOff x="0" y="0"/>
            <a:chExt cx="665277" cy="665277"/>
          </a:xfrm>
        </p:grpSpPr>
        <p:sp>
          <p:nvSpPr>
            <p:cNvPr name="Freeform 55" id="55" descr="/tmp/claude-1000/-media-hung-Work-Project-AI-Engineer-RL-contra-PPO/70c7dc7d-8f3f-4139-8f25-95b0e9e6dca5/scratchpad/build/icons/arrowright.png"/>
            <p:cNvSpPr/>
            <p:nvPr/>
          </p:nvSpPr>
          <p:spPr>
            <a:xfrm flipH="false" flipV="false" rot="0">
              <a:off x="0" y="0"/>
              <a:ext cx="665226" cy="665226"/>
            </a:xfrm>
            <a:custGeom>
              <a:avLst/>
              <a:gdLst/>
              <a:ahLst/>
              <a:cxnLst/>
              <a:rect r="r" b="b" t="t" l="l"/>
              <a:pathLst>
                <a:path h="665226" w="665226">
                  <a:moveTo>
                    <a:pt x="0" y="0"/>
                  </a:moveTo>
                  <a:lnTo>
                    <a:pt x="665226" y="0"/>
                  </a:lnTo>
                  <a:lnTo>
                    <a:pt x="665226" y="665226"/>
                  </a:lnTo>
                  <a:lnTo>
                    <a:pt x="0" y="6652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7" b="-7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0863177" y="3840480"/>
            <a:ext cx="2948397" cy="431076"/>
            <a:chOff x="0" y="0"/>
            <a:chExt cx="3931196" cy="57476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931200" cy="574771"/>
            </a:xfrm>
            <a:custGeom>
              <a:avLst/>
              <a:gdLst/>
              <a:ahLst/>
              <a:cxnLst/>
              <a:rect r="r" b="b" t="t" l="l"/>
              <a:pathLst>
                <a:path h="574771" w="3931200">
                  <a:moveTo>
                    <a:pt x="0" y="0"/>
                  </a:moveTo>
                  <a:lnTo>
                    <a:pt x="3931200" y="0"/>
                  </a:lnTo>
                  <a:lnTo>
                    <a:pt x="3931200" y="574771"/>
                  </a:lnTo>
                  <a:lnTo>
                    <a:pt x="0" y="5747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605" r="0" b="-80933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3931196" cy="6223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09"/>
                </a:lnSpc>
              </a:pPr>
              <a:r>
                <a:rPr lang="en-US" b="true" sz="2174" spc="-1">
                  <a:solidFill>
                    <a:srgbClr val="E5E9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Action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931757" y="4238463"/>
            <a:ext cx="2811237" cy="410940"/>
            <a:chOff x="0" y="0"/>
            <a:chExt cx="3748316" cy="5479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748320" cy="547924"/>
            </a:xfrm>
            <a:custGeom>
              <a:avLst/>
              <a:gdLst/>
              <a:ahLst/>
              <a:cxnLst/>
              <a:rect r="r" b="b" t="t" l="l"/>
              <a:pathLst>
                <a:path h="547924" w="3748320">
                  <a:moveTo>
                    <a:pt x="0" y="0"/>
                  </a:moveTo>
                  <a:lnTo>
                    <a:pt x="3748320" y="0"/>
                  </a:lnTo>
                  <a:lnTo>
                    <a:pt x="3748320" y="547924"/>
                  </a:lnTo>
                  <a:lnTo>
                    <a:pt x="0" y="5479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296" r="0" b="-8329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3748316" cy="576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79"/>
                </a:lnSpc>
              </a:pPr>
              <a:r>
                <a:rPr lang="en-US" sz="1649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21 discrete choices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3812117" y="3463557"/>
            <a:ext cx="246240" cy="273777"/>
            <a:chOff x="0" y="0"/>
            <a:chExt cx="328320" cy="36503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28295" cy="364998"/>
            </a:xfrm>
            <a:custGeom>
              <a:avLst/>
              <a:gdLst/>
              <a:ahLst/>
              <a:cxnLst/>
              <a:rect r="r" b="b" t="t" l="l"/>
              <a:pathLst>
                <a:path h="364998" w="328295">
                  <a:moveTo>
                    <a:pt x="0" y="91313"/>
                  </a:moveTo>
                  <a:lnTo>
                    <a:pt x="164211" y="91313"/>
                  </a:lnTo>
                  <a:lnTo>
                    <a:pt x="164211" y="0"/>
                  </a:lnTo>
                  <a:lnTo>
                    <a:pt x="328295" y="182499"/>
                  </a:lnTo>
                  <a:lnTo>
                    <a:pt x="164211" y="364998"/>
                  </a:lnTo>
                  <a:lnTo>
                    <a:pt x="164211" y="273812"/>
                  </a:lnTo>
                  <a:lnTo>
                    <a:pt x="0" y="273812"/>
                  </a:lnTo>
                  <a:close/>
                </a:path>
              </a:pathLst>
            </a:custGeom>
            <a:solidFill>
              <a:srgbClr val="FFB703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4049375" y="2527935"/>
            <a:ext cx="2967447" cy="2144487"/>
            <a:chOff x="0" y="0"/>
            <a:chExt cx="3956596" cy="285931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956558" cy="2859278"/>
            </a:xfrm>
            <a:custGeom>
              <a:avLst/>
              <a:gdLst/>
              <a:ahLst/>
              <a:cxnLst/>
              <a:rect r="r" b="b" t="t" l="l"/>
              <a:pathLst>
                <a:path h="2859278" w="3956558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3808984" y="0"/>
                  </a:lnTo>
                  <a:cubicBezTo>
                    <a:pt x="3890518" y="0"/>
                    <a:pt x="3956558" y="66040"/>
                    <a:pt x="3956558" y="147574"/>
                  </a:cubicBezTo>
                  <a:lnTo>
                    <a:pt x="3956558" y="2711704"/>
                  </a:lnTo>
                  <a:cubicBezTo>
                    <a:pt x="3956558" y="2793238"/>
                    <a:pt x="3890518" y="2859278"/>
                    <a:pt x="3808984" y="2859278"/>
                  </a:cubicBezTo>
                  <a:lnTo>
                    <a:pt x="147574" y="2859278"/>
                  </a:lnTo>
                  <a:cubicBezTo>
                    <a:pt x="66040" y="2859278"/>
                    <a:pt x="0" y="2793238"/>
                    <a:pt x="0" y="2711704"/>
                  </a:cubicBezTo>
                  <a:close/>
                </a:path>
              </a:pathLst>
            </a:custGeom>
            <a:solidFill>
              <a:srgbClr val="16213E"/>
            </a:solidFill>
            <a:ln w="19050" cap="sq">
              <a:solidFill>
                <a:srgbClr val="2A3B5C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5053577" y="2784243"/>
            <a:ext cx="959577" cy="959577"/>
            <a:chOff x="0" y="0"/>
            <a:chExt cx="1279436" cy="127943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279398" cy="1279398"/>
            </a:xfrm>
            <a:custGeom>
              <a:avLst/>
              <a:gdLst/>
              <a:ahLst/>
              <a:cxnLst/>
              <a:rect r="r" b="b" t="t" l="l"/>
              <a:pathLst>
                <a:path h="1279398" w="1279398">
                  <a:moveTo>
                    <a:pt x="0" y="639699"/>
                  </a:moveTo>
                  <a:cubicBezTo>
                    <a:pt x="0" y="286385"/>
                    <a:pt x="286385" y="0"/>
                    <a:pt x="639699" y="0"/>
                  </a:cubicBezTo>
                  <a:cubicBezTo>
                    <a:pt x="993013" y="0"/>
                    <a:pt x="1279398" y="286385"/>
                    <a:pt x="1279398" y="639699"/>
                  </a:cubicBezTo>
                  <a:cubicBezTo>
                    <a:pt x="1279398" y="993013"/>
                    <a:pt x="993013" y="1279398"/>
                    <a:pt x="639699" y="1279398"/>
                  </a:cubicBezTo>
                  <a:cubicBezTo>
                    <a:pt x="286385" y="1279398"/>
                    <a:pt x="0" y="993013"/>
                    <a:pt x="0" y="639699"/>
                  </a:cubicBez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5283624" y="3014824"/>
            <a:ext cx="498958" cy="498958"/>
            <a:chOff x="0" y="0"/>
            <a:chExt cx="665277" cy="665277"/>
          </a:xfrm>
        </p:grpSpPr>
        <p:sp>
          <p:nvSpPr>
            <p:cNvPr name="Freeform 69" id="69" descr="/tmp/claude-1000/-media-hung-Work-Project-AI-Engineer-RL-contra-PPO/70c7dc7d-8f3f-4139-8f25-95b0e9e6dca5/scratchpad/build/icons/trophy.png"/>
            <p:cNvSpPr/>
            <p:nvPr/>
          </p:nvSpPr>
          <p:spPr>
            <a:xfrm flipH="false" flipV="false" rot="0">
              <a:off x="0" y="0"/>
              <a:ext cx="665226" cy="665226"/>
            </a:xfrm>
            <a:custGeom>
              <a:avLst/>
              <a:gdLst/>
              <a:ahLst/>
              <a:cxnLst/>
              <a:rect r="r" b="b" t="t" l="l"/>
              <a:pathLst>
                <a:path h="665226" w="665226">
                  <a:moveTo>
                    <a:pt x="0" y="0"/>
                  </a:moveTo>
                  <a:lnTo>
                    <a:pt x="665226" y="0"/>
                  </a:lnTo>
                  <a:lnTo>
                    <a:pt x="665226" y="665226"/>
                  </a:lnTo>
                  <a:lnTo>
                    <a:pt x="0" y="6652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7" b="-7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4058900" y="3840480"/>
            <a:ext cx="2948397" cy="431076"/>
            <a:chOff x="0" y="0"/>
            <a:chExt cx="3931196" cy="57476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31200" cy="574771"/>
            </a:xfrm>
            <a:custGeom>
              <a:avLst/>
              <a:gdLst/>
              <a:ahLst/>
              <a:cxnLst/>
              <a:rect r="r" b="b" t="t" l="l"/>
              <a:pathLst>
                <a:path h="574771" w="3931200">
                  <a:moveTo>
                    <a:pt x="0" y="0"/>
                  </a:moveTo>
                  <a:lnTo>
                    <a:pt x="3931200" y="0"/>
                  </a:lnTo>
                  <a:lnTo>
                    <a:pt x="3931200" y="574771"/>
                  </a:lnTo>
                  <a:lnTo>
                    <a:pt x="0" y="5747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605" r="0" b="-80933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3931196" cy="6223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09"/>
                </a:lnSpc>
              </a:pPr>
              <a:r>
                <a:rPr lang="en-US" b="true" sz="2174" spc="-1">
                  <a:solidFill>
                    <a:srgbClr val="E5E9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Reward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4127480" y="4238463"/>
            <a:ext cx="2811237" cy="410940"/>
            <a:chOff x="0" y="0"/>
            <a:chExt cx="3748316" cy="5479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748320" cy="547924"/>
            </a:xfrm>
            <a:custGeom>
              <a:avLst/>
              <a:gdLst/>
              <a:ahLst/>
              <a:cxnLst/>
              <a:rect r="r" b="b" t="t" l="l"/>
              <a:pathLst>
                <a:path h="547924" w="3748320">
                  <a:moveTo>
                    <a:pt x="0" y="0"/>
                  </a:moveTo>
                  <a:lnTo>
                    <a:pt x="3748320" y="0"/>
                  </a:lnTo>
                  <a:lnTo>
                    <a:pt x="3748320" y="547924"/>
                  </a:lnTo>
                  <a:lnTo>
                    <a:pt x="0" y="5479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296" r="0" b="-83295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3748316" cy="576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79"/>
                </a:lnSpc>
              </a:pPr>
              <a:r>
                <a:rPr lang="en-US" sz="1649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progress+score+risk</a:t>
              </a:r>
            </a:p>
          </p:txBody>
        </p:sp>
      </p:grpSp>
      <p:sp>
        <p:nvSpPr>
          <p:cNvPr name="AutoShape 76" id="76"/>
          <p:cNvSpPr/>
          <p:nvPr/>
        </p:nvSpPr>
        <p:spPr>
          <a:xfrm rot="6360">
            <a:off x="1261177" y="5038125"/>
            <a:ext cx="15760960" cy="0"/>
          </a:xfrm>
          <a:prstGeom prst="line">
            <a:avLst/>
          </a:prstGeom>
          <a:ln cap="rnd" w="19050">
            <a:solidFill>
              <a:srgbClr val="FFB70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77" id="77"/>
          <p:cNvGrpSpPr/>
          <p:nvPr/>
        </p:nvGrpSpPr>
        <p:grpSpPr>
          <a:xfrm rot="0">
            <a:off x="1275483" y="5239617"/>
            <a:ext cx="15731823" cy="410940"/>
            <a:chOff x="0" y="0"/>
            <a:chExt cx="20975764" cy="5479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0975760" cy="547924"/>
            </a:xfrm>
            <a:custGeom>
              <a:avLst/>
              <a:gdLst/>
              <a:ahLst/>
              <a:cxnLst/>
              <a:rect r="r" b="b" t="t" l="l"/>
              <a:pathLst>
                <a:path h="547924" w="20975760">
                  <a:moveTo>
                    <a:pt x="0" y="0"/>
                  </a:moveTo>
                  <a:lnTo>
                    <a:pt x="20975760" y="0"/>
                  </a:lnTo>
                  <a:lnTo>
                    <a:pt x="20975760" y="547924"/>
                  </a:lnTo>
                  <a:lnTo>
                    <a:pt x="0" y="5479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5931" r="0" b="-69593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20975764" cy="595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9"/>
                </a:lnSpc>
              </a:pPr>
              <a:r>
                <a:rPr lang="en-US" sz="1999" i="true" spc="-1">
                  <a:solidFill>
                    <a:srgbClr val="9AA6C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reward + next observation loop back into the cycle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822960" y="5966460"/>
            <a:ext cx="16636860" cy="685257"/>
            <a:chOff x="0" y="0"/>
            <a:chExt cx="22182480" cy="91367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2182455" cy="913638"/>
            </a:xfrm>
            <a:custGeom>
              <a:avLst/>
              <a:gdLst/>
              <a:ahLst/>
              <a:cxnLst/>
              <a:rect r="r" b="b" t="t" l="l"/>
              <a:pathLst>
                <a:path h="913638" w="22182455">
                  <a:moveTo>
                    <a:pt x="0" y="109601"/>
                  </a:moveTo>
                  <a:cubicBezTo>
                    <a:pt x="0" y="49149"/>
                    <a:pt x="49149" y="0"/>
                    <a:pt x="109601" y="0"/>
                  </a:cubicBezTo>
                  <a:lnTo>
                    <a:pt x="22072854" y="0"/>
                  </a:lnTo>
                  <a:cubicBezTo>
                    <a:pt x="22133433" y="0"/>
                    <a:pt x="22182455" y="49149"/>
                    <a:pt x="22182455" y="109601"/>
                  </a:cubicBezTo>
                  <a:lnTo>
                    <a:pt x="22182455" y="804037"/>
                  </a:lnTo>
                  <a:cubicBezTo>
                    <a:pt x="22182455" y="864616"/>
                    <a:pt x="22133306" y="913638"/>
                    <a:pt x="22072854" y="913638"/>
                  </a:cubicBezTo>
                  <a:lnTo>
                    <a:pt x="109601" y="913638"/>
                  </a:lnTo>
                  <a:cubicBezTo>
                    <a:pt x="49149" y="913638"/>
                    <a:pt x="0" y="864616"/>
                    <a:pt x="0" y="804037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165860" y="5966460"/>
            <a:ext cx="16088220" cy="685257"/>
            <a:chOff x="0" y="0"/>
            <a:chExt cx="21450960" cy="91367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1450960" cy="913680"/>
            </a:xfrm>
            <a:custGeom>
              <a:avLst/>
              <a:gdLst/>
              <a:ahLst/>
              <a:cxnLst/>
              <a:rect r="r" b="b" t="t" l="l"/>
              <a:pathLst>
                <a:path h="913680" w="21450960">
                  <a:moveTo>
                    <a:pt x="0" y="0"/>
                  </a:moveTo>
                  <a:lnTo>
                    <a:pt x="21450960" y="0"/>
                  </a:lnTo>
                  <a:lnTo>
                    <a:pt x="21450960" y="913680"/>
                  </a:lnTo>
                  <a:lnTo>
                    <a:pt x="0" y="913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7461" r="0" b="-40746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21450960" cy="951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spc="-1">
                  <a:solidFill>
                    <a:srgbClr val="E5E9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ContraEnv (NESEnv subclass, reads RAM)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206903" y="6734337"/>
            <a:ext cx="15868983" cy="685257"/>
            <a:chOff x="0" y="0"/>
            <a:chExt cx="21158644" cy="91367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1158581" cy="913638"/>
            </a:xfrm>
            <a:custGeom>
              <a:avLst/>
              <a:gdLst/>
              <a:ahLst/>
              <a:cxnLst/>
              <a:rect r="r" b="b" t="t" l="l"/>
              <a:pathLst>
                <a:path h="913638" w="21158581">
                  <a:moveTo>
                    <a:pt x="0" y="109601"/>
                  </a:moveTo>
                  <a:cubicBezTo>
                    <a:pt x="0" y="49149"/>
                    <a:pt x="49149" y="0"/>
                    <a:pt x="109601" y="0"/>
                  </a:cubicBezTo>
                  <a:lnTo>
                    <a:pt x="21048980" y="0"/>
                  </a:lnTo>
                  <a:cubicBezTo>
                    <a:pt x="21109560" y="0"/>
                    <a:pt x="21158581" y="49149"/>
                    <a:pt x="21158581" y="109601"/>
                  </a:cubicBezTo>
                  <a:lnTo>
                    <a:pt x="21158581" y="804037"/>
                  </a:lnTo>
                  <a:cubicBezTo>
                    <a:pt x="21158581" y="864616"/>
                    <a:pt x="21109432" y="913638"/>
                    <a:pt x="21048980" y="913638"/>
                  </a:cubicBezTo>
                  <a:lnTo>
                    <a:pt x="109601" y="913638"/>
                  </a:lnTo>
                  <a:cubicBezTo>
                    <a:pt x="49149" y="913638"/>
                    <a:pt x="0" y="864616"/>
                    <a:pt x="0" y="804037"/>
                  </a:cubicBez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549803" y="6734337"/>
            <a:ext cx="15320343" cy="685257"/>
            <a:chOff x="0" y="0"/>
            <a:chExt cx="20427124" cy="91367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0427121" cy="913680"/>
            </a:xfrm>
            <a:custGeom>
              <a:avLst/>
              <a:gdLst/>
              <a:ahLst/>
              <a:cxnLst/>
              <a:rect r="r" b="b" t="t" l="l"/>
              <a:pathLst>
                <a:path h="913680" w="20427121">
                  <a:moveTo>
                    <a:pt x="0" y="0"/>
                  </a:moveTo>
                  <a:lnTo>
                    <a:pt x="20427121" y="0"/>
                  </a:lnTo>
                  <a:lnTo>
                    <a:pt x="20427121" y="913680"/>
                  </a:lnTo>
                  <a:lnTo>
                    <a:pt x="0" y="913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626" r="0" b="-385626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20427124" cy="951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spc="-1">
                  <a:solidFill>
                    <a:srgbClr val="E5E9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JoypadSpace — 21 discrete actions (COMPLEX_MOVEMENT)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590837" y="7502757"/>
            <a:ext cx="15100564" cy="685257"/>
            <a:chOff x="0" y="0"/>
            <a:chExt cx="20134085" cy="913676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0134072" cy="913638"/>
            </a:xfrm>
            <a:custGeom>
              <a:avLst/>
              <a:gdLst/>
              <a:ahLst/>
              <a:cxnLst/>
              <a:rect r="r" b="b" t="t" l="l"/>
              <a:pathLst>
                <a:path h="913638" w="20134072">
                  <a:moveTo>
                    <a:pt x="0" y="109601"/>
                  </a:moveTo>
                  <a:cubicBezTo>
                    <a:pt x="0" y="49149"/>
                    <a:pt x="49149" y="0"/>
                    <a:pt x="109601" y="0"/>
                  </a:cubicBezTo>
                  <a:lnTo>
                    <a:pt x="20024471" y="0"/>
                  </a:lnTo>
                  <a:cubicBezTo>
                    <a:pt x="20085050" y="0"/>
                    <a:pt x="20134072" y="49149"/>
                    <a:pt x="20134072" y="109601"/>
                  </a:cubicBezTo>
                  <a:lnTo>
                    <a:pt x="20134072" y="804037"/>
                  </a:lnTo>
                  <a:cubicBezTo>
                    <a:pt x="20134072" y="864616"/>
                    <a:pt x="20084923" y="913638"/>
                    <a:pt x="20024471" y="913638"/>
                  </a:cubicBezTo>
                  <a:lnTo>
                    <a:pt x="109601" y="913638"/>
                  </a:lnTo>
                  <a:cubicBezTo>
                    <a:pt x="49149" y="913638"/>
                    <a:pt x="0" y="864616"/>
                    <a:pt x="0" y="804037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933737" y="7502757"/>
            <a:ext cx="14551924" cy="685257"/>
            <a:chOff x="0" y="0"/>
            <a:chExt cx="19402565" cy="91367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9402560" cy="913680"/>
            </a:xfrm>
            <a:custGeom>
              <a:avLst/>
              <a:gdLst/>
              <a:ahLst/>
              <a:cxnLst/>
              <a:rect r="r" b="b" t="t" l="l"/>
              <a:pathLst>
                <a:path h="913680" w="19402560">
                  <a:moveTo>
                    <a:pt x="0" y="0"/>
                  </a:moveTo>
                  <a:lnTo>
                    <a:pt x="19402560" y="0"/>
                  </a:lnTo>
                  <a:lnTo>
                    <a:pt x="19402560" y="913680"/>
                  </a:lnTo>
                  <a:lnTo>
                    <a:pt x="0" y="913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3777" r="0" b="-363776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19402565" cy="951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spc="-1">
                  <a:solidFill>
                    <a:srgbClr val="E5E9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ContraGymnasiumEnv — frame-skip=4, grayscale, resize 84×84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975323" y="8270643"/>
            <a:ext cx="14332677" cy="685257"/>
            <a:chOff x="0" y="0"/>
            <a:chExt cx="19110236" cy="91367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9110198" cy="913638"/>
            </a:xfrm>
            <a:custGeom>
              <a:avLst/>
              <a:gdLst/>
              <a:ahLst/>
              <a:cxnLst/>
              <a:rect r="r" b="b" t="t" l="l"/>
              <a:pathLst>
                <a:path h="913638" w="19110198">
                  <a:moveTo>
                    <a:pt x="0" y="109601"/>
                  </a:moveTo>
                  <a:cubicBezTo>
                    <a:pt x="0" y="49149"/>
                    <a:pt x="49149" y="0"/>
                    <a:pt x="109601" y="0"/>
                  </a:cubicBezTo>
                  <a:lnTo>
                    <a:pt x="19000597" y="0"/>
                  </a:lnTo>
                  <a:cubicBezTo>
                    <a:pt x="19061176" y="0"/>
                    <a:pt x="19110198" y="49149"/>
                    <a:pt x="19110198" y="109601"/>
                  </a:cubicBezTo>
                  <a:lnTo>
                    <a:pt x="19110198" y="804037"/>
                  </a:lnTo>
                  <a:cubicBezTo>
                    <a:pt x="19110198" y="864616"/>
                    <a:pt x="19061049" y="913638"/>
                    <a:pt x="19000597" y="913638"/>
                  </a:cubicBezTo>
                  <a:lnTo>
                    <a:pt x="109601" y="913638"/>
                  </a:lnTo>
                  <a:cubicBezTo>
                    <a:pt x="49149" y="913638"/>
                    <a:pt x="0" y="864616"/>
                    <a:pt x="0" y="804037"/>
                  </a:cubicBez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2318223" y="8270643"/>
            <a:ext cx="13784037" cy="685257"/>
            <a:chOff x="0" y="0"/>
            <a:chExt cx="18378716" cy="913676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8378720" cy="913680"/>
            </a:xfrm>
            <a:custGeom>
              <a:avLst/>
              <a:gdLst/>
              <a:ahLst/>
              <a:cxnLst/>
              <a:rect r="r" b="b" t="t" l="l"/>
              <a:pathLst>
                <a:path h="913680" w="18378720">
                  <a:moveTo>
                    <a:pt x="0" y="0"/>
                  </a:moveTo>
                  <a:lnTo>
                    <a:pt x="18378720" y="0"/>
                  </a:lnTo>
                  <a:lnTo>
                    <a:pt x="18378720" y="913680"/>
                  </a:lnTo>
                  <a:lnTo>
                    <a:pt x="0" y="913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1942" r="0" b="-341942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18378716" cy="951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spc="-1">
                  <a:solidFill>
                    <a:srgbClr val="E5E9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SubprocVecEnv × N parallel → VecFrameStack (n_stack=4) → VecMonitor → VecTransposeImage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2359257" y="9039063"/>
            <a:ext cx="13564800" cy="685257"/>
            <a:chOff x="0" y="0"/>
            <a:chExt cx="18086400" cy="913676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8086324" cy="913638"/>
            </a:xfrm>
            <a:custGeom>
              <a:avLst/>
              <a:gdLst/>
              <a:ahLst/>
              <a:cxnLst/>
              <a:rect r="r" b="b" t="t" l="l"/>
              <a:pathLst>
                <a:path h="913638" w="18086324">
                  <a:moveTo>
                    <a:pt x="0" y="109601"/>
                  </a:moveTo>
                  <a:cubicBezTo>
                    <a:pt x="0" y="49149"/>
                    <a:pt x="49149" y="0"/>
                    <a:pt x="109601" y="0"/>
                  </a:cubicBezTo>
                  <a:lnTo>
                    <a:pt x="17976723" y="0"/>
                  </a:lnTo>
                  <a:cubicBezTo>
                    <a:pt x="18037302" y="0"/>
                    <a:pt x="18086324" y="49149"/>
                    <a:pt x="18086324" y="109601"/>
                  </a:cubicBezTo>
                  <a:lnTo>
                    <a:pt x="18086324" y="804037"/>
                  </a:lnTo>
                  <a:cubicBezTo>
                    <a:pt x="18086324" y="864616"/>
                    <a:pt x="18037175" y="913638"/>
                    <a:pt x="17976723" y="913638"/>
                  </a:cubicBezTo>
                  <a:lnTo>
                    <a:pt x="109601" y="913638"/>
                  </a:lnTo>
                  <a:cubicBezTo>
                    <a:pt x="49149" y="913638"/>
                    <a:pt x="0" y="864616"/>
                    <a:pt x="0" y="804037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2702157" y="9039063"/>
            <a:ext cx="13016160" cy="685257"/>
            <a:chOff x="0" y="0"/>
            <a:chExt cx="17354880" cy="913676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7354880" cy="913680"/>
            </a:xfrm>
            <a:custGeom>
              <a:avLst/>
              <a:gdLst/>
              <a:ahLst/>
              <a:cxnLst/>
              <a:rect r="r" b="b" t="t" l="l"/>
              <a:pathLst>
                <a:path h="913680" w="17354880">
                  <a:moveTo>
                    <a:pt x="0" y="0"/>
                  </a:moveTo>
                  <a:lnTo>
                    <a:pt x="17354880" y="0"/>
                  </a:lnTo>
                  <a:lnTo>
                    <a:pt x="17354880" y="913680"/>
                  </a:lnTo>
                  <a:lnTo>
                    <a:pt x="0" y="913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108" r="0" b="-320108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17354880" cy="951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spc="-1">
                  <a:solidFill>
                    <a:srgbClr val="E5E9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PPO (Stable-Baselines3), policy = CnnPolicy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685800" y="9710823"/>
            <a:ext cx="4114257" cy="410937"/>
            <a:chOff x="0" y="0"/>
            <a:chExt cx="5485676" cy="547916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5485680" cy="547920"/>
            </a:xfrm>
            <a:custGeom>
              <a:avLst/>
              <a:gdLst/>
              <a:ahLst/>
              <a:cxnLst/>
              <a:rect r="r" b="b" t="t" l="l"/>
              <a:pathLst>
                <a:path h="547920" w="5485680">
                  <a:moveTo>
                    <a:pt x="0" y="0"/>
                  </a:moveTo>
                  <a:lnTo>
                    <a:pt x="5485680" y="0"/>
                  </a:lnTo>
                  <a:lnTo>
                    <a:pt x="5485680" y="547920"/>
                  </a:lnTo>
                  <a:lnTo>
                    <a:pt x="0" y="547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5081" r="0" b="-145080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5485676" cy="5860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Contra-PPO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6911723" y="9710823"/>
            <a:ext cx="822417" cy="410937"/>
            <a:chOff x="0" y="0"/>
            <a:chExt cx="1096556" cy="547916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096560" cy="547920"/>
            </a:xfrm>
            <a:custGeom>
              <a:avLst/>
              <a:gdLst/>
              <a:ahLst/>
              <a:cxnLst/>
              <a:rect r="r" b="b" t="t" l="l"/>
              <a:pathLst>
                <a:path h="547920" w="1096560">
                  <a:moveTo>
                    <a:pt x="0" y="0"/>
                  </a:moveTo>
                  <a:lnTo>
                    <a:pt x="1096560" y="0"/>
                  </a:lnTo>
                  <a:lnTo>
                    <a:pt x="1096560" y="547920"/>
                  </a:lnTo>
                  <a:lnTo>
                    <a:pt x="0" y="547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09" t="0" r="-14109" b="0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1096556" cy="5860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0972257" cy="410937"/>
            <a:chOff x="0" y="0"/>
            <a:chExt cx="14629676" cy="5479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29681" cy="547920"/>
            </a:xfrm>
            <a:custGeom>
              <a:avLst/>
              <a:gdLst/>
              <a:ahLst/>
              <a:cxnLst/>
              <a:rect r="r" b="b" t="t" l="l"/>
              <a:pathLst>
                <a:path h="547920" w="14629681">
                  <a:moveTo>
                    <a:pt x="0" y="0"/>
                  </a:moveTo>
                  <a:lnTo>
                    <a:pt x="14629681" y="0"/>
                  </a:lnTo>
                  <a:lnTo>
                    <a:pt x="14629681" y="547920"/>
                  </a:lnTo>
                  <a:lnTo>
                    <a:pt x="0" y="547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0258" r="0" b="-47025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29676" cy="5860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8">
                  <a:solidFill>
                    <a:srgbClr val="FFB70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REWARD DESIGN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15910017" cy="959577"/>
            <a:chOff x="0" y="0"/>
            <a:chExt cx="21213356" cy="12794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213359" cy="1279440"/>
            </a:xfrm>
            <a:custGeom>
              <a:avLst/>
              <a:gdLst/>
              <a:ahLst/>
              <a:cxnLst/>
              <a:rect r="r" b="b" t="t" l="l"/>
              <a:pathLst>
                <a:path h="1279440" w="21213359">
                  <a:moveTo>
                    <a:pt x="0" y="0"/>
                  </a:moveTo>
                  <a:lnTo>
                    <a:pt x="21213359" y="0"/>
                  </a:lnTo>
                  <a:lnTo>
                    <a:pt x="21213359" y="1279440"/>
                  </a:lnTo>
                  <a:lnTo>
                    <a:pt x="0" y="1279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065" r="0" b="-2730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213356" cy="1298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 spc="-1">
                  <a:solidFill>
                    <a:srgbClr val="E5E9F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Reward function: progress · score · dodge · boss · level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331720"/>
            <a:ext cx="2879817" cy="685257"/>
            <a:chOff x="0" y="0"/>
            <a:chExt cx="3839756" cy="9136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39718" cy="913638"/>
            </a:xfrm>
            <a:custGeom>
              <a:avLst/>
              <a:gdLst/>
              <a:ahLst/>
              <a:cxnLst/>
              <a:rect r="r" b="b" t="t" l="l"/>
              <a:pathLst>
                <a:path h="913638" w="3839718">
                  <a:moveTo>
                    <a:pt x="0" y="0"/>
                  </a:moveTo>
                  <a:lnTo>
                    <a:pt x="3839718" y="0"/>
                  </a:lnTo>
                  <a:lnTo>
                    <a:pt x="3839718" y="913638"/>
                  </a:lnTo>
                  <a:lnTo>
                    <a:pt x="0" y="913638"/>
                  </a:lnTo>
                  <a:close/>
                </a:path>
              </a:pathLst>
            </a:custGeom>
            <a:solidFill>
              <a:srgbClr val="FFB70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60120" y="2331720"/>
            <a:ext cx="2605497" cy="685260"/>
            <a:chOff x="0" y="0"/>
            <a:chExt cx="3473996" cy="9136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474000" cy="913684"/>
            </a:xfrm>
            <a:custGeom>
              <a:avLst/>
              <a:gdLst/>
              <a:ahLst/>
              <a:cxnLst/>
              <a:rect r="r" b="b" t="t" l="l"/>
              <a:pathLst>
                <a:path h="913684" w="3474000">
                  <a:moveTo>
                    <a:pt x="0" y="0"/>
                  </a:moveTo>
                  <a:lnTo>
                    <a:pt x="3474000" y="0"/>
                  </a:lnTo>
                  <a:lnTo>
                    <a:pt x="3474000" y="913684"/>
                  </a:lnTo>
                  <a:lnTo>
                    <a:pt x="0" y="9136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86" r="0" b="-2408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3473996" cy="961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89"/>
                </a:lnSpc>
              </a:pPr>
              <a:r>
                <a:rPr lang="en-US" b="true" sz="2324" spc="-2">
                  <a:solidFill>
                    <a:srgbClr val="0B13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Component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703320" y="2331720"/>
            <a:ext cx="6857457" cy="685257"/>
            <a:chOff x="0" y="0"/>
            <a:chExt cx="9143276" cy="9136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3238" cy="913638"/>
            </a:xfrm>
            <a:custGeom>
              <a:avLst/>
              <a:gdLst/>
              <a:ahLst/>
              <a:cxnLst/>
              <a:rect r="r" b="b" t="t" l="l"/>
              <a:pathLst>
                <a:path h="913638" w="9143238">
                  <a:moveTo>
                    <a:pt x="0" y="0"/>
                  </a:moveTo>
                  <a:lnTo>
                    <a:pt x="9143238" y="0"/>
                  </a:lnTo>
                  <a:lnTo>
                    <a:pt x="9143238" y="913638"/>
                  </a:lnTo>
                  <a:lnTo>
                    <a:pt x="0" y="913638"/>
                  </a:lnTo>
                  <a:close/>
                </a:path>
              </a:pathLst>
            </a:custGeom>
            <a:solidFill>
              <a:srgbClr val="FFB703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840480" y="2331720"/>
            <a:ext cx="6583137" cy="685260"/>
            <a:chOff x="0" y="0"/>
            <a:chExt cx="8777516" cy="9136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777520" cy="913684"/>
            </a:xfrm>
            <a:custGeom>
              <a:avLst/>
              <a:gdLst/>
              <a:ahLst/>
              <a:cxnLst/>
              <a:rect r="r" b="b" t="t" l="l"/>
              <a:pathLst>
                <a:path h="913684" w="8777520">
                  <a:moveTo>
                    <a:pt x="0" y="0"/>
                  </a:moveTo>
                  <a:lnTo>
                    <a:pt x="8777520" y="0"/>
                  </a:lnTo>
                  <a:lnTo>
                    <a:pt x="8777520" y="913684"/>
                  </a:lnTo>
                  <a:lnTo>
                    <a:pt x="0" y="9136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187" r="0" b="-13718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8777516" cy="961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89"/>
                </a:lnSpc>
              </a:pPr>
              <a:r>
                <a:rPr lang="en-US" b="true" sz="2324" spc="-2">
                  <a:solidFill>
                    <a:srgbClr val="0B13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Triggered when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561320" y="2331720"/>
            <a:ext cx="4251417" cy="685257"/>
            <a:chOff x="0" y="0"/>
            <a:chExt cx="5668556" cy="91367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668518" cy="913638"/>
            </a:xfrm>
            <a:custGeom>
              <a:avLst/>
              <a:gdLst/>
              <a:ahLst/>
              <a:cxnLst/>
              <a:rect r="r" b="b" t="t" l="l"/>
              <a:pathLst>
                <a:path h="913638" w="5668518">
                  <a:moveTo>
                    <a:pt x="0" y="0"/>
                  </a:moveTo>
                  <a:lnTo>
                    <a:pt x="5668518" y="0"/>
                  </a:lnTo>
                  <a:lnTo>
                    <a:pt x="5668518" y="913638"/>
                  </a:lnTo>
                  <a:lnTo>
                    <a:pt x="0" y="913638"/>
                  </a:lnTo>
                  <a:close/>
                </a:path>
              </a:pathLst>
            </a:custGeom>
            <a:solidFill>
              <a:srgbClr val="FFB703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698480" y="2331720"/>
            <a:ext cx="3977097" cy="685260"/>
            <a:chOff x="0" y="0"/>
            <a:chExt cx="5302796" cy="9136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02800" cy="913684"/>
            </a:xfrm>
            <a:custGeom>
              <a:avLst/>
              <a:gdLst/>
              <a:ahLst/>
              <a:cxnLst/>
              <a:rect r="r" b="b" t="t" l="l"/>
              <a:pathLst>
                <a:path h="913684" w="5302800">
                  <a:moveTo>
                    <a:pt x="0" y="0"/>
                  </a:moveTo>
                  <a:lnTo>
                    <a:pt x="5302800" y="0"/>
                  </a:lnTo>
                  <a:lnTo>
                    <a:pt x="5302800" y="913684"/>
                  </a:lnTo>
                  <a:lnTo>
                    <a:pt x="0" y="9136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086" r="0" b="-6308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5302796" cy="961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89"/>
                </a:lnSpc>
              </a:pPr>
              <a:r>
                <a:rPr lang="en-US" b="true" sz="2324" spc="-2">
                  <a:solidFill>
                    <a:srgbClr val="0B13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Raw value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813280" y="2331720"/>
            <a:ext cx="2646540" cy="685257"/>
            <a:chOff x="0" y="0"/>
            <a:chExt cx="3528720" cy="91367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528695" cy="913638"/>
            </a:xfrm>
            <a:custGeom>
              <a:avLst/>
              <a:gdLst/>
              <a:ahLst/>
              <a:cxnLst/>
              <a:rect r="r" b="b" t="t" l="l"/>
              <a:pathLst>
                <a:path h="913638" w="3528695">
                  <a:moveTo>
                    <a:pt x="0" y="0"/>
                  </a:moveTo>
                  <a:lnTo>
                    <a:pt x="3528695" y="0"/>
                  </a:lnTo>
                  <a:lnTo>
                    <a:pt x="3528695" y="913638"/>
                  </a:lnTo>
                  <a:lnTo>
                    <a:pt x="0" y="913638"/>
                  </a:lnTo>
                  <a:close/>
                </a:path>
              </a:pathLst>
            </a:custGeom>
            <a:solidFill>
              <a:srgbClr val="FFB703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4950440" y="2331720"/>
            <a:ext cx="2372220" cy="819470"/>
            <a:chOff x="0" y="0"/>
            <a:chExt cx="3162960" cy="109262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162960" cy="1092631"/>
            </a:xfrm>
            <a:custGeom>
              <a:avLst/>
              <a:gdLst/>
              <a:ahLst/>
              <a:cxnLst/>
              <a:rect r="r" b="b" t="t" l="l"/>
              <a:pathLst>
                <a:path h="1092631" w="3162960">
                  <a:moveTo>
                    <a:pt x="0" y="0"/>
                  </a:moveTo>
                  <a:lnTo>
                    <a:pt x="3162960" y="0"/>
                  </a:lnTo>
                  <a:lnTo>
                    <a:pt x="3162960" y="1092631"/>
                  </a:lnTo>
                  <a:lnTo>
                    <a:pt x="0" y="10926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594" r="0" b="178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3162960" cy="11402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89"/>
                </a:lnSpc>
              </a:pPr>
              <a:r>
                <a:rPr lang="en-US" b="true" sz="2324" spc="-2">
                  <a:solidFill>
                    <a:srgbClr val="0B13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Actual contribution (÷10)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15816" y="3010376"/>
            <a:ext cx="2894105" cy="1001411"/>
            <a:chOff x="0" y="0"/>
            <a:chExt cx="3858806" cy="133521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858768" cy="1335151"/>
            </a:xfrm>
            <a:custGeom>
              <a:avLst/>
              <a:gdLst/>
              <a:ahLst/>
              <a:cxnLst/>
              <a:rect r="r" b="b" t="t" l="l"/>
              <a:pathLst>
                <a:path h="1335151" w="3858768">
                  <a:moveTo>
                    <a:pt x="0" y="0"/>
                  </a:moveTo>
                  <a:lnTo>
                    <a:pt x="3858768" y="0"/>
                  </a:lnTo>
                  <a:lnTo>
                    <a:pt x="3858768" y="1335151"/>
                  </a:lnTo>
                  <a:lnTo>
                    <a:pt x="0" y="1335151"/>
                  </a:lnTo>
                  <a:close/>
                </a:path>
              </a:pathLst>
            </a:custGeom>
            <a:solidFill>
              <a:srgbClr val="1C2B4A"/>
            </a:solidFill>
            <a:ln w="14288" cap="sq">
              <a:solidFill>
                <a:srgbClr val="0B132B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60120" y="3017520"/>
            <a:ext cx="2605497" cy="987120"/>
            <a:chOff x="0" y="0"/>
            <a:chExt cx="3473996" cy="13161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474000" cy="1316156"/>
            </a:xfrm>
            <a:custGeom>
              <a:avLst/>
              <a:gdLst/>
              <a:ahLst/>
              <a:cxnLst/>
              <a:rect r="r" b="b" t="t" l="l"/>
              <a:pathLst>
                <a:path h="1316156" w="3474000">
                  <a:moveTo>
                    <a:pt x="0" y="0"/>
                  </a:moveTo>
                  <a:lnTo>
                    <a:pt x="3474000" y="0"/>
                  </a:lnTo>
                  <a:lnTo>
                    <a:pt x="3474000" y="1316156"/>
                  </a:lnTo>
                  <a:lnTo>
                    <a:pt x="0" y="13161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0" r="0" b="-143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3473996" cy="1373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b="true" sz="2099" spc="-2">
                  <a:solidFill>
                    <a:srgbClr val="FFB70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Progress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3696176" y="3010376"/>
            <a:ext cx="6871745" cy="1001411"/>
            <a:chOff x="0" y="0"/>
            <a:chExt cx="9162326" cy="133521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162288" cy="1335151"/>
            </a:xfrm>
            <a:custGeom>
              <a:avLst/>
              <a:gdLst/>
              <a:ahLst/>
              <a:cxnLst/>
              <a:rect r="r" b="b" t="t" l="l"/>
              <a:pathLst>
                <a:path h="1335151" w="9162288">
                  <a:moveTo>
                    <a:pt x="0" y="0"/>
                  </a:moveTo>
                  <a:lnTo>
                    <a:pt x="9162288" y="0"/>
                  </a:lnTo>
                  <a:lnTo>
                    <a:pt x="9162288" y="1335151"/>
                  </a:lnTo>
                  <a:lnTo>
                    <a:pt x="0" y="1335151"/>
                  </a:lnTo>
                  <a:close/>
                </a:path>
              </a:pathLst>
            </a:custGeom>
            <a:solidFill>
              <a:srgbClr val="1C2B4A"/>
            </a:solidFill>
            <a:ln w="14288" cap="sq">
              <a:solidFill>
                <a:srgbClr val="0B132B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3840480" y="3017520"/>
            <a:ext cx="6583137" cy="987120"/>
            <a:chOff x="0" y="0"/>
            <a:chExt cx="8777516" cy="13161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777520" cy="1316156"/>
            </a:xfrm>
            <a:custGeom>
              <a:avLst/>
              <a:gdLst/>
              <a:ahLst/>
              <a:cxnLst/>
              <a:rect r="r" b="b" t="t" l="l"/>
              <a:pathLst>
                <a:path h="1316156" w="8777520">
                  <a:moveTo>
                    <a:pt x="0" y="0"/>
                  </a:moveTo>
                  <a:lnTo>
                    <a:pt x="8777520" y="0"/>
                  </a:lnTo>
                  <a:lnTo>
                    <a:pt x="8777520" y="1316156"/>
                  </a:lnTo>
                  <a:lnTo>
                    <a:pt x="0" y="13161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46" r="0" b="-7994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8777516" cy="1373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2099" spc="-2">
                  <a:solidFill>
                    <a:srgbClr val="E5E9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Moving while alive, in the normal state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554176" y="3010376"/>
            <a:ext cx="4265705" cy="1001411"/>
            <a:chOff x="0" y="0"/>
            <a:chExt cx="5687606" cy="133521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687568" cy="1335151"/>
            </a:xfrm>
            <a:custGeom>
              <a:avLst/>
              <a:gdLst/>
              <a:ahLst/>
              <a:cxnLst/>
              <a:rect r="r" b="b" t="t" l="l"/>
              <a:pathLst>
                <a:path h="1335151" w="5687568">
                  <a:moveTo>
                    <a:pt x="0" y="0"/>
                  </a:moveTo>
                  <a:lnTo>
                    <a:pt x="5687568" y="0"/>
                  </a:lnTo>
                  <a:lnTo>
                    <a:pt x="5687568" y="1335151"/>
                  </a:lnTo>
                  <a:lnTo>
                    <a:pt x="0" y="1335151"/>
                  </a:lnTo>
                  <a:close/>
                </a:path>
              </a:pathLst>
            </a:custGeom>
            <a:solidFill>
              <a:srgbClr val="1C2B4A"/>
            </a:solidFill>
            <a:ln w="14288" cap="sq">
              <a:solidFill>
                <a:srgbClr val="0B132B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0698480" y="3017520"/>
            <a:ext cx="3977097" cy="987120"/>
            <a:chOff x="0" y="0"/>
            <a:chExt cx="5302796" cy="13161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302800" cy="1316156"/>
            </a:xfrm>
            <a:custGeom>
              <a:avLst/>
              <a:gdLst/>
              <a:ahLst/>
              <a:cxnLst/>
              <a:rect r="r" b="b" t="t" l="l"/>
              <a:pathLst>
                <a:path h="1316156" w="5302800">
                  <a:moveTo>
                    <a:pt x="0" y="0"/>
                  </a:moveTo>
                  <a:lnTo>
                    <a:pt x="5302800" y="0"/>
                  </a:lnTo>
                  <a:lnTo>
                    <a:pt x="5302800" y="1316156"/>
                  </a:lnTo>
                  <a:lnTo>
                    <a:pt x="0" y="13161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04" r="0" b="-2850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5302796" cy="1373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2099" spc="-2">
                  <a:solidFill>
                    <a:srgbClr val="E5E9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clip(Δx-0.5,-4,3) + 1.5·clip(new_progress,0,4)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4806136" y="3010376"/>
            <a:ext cx="2660828" cy="1001411"/>
            <a:chOff x="0" y="0"/>
            <a:chExt cx="3547770" cy="133521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547745" cy="1335151"/>
            </a:xfrm>
            <a:custGeom>
              <a:avLst/>
              <a:gdLst/>
              <a:ahLst/>
              <a:cxnLst/>
              <a:rect r="r" b="b" t="t" l="l"/>
              <a:pathLst>
                <a:path h="1335151" w="3547745">
                  <a:moveTo>
                    <a:pt x="0" y="0"/>
                  </a:moveTo>
                  <a:lnTo>
                    <a:pt x="3547745" y="0"/>
                  </a:lnTo>
                  <a:lnTo>
                    <a:pt x="3547745" y="1335151"/>
                  </a:lnTo>
                  <a:lnTo>
                    <a:pt x="0" y="1335151"/>
                  </a:lnTo>
                  <a:close/>
                </a:path>
              </a:pathLst>
            </a:custGeom>
            <a:solidFill>
              <a:srgbClr val="1C2B4A"/>
            </a:solidFill>
            <a:ln w="14288" cap="sq">
              <a:solidFill>
                <a:srgbClr val="0B132B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4950440" y="3017520"/>
            <a:ext cx="2372220" cy="987120"/>
            <a:chOff x="0" y="0"/>
            <a:chExt cx="3162960" cy="13161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62960" cy="1316156"/>
            </a:xfrm>
            <a:custGeom>
              <a:avLst/>
              <a:gdLst/>
              <a:ahLst/>
              <a:cxnLst/>
              <a:rect r="r" b="b" t="t" l="l"/>
              <a:pathLst>
                <a:path h="1316156" w="3162960">
                  <a:moveTo>
                    <a:pt x="0" y="0"/>
                  </a:moveTo>
                  <a:lnTo>
                    <a:pt x="3162960" y="0"/>
                  </a:lnTo>
                  <a:lnTo>
                    <a:pt x="3162960" y="1316156"/>
                  </a:lnTo>
                  <a:lnTo>
                    <a:pt x="0" y="13161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89" t="0" r="-3389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3162960" cy="1373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2099" spc="-2">
                  <a:solidFill>
                    <a:srgbClr val="E5E9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raw value / 10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15816" y="3998033"/>
            <a:ext cx="2894105" cy="1001411"/>
            <a:chOff x="0" y="0"/>
            <a:chExt cx="3858806" cy="133521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858768" cy="1335151"/>
            </a:xfrm>
            <a:custGeom>
              <a:avLst/>
              <a:gdLst/>
              <a:ahLst/>
              <a:cxnLst/>
              <a:rect r="r" b="b" t="t" l="l"/>
              <a:pathLst>
                <a:path h="1335151" w="3858768">
                  <a:moveTo>
                    <a:pt x="0" y="0"/>
                  </a:moveTo>
                  <a:lnTo>
                    <a:pt x="3858768" y="0"/>
                  </a:lnTo>
                  <a:lnTo>
                    <a:pt x="3858768" y="1335151"/>
                  </a:lnTo>
                  <a:lnTo>
                    <a:pt x="0" y="1335151"/>
                  </a:lnTo>
                  <a:close/>
                </a:path>
              </a:pathLst>
            </a:custGeom>
            <a:solidFill>
              <a:srgbClr val="16213E"/>
            </a:solidFill>
            <a:ln w="14288" cap="sq">
              <a:solidFill>
                <a:srgbClr val="0B132B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960120" y="4005177"/>
            <a:ext cx="2605497" cy="987120"/>
            <a:chOff x="0" y="0"/>
            <a:chExt cx="3473996" cy="13161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474000" cy="1316156"/>
            </a:xfrm>
            <a:custGeom>
              <a:avLst/>
              <a:gdLst/>
              <a:ahLst/>
              <a:cxnLst/>
              <a:rect r="r" b="b" t="t" l="l"/>
              <a:pathLst>
                <a:path h="1316156" w="3474000">
                  <a:moveTo>
                    <a:pt x="0" y="0"/>
                  </a:moveTo>
                  <a:lnTo>
                    <a:pt x="3474000" y="0"/>
                  </a:lnTo>
                  <a:lnTo>
                    <a:pt x="3474000" y="1316156"/>
                  </a:lnTo>
                  <a:lnTo>
                    <a:pt x="0" y="13161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0" r="0" b="-143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3473996" cy="1373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b="true" sz="2099" spc="-2">
                  <a:solidFill>
                    <a:srgbClr val="FFB70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Score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3696176" y="3998033"/>
            <a:ext cx="6871745" cy="1001411"/>
            <a:chOff x="0" y="0"/>
            <a:chExt cx="9162326" cy="133521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162288" cy="1335151"/>
            </a:xfrm>
            <a:custGeom>
              <a:avLst/>
              <a:gdLst/>
              <a:ahLst/>
              <a:cxnLst/>
              <a:rect r="r" b="b" t="t" l="l"/>
              <a:pathLst>
                <a:path h="1335151" w="9162288">
                  <a:moveTo>
                    <a:pt x="0" y="0"/>
                  </a:moveTo>
                  <a:lnTo>
                    <a:pt x="9162288" y="0"/>
                  </a:lnTo>
                  <a:lnTo>
                    <a:pt x="9162288" y="1335151"/>
                  </a:lnTo>
                  <a:lnTo>
                    <a:pt x="0" y="1335151"/>
                  </a:lnTo>
                  <a:close/>
                </a:path>
              </a:pathLst>
            </a:custGeom>
            <a:solidFill>
              <a:srgbClr val="16213E"/>
            </a:solidFill>
            <a:ln w="14288" cap="sq">
              <a:solidFill>
                <a:srgbClr val="0B132B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3840480" y="4005177"/>
            <a:ext cx="6583137" cy="987120"/>
            <a:chOff x="0" y="0"/>
            <a:chExt cx="8777516" cy="13161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777520" cy="1316156"/>
            </a:xfrm>
            <a:custGeom>
              <a:avLst/>
              <a:gdLst/>
              <a:ahLst/>
              <a:cxnLst/>
              <a:rect r="r" b="b" t="t" l="l"/>
              <a:pathLst>
                <a:path h="1316156" w="8777520">
                  <a:moveTo>
                    <a:pt x="0" y="0"/>
                  </a:moveTo>
                  <a:lnTo>
                    <a:pt x="8777520" y="0"/>
                  </a:lnTo>
                  <a:lnTo>
                    <a:pt x="8777520" y="1316156"/>
                  </a:lnTo>
                  <a:lnTo>
                    <a:pt x="0" y="13161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46" r="0" b="-7994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57150"/>
              <a:ext cx="8777516" cy="1373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2099" spc="-2">
                  <a:solidFill>
                    <a:srgbClr val="E5E9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Score increases near the progress frontier (within 32px) or creates new progress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554176" y="3998033"/>
            <a:ext cx="4265705" cy="1001411"/>
            <a:chOff x="0" y="0"/>
            <a:chExt cx="5687606" cy="133521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687568" cy="1335151"/>
            </a:xfrm>
            <a:custGeom>
              <a:avLst/>
              <a:gdLst/>
              <a:ahLst/>
              <a:cxnLst/>
              <a:rect r="r" b="b" t="t" l="l"/>
              <a:pathLst>
                <a:path h="1335151" w="5687568">
                  <a:moveTo>
                    <a:pt x="0" y="0"/>
                  </a:moveTo>
                  <a:lnTo>
                    <a:pt x="5687568" y="0"/>
                  </a:lnTo>
                  <a:lnTo>
                    <a:pt x="5687568" y="1335151"/>
                  </a:lnTo>
                  <a:lnTo>
                    <a:pt x="0" y="1335151"/>
                  </a:lnTo>
                  <a:close/>
                </a:path>
              </a:pathLst>
            </a:custGeom>
            <a:solidFill>
              <a:srgbClr val="16213E"/>
            </a:solidFill>
            <a:ln w="14288" cap="sq">
              <a:solidFill>
                <a:srgbClr val="0B132B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0698480" y="4005177"/>
            <a:ext cx="3977097" cy="987120"/>
            <a:chOff x="0" y="0"/>
            <a:chExt cx="5302796" cy="131616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302800" cy="1316156"/>
            </a:xfrm>
            <a:custGeom>
              <a:avLst/>
              <a:gdLst/>
              <a:ahLst/>
              <a:cxnLst/>
              <a:rect r="r" b="b" t="t" l="l"/>
              <a:pathLst>
                <a:path h="1316156" w="5302800">
                  <a:moveTo>
                    <a:pt x="0" y="0"/>
                  </a:moveTo>
                  <a:lnTo>
                    <a:pt x="5302800" y="0"/>
                  </a:lnTo>
                  <a:lnTo>
                    <a:pt x="5302800" y="1316156"/>
                  </a:lnTo>
                  <a:lnTo>
                    <a:pt x="0" y="13161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04" r="0" b="-2850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57150"/>
              <a:ext cx="5302796" cy="1373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2099" spc="-2">
                  <a:solidFill>
                    <a:srgbClr val="E5E9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 or +1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4806136" y="3998033"/>
            <a:ext cx="2660828" cy="1001411"/>
            <a:chOff x="0" y="0"/>
            <a:chExt cx="3547770" cy="133521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547745" cy="1335151"/>
            </a:xfrm>
            <a:custGeom>
              <a:avLst/>
              <a:gdLst/>
              <a:ahLst/>
              <a:cxnLst/>
              <a:rect r="r" b="b" t="t" l="l"/>
              <a:pathLst>
                <a:path h="1335151" w="3547745">
                  <a:moveTo>
                    <a:pt x="0" y="0"/>
                  </a:moveTo>
                  <a:lnTo>
                    <a:pt x="3547745" y="0"/>
                  </a:lnTo>
                  <a:lnTo>
                    <a:pt x="3547745" y="1335151"/>
                  </a:lnTo>
                  <a:lnTo>
                    <a:pt x="0" y="1335151"/>
                  </a:lnTo>
                  <a:close/>
                </a:path>
              </a:pathLst>
            </a:custGeom>
            <a:solidFill>
              <a:srgbClr val="16213E"/>
            </a:solidFill>
            <a:ln w="14288" cap="sq">
              <a:solidFill>
                <a:srgbClr val="0B132B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4950440" y="4005177"/>
            <a:ext cx="2372220" cy="987120"/>
            <a:chOff x="0" y="0"/>
            <a:chExt cx="3162960" cy="13161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162960" cy="1316156"/>
            </a:xfrm>
            <a:custGeom>
              <a:avLst/>
              <a:gdLst/>
              <a:ahLst/>
              <a:cxnLst/>
              <a:rect r="r" b="b" t="t" l="l"/>
              <a:pathLst>
                <a:path h="1316156" w="3162960">
                  <a:moveTo>
                    <a:pt x="0" y="0"/>
                  </a:moveTo>
                  <a:lnTo>
                    <a:pt x="3162960" y="0"/>
                  </a:lnTo>
                  <a:lnTo>
                    <a:pt x="3162960" y="1316156"/>
                  </a:lnTo>
                  <a:lnTo>
                    <a:pt x="0" y="13161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89" t="0" r="-3389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3162960" cy="1373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2099" spc="-2">
                  <a:solidFill>
                    <a:srgbClr val="E5E9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 or +0.1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815816" y="4985699"/>
            <a:ext cx="2894105" cy="1001411"/>
            <a:chOff x="0" y="0"/>
            <a:chExt cx="3858806" cy="133521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858768" cy="1335151"/>
            </a:xfrm>
            <a:custGeom>
              <a:avLst/>
              <a:gdLst/>
              <a:ahLst/>
              <a:cxnLst/>
              <a:rect r="r" b="b" t="t" l="l"/>
              <a:pathLst>
                <a:path h="1335151" w="3858768">
                  <a:moveTo>
                    <a:pt x="0" y="0"/>
                  </a:moveTo>
                  <a:lnTo>
                    <a:pt x="3858768" y="0"/>
                  </a:lnTo>
                  <a:lnTo>
                    <a:pt x="3858768" y="1335151"/>
                  </a:lnTo>
                  <a:lnTo>
                    <a:pt x="0" y="1335151"/>
                  </a:lnTo>
                  <a:close/>
                </a:path>
              </a:pathLst>
            </a:custGeom>
            <a:solidFill>
              <a:srgbClr val="1C2B4A"/>
            </a:solidFill>
            <a:ln w="14288" cap="sq">
              <a:solidFill>
                <a:srgbClr val="0B132B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960120" y="4992843"/>
            <a:ext cx="2605497" cy="987120"/>
            <a:chOff x="0" y="0"/>
            <a:chExt cx="3473996" cy="131616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474000" cy="1316156"/>
            </a:xfrm>
            <a:custGeom>
              <a:avLst/>
              <a:gdLst/>
              <a:ahLst/>
              <a:cxnLst/>
              <a:rect r="r" b="b" t="t" l="l"/>
              <a:pathLst>
                <a:path h="1316156" w="3474000">
                  <a:moveTo>
                    <a:pt x="0" y="0"/>
                  </a:moveTo>
                  <a:lnTo>
                    <a:pt x="3474000" y="0"/>
                  </a:lnTo>
                  <a:lnTo>
                    <a:pt x="3474000" y="1316156"/>
                  </a:lnTo>
                  <a:lnTo>
                    <a:pt x="0" y="13161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0" r="0" b="-143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57150"/>
              <a:ext cx="3473996" cy="1373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b="true" sz="2099" spc="-2">
                  <a:solidFill>
                    <a:srgbClr val="FFB70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Dodge / survival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3696176" y="4985699"/>
            <a:ext cx="6871745" cy="1001411"/>
            <a:chOff x="0" y="0"/>
            <a:chExt cx="9162326" cy="133521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162288" cy="1335151"/>
            </a:xfrm>
            <a:custGeom>
              <a:avLst/>
              <a:gdLst/>
              <a:ahLst/>
              <a:cxnLst/>
              <a:rect r="r" b="b" t="t" l="l"/>
              <a:pathLst>
                <a:path h="1335151" w="9162288">
                  <a:moveTo>
                    <a:pt x="0" y="0"/>
                  </a:moveTo>
                  <a:lnTo>
                    <a:pt x="9162288" y="0"/>
                  </a:lnTo>
                  <a:lnTo>
                    <a:pt x="9162288" y="1335151"/>
                  </a:lnTo>
                  <a:lnTo>
                    <a:pt x="0" y="1335151"/>
                  </a:lnTo>
                  <a:close/>
                </a:path>
              </a:pathLst>
            </a:custGeom>
            <a:solidFill>
              <a:srgbClr val="1C2B4A"/>
            </a:solidFill>
            <a:ln w="14288" cap="sq">
              <a:solidFill>
                <a:srgbClr val="0B132B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3840480" y="4992843"/>
            <a:ext cx="6583137" cy="987120"/>
            <a:chOff x="0" y="0"/>
            <a:chExt cx="8777516" cy="131616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777520" cy="1316156"/>
            </a:xfrm>
            <a:custGeom>
              <a:avLst/>
              <a:gdLst/>
              <a:ahLst/>
              <a:cxnLst/>
              <a:rect r="r" b="b" t="t" l="l"/>
              <a:pathLst>
                <a:path h="1316156" w="8777520">
                  <a:moveTo>
                    <a:pt x="0" y="0"/>
                  </a:moveTo>
                  <a:lnTo>
                    <a:pt x="8777520" y="0"/>
                  </a:lnTo>
                  <a:lnTo>
                    <a:pt x="8777520" y="1316156"/>
                  </a:lnTo>
                  <a:lnTo>
                    <a:pt x="0" y="13161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46" r="0" b="-79947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57150"/>
              <a:ext cx="8777516" cy="1373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2099" spc="-2">
                  <a:solidFill>
                    <a:srgbClr val="E5E9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Alive, in the normal state, with at least 1 active enemy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0554176" y="4985699"/>
            <a:ext cx="4265705" cy="1001411"/>
            <a:chOff x="0" y="0"/>
            <a:chExt cx="5687606" cy="133521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687568" cy="1335151"/>
            </a:xfrm>
            <a:custGeom>
              <a:avLst/>
              <a:gdLst/>
              <a:ahLst/>
              <a:cxnLst/>
              <a:rect r="r" b="b" t="t" l="l"/>
              <a:pathLst>
                <a:path h="1335151" w="5687568">
                  <a:moveTo>
                    <a:pt x="0" y="0"/>
                  </a:moveTo>
                  <a:lnTo>
                    <a:pt x="5687568" y="0"/>
                  </a:lnTo>
                  <a:lnTo>
                    <a:pt x="5687568" y="1335151"/>
                  </a:lnTo>
                  <a:lnTo>
                    <a:pt x="0" y="1335151"/>
                  </a:lnTo>
                  <a:close/>
                </a:path>
              </a:pathLst>
            </a:custGeom>
            <a:solidFill>
              <a:srgbClr val="1C2B4A"/>
            </a:solidFill>
            <a:ln w="14288" cap="sq">
              <a:solidFill>
                <a:srgbClr val="0B132B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10698480" y="4992843"/>
            <a:ext cx="3977097" cy="987120"/>
            <a:chOff x="0" y="0"/>
            <a:chExt cx="5302796" cy="131616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302800" cy="1316156"/>
            </a:xfrm>
            <a:custGeom>
              <a:avLst/>
              <a:gdLst/>
              <a:ahLst/>
              <a:cxnLst/>
              <a:rect r="r" b="b" t="t" l="l"/>
              <a:pathLst>
                <a:path h="1316156" w="5302800">
                  <a:moveTo>
                    <a:pt x="0" y="0"/>
                  </a:moveTo>
                  <a:lnTo>
                    <a:pt x="5302800" y="0"/>
                  </a:lnTo>
                  <a:lnTo>
                    <a:pt x="5302800" y="1316156"/>
                  </a:lnTo>
                  <a:lnTo>
                    <a:pt x="0" y="13161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04" r="0" b="-2850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57150"/>
              <a:ext cx="5302796" cy="1373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2099" spc="-2">
                  <a:solidFill>
                    <a:srgbClr val="E5E9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+0.1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4806136" y="4985699"/>
            <a:ext cx="2660828" cy="1001411"/>
            <a:chOff x="0" y="0"/>
            <a:chExt cx="3547770" cy="133521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547745" cy="1335151"/>
            </a:xfrm>
            <a:custGeom>
              <a:avLst/>
              <a:gdLst/>
              <a:ahLst/>
              <a:cxnLst/>
              <a:rect r="r" b="b" t="t" l="l"/>
              <a:pathLst>
                <a:path h="1335151" w="3547745">
                  <a:moveTo>
                    <a:pt x="0" y="0"/>
                  </a:moveTo>
                  <a:lnTo>
                    <a:pt x="3547745" y="0"/>
                  </a:lnTo>
                  <a:lnTo>
                    <a:pt x="3547745" y="1335151"/>
                  </a:lnTo>
                  <a:lnTo>
                    <a:pt x="0" y="1335151"/>
                  </a:lnTo>
                  <a:close/>
                </a:path>
              </a:pathLst>
            </a:custGeom>
            <a:solidFill>
              <a:srgbClr val="1C2B4A"/>
            </a:solidFill>
            <a:ln w="14288" cap="sq">
              <a:solidFill>
                <a:srgbClr val="0B132B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14950440" y="4992843"/>
            <a:ext cx="2372220" cy="987120"/>
            <a:chOff x="0" y="0"/>
            <a:chExt cx="3162960" cy="131616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162960" cy="1316156"/>
            </a:xfrm>
            <a:custGeom>
              <a:avLst/>
              <a:gdLst/>
              <a:ahLst/>
              <a:cxnLst/>
              <a:rect r="r" b="b" t="t" l="l"/>
              <a:pathLst>
                <a:path h="1316156" w="3162960">
                  <a:moveTo>
                    <a:pt x="0" y="0"/>
                  </a:moveTo>
                  <a:lnTo>
                    <a:pt x="3162960" y="0"/>
                  </a:lnTo>
                  <a:lnTo>
                    <a:pt x="3162960" y="1316156"/>
                  </a:lnTo>
                  <a:lnTo>
                    <a:pt x="0" y="13161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89" t="0" r="-3389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57150"/>
              <a:ext cx="3162960" cy="1373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2099" spc="-2">
                  <a:solidFill>
                    <a:srgbClr val="E5E9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+0.01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815816" y="5972813"/>
            <a:ext cx="2894105" cy="1001411"/>
            <a:chOff x="0" y="0"/>
            <a:chExt cx="3858806" cy="133521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858768" cy="1335151"/>
            </a:xfrm>
            <a:custGeom>
              <a:avLst/>
              <a:gdLst/>
              <a:ahLst/>
              <a:cxnLst/>
              <a:rect r="r" b="b" t="t" l="l"/>
              <a:pathLst>
                <a:path h="1335151" w="3858768">
                  <a:moveTo>
                    <a:pt x="0" y="0"/>
                  </a:moveTo>
                  <a:lnTo>
                    <a:pt x="3858768" y="0"/>
                  </a:lnTo>
                  <a:lnTo>
                    <a:pt x="3858768" y="1335151"/>
                  </a:lnTo>
                  <a:lnTo>
                    <a:pt x="0" y="1335151"/>
                  </a:lnTo>
                  <a:close/>
                </a:path>
              </a:pathLst>
            </a:custGeom>
            <a:solidFill>
              <a:srgbClr val="16213E"/>
            </a:solidFill>
            <a:ln w="14288" cap="sq">
              <a:solidFill>
                <a:srgbClr val="0B132B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960120" y="5979957"/>
            <a:ext cx="2605497" cy="987120"/>
            <a:chOff x="0" y="0"/>
            <a:chExt cx="3473996" cy="131616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474000" cy="1316156"/>
            </a:xfrm>
            <a:custGeom>
              <a:avLst/>
              <a:gdLst/>
              <a:ahLst/>
              <a:cxnLst/>
              <a:rect r="r" b="b" t="t" l="l"/>
              <a:pathLst>
                <a:path h="1316156" w="3474000">
                  <a:moveTo>
                    <a:pt x="0" y="0"/>
                  </a:moveTo>
                  <a:lnTo>
                    <a:pt x="3474000" y="0"/>
                  </a:lnTo>
                  <a:lnTo>
                    <a:pt x="3474000" y="1316156"/>
                  </a:lnTo>
                  <a:lnTo>
                    <a:pt x="0" y="13161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0" r="0" b="-1431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57150"/>
              <a:ext cx="3473996" cy="1373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b="true" sz="2099" spc="-2">
                  <a:solidFill>
                    <a:srgbClr val="FFB70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Boss defeated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3696176" y="5972813"/>
            <a:ext cx="6871745" cy="1001411"/>
            <a:chOff x="0" y="0"/>
            <a:chExt cx="9162326" cy="1335214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9162288" cy="1335151"/>
            </a:xfrm>
            <a:custGeom>
              <a:avLst/>
              <a:gdLst/>
              <a:ahLst/>
              <a:cxnLst/>
              <a:rect r="r" b="b" t="t" l="l"/>
              <a:pathLst>
                <a:path h="1335151" w="9162288">
                  <a:moveTo>
                    <a:pt x="0" y="0"/>
                  </a:moveTo>
                  <a:lnTo>
                    <a:pt x="9162288" y="0"/>
                  </a:lnTo>
                  <a:lnTo>
                    <a:pt x="9162288" y="1335151"/>
                  </a:lnTo>
                  <a:lnTo>
                    <a:pt x="0" y="1335151"/>
                  </a:lnTo>
                  <a:close/>
                </a:path>
              </a:pathLst>
            </a:custGeom>
            <a:solidFill>
              <a:srgbClr val="16213E"/>
            </a:solidFill>
            <a:ln w="14288" cap="sq">
              <a:solidFill>
                <a:srgbClr val="0B132B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3840480" y="5979957"/>
            <a:ext cx="6583137" cy="987120"/>
            <a:chOff x="0" y="0"/>
            <a:chExt cx="8777516" cy="131616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8777520" cy="1316156"/>
            </a:xfrm>
            <a:custGeom>
              <a:avLst/>
              <a:gdLst/>
              <a:ahLst/>
              <a:cxnLst/>
              <a:rect r="r" b="b" t="t" l="l"/>
              <a:pathLst>
                <a:path h="1316156" w="8777520">
                  <a:moveTo>
                    <a:pt x="0" y="0"/>
                  </a:moveTo>
                  <a:lnTo>
                    <a:pt x="8777520" y="0"/>
                  </a:lnTo>
                  <a:lnTo>
                    <a:pt x="8777520" y="1316156"/>
                  </a:lnTo>
                  <a:lnTo>
                    <a:pt x="0" y="13161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46" r="0" b="-79947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57150"/>
              <a:ext cx="8777516" cy="1373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2099" spc="-2">
                  <a:solidFill>
                    <a:srgbClr val="E5E9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Boss-defeated flag switches from false → true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0554176" y="5972813"/>
            <a:ext cx="4265705" cy="1001411"/>
            <a:chOff x="0" y="0"/>
            <a:chExt cx="5687606" cy="1335214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5687568" cy="1335151"/>
            </a:xfrm>
            <a:custGeom>
              <a:avLst/>
              <a:gdLst/>
              <a:ahLst/>
              <a:cxnLst/>
              <a:rect r="r" b="b" t="t" l="l"/>
              <a:pathLst>
                <a:path h="1335151" w="5687568">
                  <a:moveTo>
                    <a:pt x="0" y="0"/>
                  </a:moveTo>
                  <a:lnTo>
                    <a:pt x="5687568" y="0"/>
                  </a:lnTo>
                  <a:lnTo>
                    <a:pt x="5687568" y="1335151"/>
                  </a:lnTo>
                  <a:lnTo>
                    <a:pt x="0" y="1335151"/>
                  </a:lnTo>
                  <a:close/>
                </a:path>
              </a:pathLst>
            </a:custGeom>
            <a:solidFill>
              <a:srgbClr val="16213E"/>
            </a:solidFill>
            <a:ln w="14288" cap="sq">
              <a:solidFill>
                <a:srgbClr val="0B132B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10698480" y="5979957"/>
            <a:ext cx="3977097" cy="987120"/>
            <a:chOff x="0" y="0"/>
            <a:chExt cx="5302796" cy="131616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302800" cy="1316156"/>
            </a:xfrm>
            <a:custGeom>
              <a:avLst/>
              <a:gdLst/>
              <a:ahLst/>
              <a:cxnLst/>
              <a:rect r="r" b="b" t="t" l="l"/>
              <a:pathLst>
                <a:path h="1316156" w="5302800">
                  <a:moveTo>
                    <a:pt x="0" y="0"/>
                  </a:moveTo>
                  <a:lnTo>
                    <a:pt x="5302800" y="0"/>
                  </a:lnTo>
                  <a:lnTo>
                    <a:pt x="5302800" y="1316156"/>
                  </a:lnTo>
                  <a:lnTo>
                    <a:pt x="0" y="13161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04" r="0" b="-28505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57150"/>
              <a:ext cx="5302796" cy="1373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2099" spc="-2">
                  <a:solidFill>
                    <a:srgbClr val="E5E9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+120 (one-time)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4806136" y="5972813"/>
            <a:ext cx="2660828" cy="1001411"/>
            <a:chOff x="0" y="0"/>
            <a:chExt cx="3547770" cy="1335214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547745" cy="1335151"/>
            </a:xfrm>
            <a:custGeom>
              <a:avLst/>
              <a:gdLst/>
              <a:ahLst/>
              <a:cxnLst/>
              <a:rect r="r" b="b" t="t" l="l"/>
              <a:pathLst>
                <a:path h="1335151" w="3547745">
                  <a:moveTo>
                    <a:pt x="0" y="0"/>
                  </a:moveTo>
                  <a:lnTo>
                    <a:pt x="3547745" y="0"/>
                  </a:lnTo>
                  <a:lnTo>
                    <a:pt x="3547745" y="1335151"/>
                  </a:lnTo>
                  <a:lnTo>
                    <a:pt x="0" y="1335151"/>
                  </a:lnTo>
                  <a:close/>
                </a:path>
              </a:pathLst>
            </a:custGeom>
            <a:solidFill>
              <a:srgbClr val="16213E"/>
            </a:solidFill>
            <a:ln w="14288" cap="sq">
              <a:solidFill>
                <a:srgbClr val="0B132B"/>
              </a:solidFill>
              <a:prstDash val="solid"/>
              <a:miter/>
            </a:ln>
          </p:spPr>
        </p:sp>
      </p:grpSp>
      <p:grpSp>
        <p:nvGrpSpPr>
          <p:cNvPr name="Group 105" id="105"/>
          <p:cNvGrpSpPr/>
          <p:nvPr/>
        </p:nvGrpSpPr>
        <p:grpSpPr>
          <a:xfrm rot="0">
            <a:off x="14950440" y="5979957"/>
            <a:ext cx="2372220" cy="987120"/>
            <a:chOff x="0" y="0"/>
            <a:chExt cx="3162960" cy="131616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3162960" cy="1316156"/>
            </a:xfrm>
            <a:custGeom>
              <a:avLst/>
              <a:gdLst/>
              <a:ahLst/>
              <a:cxnLst/>
              <a:rect r="r" b="b" t="t" l="l"/>
              <a:pathLst>
                <a:path h="1316156" w="3162960">
                  <a:moveTo>
                    <a:pt x="0" y="0"/>
                  </a:moveTo>
                  <a:lnTo>
                    <a:pt x="3162960" y="0"/>
                  </a:lnTo>
                  <a:lnTo>
                    <a:pt x="3162960" y="1316156"/>
                  </a:lnTo>
                  <a:lnTo>
                    <a:pt x="0" y="13161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89" t="0" r="-3389" b="0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57150"/>
              <a:ext cx="3162960" cy="1373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2099" spc="-2">
                  <a:solidFill>
                    <a:srgbClr val="E5E9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+12 (one-time)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815816" y="6960479"/>
            <a:ext cx="2894105" cy="1001411"/>
            <a:chOff x="0" y="0"/>
            <a:chExt cx="3858806" cy="1335214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3858768" cy="1335151"/>
            </a:xfrm>
            <a:custGeom>
              <a:avLst/>
              <a:gdLst/>
              <a:ahLst/>
              <a:cxnLst/>
              <a:rect r="r" b="b" t="t" l="l"/>
              <a:pathLst>
                <a:path h="1335151" w="3858768">
                  <a:moveTo>
                    <a:pt x="0" y="0"/>
                  </a:moveTo>
                  <a:lnTo>
                    <a:pt x="3858768" y="0"/>
                  </a:lnTo>
                  <a:lnTo>
                    <a:pt x="3858768" y="1335151"/>
                  </a:lnTo>
                  <a:lnTo>
                    <a:pt x="0" y="1335151"/>
                  </a:lnTo>
                  <a:close/>
                </a:path>
              </a:pathLst>
            </a:custGeom>
            <a:solidFill>
              <a:srgbClr val="1C2B4A"/>
            </a:solidFill>
            <a:ln w="14288" cap="sq">
              <a:solidFill>
                <a:srgbClr val="0B132B"/>
              </a:solidFill>
              <a:prstDash val="solid"/>
              <a:miter/>
            </a:ln>
          </p:spPr>
        </p:sp>
      </p:grpSp>
      <p:grpSp>
        <p:nvGrpSpPr>
          <p:cNvPr name="Group 110" id="110"/>
          <p:cNvGrpSpPr/>
          <p:nvPr/>
        </p:nvGrpSpPr>
        <p:grpSpPr>
          <a:xfrm rot="0">
            <a:off x="960120" y="6967623"/>
            <a:ext cx="2605497" cy="987120"/>
            <a:chOff x="0" y="0"/>
            <a:chExt cx="3473996" cy="131616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474000" cy="1316156"/>
            </a:xfrm>
            <a:custGeom>
              <a:avLst/>
              <a:gdLst/>
              <a:ahLst/>
              <a:cxnLst/>
              <a:rect r="r" b="b" t="t" l="l"/>
              <a:pathLst>
                <a:path h="1316156" w="3474000">
                  <a:moveTo>
                    <a:pt x="0" y="0"/>
                  </a:moveTo>
                  <a:lnTo>
                    <a:pt x="3474000" y="0"/>
                  </a:lnTo>
                  <a:lnTo>
                    <a:pt x="3474000" y="1316156"/>
                  </a:lnTo>
                  <a:lnTo>
                    <a:pt x="0" y="13161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0" r="0" b="-1431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57150"/>
              <a:ext cx="3473996" cy="1373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b="true" sz="2099" spc="-2">
                  <a:solidFill>
                    <a:srgbClr val="FFB70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Stage over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3696176" y="6960479"/>
            <a:ext cx="6871745" cy="1001411"/>
            <a:chOff x="0" y="0"/>
            <a:chExt cx="9162326" cy="1335214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9162288" cy="1335151"/>
            </a:xfrm>
            <a:custGeom>
              <a:avLst/>
              <a:gdLst/>
              <a:ahLst/>
              <a:cxnLst/>
              <a:rect r="r" b="b" t="t" l="l"/>
              <a:pathLst>
                <a:path h="1335151" w="9162288">
                  <a:moveTo>
                    <a:pt x="0" y="0"/>
                  </a:moveTo>
                  <a:lnTo>
                    <a:pt x="9162288" y="0"/>
                  </a:lnTo>
                  <a:lnTo>
                    <a:pt x="9162288" y="1335151"/>
                  </a:lnTo>
                  <a:lnTo>
                    <a:pt x="0" y="1335151"/>
                  </a:lnTo>
                  <a:close/>
                </a:path>
              </a:pathLst>
            </a:custGeom>
            <a:solidFill>
              <a:srgbClr val="1C2B4A"/>
            </a:solidFill>
            <a:ln w="14288" cap="sq">
              <a:solidFill>
                <a:srgbClr val="0B132B"/>
              </a:solidFill>
              <a:prstDash val="solid"/>
              <a:miter/>
            </a:ln>
          </p:spPr>
        </p:sp>
      </p:grpSp>
      <p:grpSp>
        <p:nvGrpSpPr>
          <p:cNvPr name="Group 115" id="115"/>
          <p:cNvGrpSpPr/>
          <p:nvPr/>
        </p:nvGrpSpPr>
        <p:grpSpPr>
          <a:xfrm rot="0">
            <a:off x="3840480" y="6967623"/>
            <a:ext cx="6583137" cy="987120"/>
            <a:chOff x="0" y="0"/>
            <a:chExt cx="8777516" cy="131616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8777520" cy="1316156"/>
            </a:xfrm>
            <a:custGeom>
              <a:avLst/>
              <a:gdLst/>
              <a:ahLst/>
              <a:cxnLst/>
              <a:rect r="r" b="b" t="t" l="l"/>
              <a:pathLst>
                <a:path h="1316156" w="8777520">
                  <a:moveTo>
                    <a:pt x="0" y="0"/>
                  </a:moveTo>
                  <a:lnTo>
                    <a:pt x="8777520" y="0"/>
                  </a:lnTo>
                  <a:lnTo>
                    <a:pt x="8777520" y="1316156"/>
                  </a:lnTo>
                  <a:lnTo>
                    <a:pt x="0" y="13161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46" r="0" b="-79947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57150"/>
              <a:ext cx="8777516" cy="1373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2099" spc="-2">
                  <a:solidFill>
                    <a:srgbClr val="E5E9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End-of-stage sequence begins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0554176" y="6960479"/>
            <a:ext cx="4265705" cy="1001411"/>
            <a:chOff x="0" y="0"/>
            <a:chExt cx="5687606" cy="1335214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5687568" cy="1335151"/>
            </a:xfrm>
            <a:custGeom>
              <a:avLst/>
              <a:gdLst/>
              <a:ahLst/>
              <a:cxnLst/>
              <a:rect r="r" b="b" t="t" l="l"/>
              <a:pathLst>
                <a:path h="1335151" w="5687568">
                  <a:moveTo>
                    <a:pt x="0" y="0"/>
                  </a:moveTo>
                  <a:lnTo>
                    <a:pt x="5687568" y="0"/>
                  </a:lnTo>
                  <a:lnTo>
                    <a:pt x="5687568" y="1335151"/>
                  </a:lnTo>
                  <a:lnTo>
                    <a:pt x="0" y="1335151"/>
                  </a:lnTo>
                  <a:close/>
                </a:path>
              </a:pathLst>
            </a:custGeom>
            <a:solidFill>
              <a:srgbClr val="1C2B4A"/>
            </a:solidFill>
            <a:ln w="14288" cap="sq">
              <a:solidFill>
                <a:srgbClr val="0B132B"/>
              </a:solidFill>
              <a:prstDash val="solid"/>
              <a:miter/>
            </a:ln>
          </p:spPr>
        </p:sp>
      </p:grpSp>
      <p:grpSp>
        <p:nvGrpSpPr>
          <p:cNvPr name="Group 120" id="120"/>
          <p:cNvGrpSpPr/>
          <p:nvPr/>
        </p:nvGrpSpPr>
        <p:grpSpPr>
          <a:xfrm rot="0">
            <a:off x="10698480" y="6967623"/>
            <a:ext cx="3977097" cy="987120"/>
            <a:chOff x="0" y="0"/>
            <a:chExt cx="5302796" cy="131616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5302800" cy="1316156"/>
            </a:xfrm>
            <a:custGeom>
              <a:avLst/>
              <a:gdLst/>
              <a:ahLst/>
              <a:cxnLst/>
              <a:rect r="r" b="b" t="t" l="l"/>
              <a:pathLst>
                <a:path h="1316156" w="5302800">
                  <a:moveTo>
                    <a:pt x="0" y="0"/>
                  </a:moveTo>
                  <a:lnTo>
                    <a:pt x="5302800" y="0"/>
                  </a:lnTo>
                  <a:lnTo>
                    <a:pt x="5302800" y="1316156"/>
                  </a:lnTo>
                  <a:lnTo>
                    <a:pt x="0" y="13161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04" r="0" b="-28505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57150"/>
              <a:ext cx="5302796" cy="1373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2099" spc="-2">
                  <a:solidFill>
                    <a:srgbClr val="E5E9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+80 (one-time)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4806136" y="6960479"/>
            <a:ext cx="2660828" cy="1001411"/>
            <a:chOff x="0" y="0"/>
            <a:chExt cx="3547770" cy="1335214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3547745" cy="1335151"/>
            </a:xfrm>
            <a:custGeom>
              <a:avLst/>
              <a:gdLst/>
              <a:ahLst/>
              <a:cxnLst/>
              <a:rect r="r" b="b" t="t" l="l"/>
              <a:pathLst>
                <a:path h="1335151" w="3547745">
                  <a:moveTo>
                    <a:pt x="0" y="0"/>
                  </a:moveTo>
                  <a:lnTo>
                    <a:pt x="3547745" y="0"/>
                  </a:lnTo>
                  <a:lnTo>
                    <a:pt x="3547745" y="1335151"/>
                  </a:lnTo>
                  <a:lnTo>
                    <a:pt x="0" y="1335151"/>
                  </a:lnTo>
                  <a:close/>
                </a:path>
              </a:pathLst>
            </a:custGeom>
            <a:solidFill>
              <a:srgbClr val="1C2B4A"/>
            </a:solidFill>
            <a:ln w="14288" cap="sq">
              <a:solidFill>
                <a:srgbClr val="0B132B"/>
              </a:solidFill>
              <a:prstDash val="solid"/>
              <a:miter/>
            </a:ln>
          </p:spPr>
        </p:sp>
      </p:grpSp>
      <p:grpSp>
        <p:nvGrpSpPr>
          <p:cNvPr name="Group 125" id="125"/>
          <p:cNvGrpSpPr/>
          <p:nvPr/>
        </p:nvGrpSpPr>
        <p:grpSpPr>
          <a:xfrm rot="0">
            <a:off x="14950440" y="6967623"/>
            <a:ext cx="2372220" cy="987120"/>
            <a:chOff x="0" y="0"/>
            <a:chExt cx="3162960" cy="131616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3162960" cy="1316156"/>
            </a:xfrm>
            <a:custGeom>
              <a:avLst/>
              <a:gdLst/>
              <a:ahLst/>
              <a:cxnLst/>
              <a:rect r="r" b="b" t="t" l="l"/>
              <a:pathLst>
                <a:path h="1316156" w="3162960">
                  <a:moveTo>
                    <a:pt x="0" y="0"/>
                  </a:moveTo>
                  <a:lnTo>
                    <a:pt x="3162960" y="0"/>
                  </a:lnTo>
                  <a:lnTo>
                    <a:pt x="3162960" y="1316156"/>
                  </a:lnTo>
                  <a:lnTo>
                    <a:pt x="0" y="13161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89" t="0" r="-3389" b="0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57150"/>
              <a:ext cx="3162960" cy="1373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2099" spc="-2">
                  <a:solidFill>
                    <a:srgbClr val="E5E9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+8 (one-time)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815816" y="7948136"/>
            <a:ext cx="2894105" cy="1001411"/>
            <a:chOff x="0" y="0"/>
            <a:chExt cx="3858806" cy="1335214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3858768" cy="1335151"/>
            </a:xfrm>
            <a:custGeom>
              <a:avLst/>
              <a:gdLst/>
              <a:ahLst/>
              <a:cxnLst/>
              <a:rect r="r" b="b" t="t" l="l"/>
              <a:pathLst>
                <a:path h="1335151" w="3858768">
                  <a:moveTo>
                    <a:pt x="0" y="0"/>
                  </a:moveTo>
                  <a:lnTo>
                    <a:pt x="3858768" y="0"/>
                  </a:lnTo>
                  <a:lnTo>
                    <a:pt x="3858768" y="1335151"/>
                  </a:lnTo>
                  <a:lnTo>
                    <a:pt x="0" y="1335151"/>
                  </a:lnTo>
                  <a:close/>
                </a:path>
              </a:pathLst>
            </a:custGeom>
            <a:solidFill>
              <a:srgbClr val="16213E"/>
            </a:solidFill>
            <a:ln w="14288" cap="sq">
              <a:solidFill>
                <a:srgbClr val="0B132B"/>
              </a:solidFill>
              <a:prstDash val="solid"/>
              <a:miter/>
            </a:ln>
          </p:spPr>
        </p:sp>
      </p:grpSp>
      <p:grpSp>
        <p:nvGrpSpPr>
          <p:cNvPr name="Group 130" id="130"/>
          <p:cNvGrpSpPr/>
          <p:nvPr/>
        </p:nvGrpSpPr>
        <p:grpSpPr>
          <a:xfrm rot="0">
            <a:off x="960120" y="7955280"/>
            <a:ext cx="2605497" cy="987120"/>
            <a:chOff x="0" y="0"/>
            <a:chExt cx="3473996" cy="1316160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3474000" cy="1316156"/>
            </a:xfrm>
            <a:custGeom>
              <a:avLst/>
              <a:gdLst/>
              <a:ahLst/>
              <a:cxnLst/>
              <a:rect r="r" b="b" t="t" l="l"/>
              <a:pathLst>
                <a:path h="1316156" w="3474000">
                  <a:moveTo>
                    <a:pt x="0" y="0"/>
                  </a:moveTo>
                  <a:lnTo>
                    <a:pt x="3474000" y="0"/>
                  </a:lnTo>
                  <a:lnTo>
                    <a:pt x="3474000" y="1316156"/>
                  </a:lnTo>
                  <a:lnTo>
                    <a:pt x="0" y="13161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0" r="0" b="-1431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57150"/>
              <a:ext cx="3473996" cy="1373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b="true" sz="2099" spc="-2">
                  <a:solidFill>
                    <a:srgbClr val="FFB70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Level advance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3696176" y="7948136"/>
            <a:ext cx="6871745" cy="1001411"/>
            <a:chOff x="0" y="0"/>
            <a:chExt cx="9162326" cy="1335214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9162288" cy="1335151"/>
            </a:xfrm>
            <a:custGeom>
              <a:avLst/>
              <a:gdLst/>
              <a:ahLst/>
              <a:cxnLst/>
              <a:rect r="r" b="b" t="t" l="l"/>
              <a:pathLst>
                <a:path h="1335151" w="9162288">
                  <a:moveTo>
                    <a:pt x="0" y="0"/>
                  </a:moveTo>
                  <a:lnTo>
                    <a:pt x="9162288" y="0"/>
                  </a:lnTo>
                  <a:lnTo>
                    <a:pt x="9162288" y="1335151"/>
                  </a:lnTo>
                  <a:lnTo>
                    <a:pt x="0" y="1335151"/>
                  </a:lnTo>
                  <a:close/>
                </a:path>
              </a:pathLst>
            </a:custGeom>
            <a:solidFill>
              <a:srgbClr val="16213E"/>
            </a:solidFill>
            <a:ln w="14288" cap="sq">
              <a:solidFill>
                <a:srgbClr val="0B132B"/>
              </a:solidFill>
              <a:prstDash val="solid"/>
              <a:miter/>
            </a:ln>
          </p:spPr>
        </p:sp>
      </p:grpSp>
      <p:grpSp>
        <p:nvGrpSpPr>
          <p:cNvPr name="Group 135" id="135"/>
          <p:cNvGrpSpPr/>
          <p:nvPr/>
        </p:nvGrpSpPr>
        <p:grpSpPr>
          <a:xfrm rot="0">
            <a:off x="3840480" y="7955280"/>
            <a:ext cx="6583137" cy="987120"/>
            <a:chOff x="0" y="0"/>
            <a:chExt cx="8777516" cy="131616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8777520" cy="1316156"/>
            </a:xfrm>
            <a:custGeom>
              <a:avLst/>
              <a:gdLst/>
              <a:ahLst/>
              <a:cxnLst/>
              <a:rect r="r" b="b" t="t" l="l"/>
              <a:pathLst>
                <a:path h="1316156" w="8777520">
                  <a:moveTo>
                    <a:pt x="0" y="0"/>
                  </a:moveTo>
                  <a:lnTo>
                    <a:pt x="8777520" y="0"/>
                  </a:lnTo>
                  <a:lnTo>
                    <a:pt x="8777520" y="1316156"/>
                  </a:lnTo>
                  <a:lnTo>
                    <a:pt x="0" y="13161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46" r="0" b="-79947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57150"/>
              <a:ext cx="8777516" cy="1373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2099" spc="-2">
                  <a:solidFill>
                    <a:srgbClr val="E5E9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Current level &gt; previous level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10554176" y="7948136"/>
            <a:ext cx="4265705" cy="1001411"/>
            <a:chOff x="0" y="0"/>
            <a:chExt cx="5687606" cy="1335214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5687568" cy="1335151"/>
            </a:xfrm>
            <a:custGeom>
              <a:avLst/>
              <a:gdLst/>
              <a:ahLst/>
              <a:cxnLst/>
              <a:rect r="r" b="b" t="t" l="l"/>
              <a:pathLst>
                <a:path h="1335151" w="5687568">
                  <a:moveTo>
                    <a:pt x="0" y="0"/>
                  </a:moveTo>
                  <a:lnTo>
                    <a:pt x="5687568" y="0"/>
                  </a:lnTo>
                  <a:lnTo>
                    <a:pt x="5687568" y="1335151"/>
                  </a:lnTo>
                  <a:lnTo>
                    <a:pt x="0" y="1335151"/>
                  </a:lnTo>
                  <a:close/>
                </a:path>
              </a:pathLst>
            </a:custGeom>
            <a:solidFill>
              <a:srgbClr val="16213E"/>
            </a:solidFill>
            <a:ln w="14288" cap="sq">
              <a:solidFill>
                <a:srgbClr val="0B132B"/>
              </a:solidFill>
              <a:prstDash val="solid"/>
              <a:miter/>
            </a:ln>
          </p:spPr>
        </p:sp>
      </p:grpSp>
      <p:grpSp>
        <p:nvGrpSpPr>
          <p:cNvPr name="Group 140" id="140"/>
          <p:cNvGrpSpPr/>
          <p:nvPr/>
        </p:nvGrpSpPr>
        <p:grpSpPr>
          <a:xfrm rot="0">
            <a:off x="10698480" y="7955280"/>
            <a:ext cx="3977097" cy="987120"/>
            <a:chOff x="0" y="0"/>
            <a:chExt cx="5302796" cy="131616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5302800" cy="1316156"/>
            </a:xfrm>
            <a:custGeom>
              <a:avLst/>
              <a:gdLst/>
              <a:ahLst/>
              <a:cxnLst/>
              <a:rect r="r" b="b" t="t" l="l"/>
              <a:pathLst>
                <a:path h="1316156" w="5302800">
                  <a:moveTo>
                    <a:pt x="0" y="0"/>
                  </a:moveTo>
                  <a:lnTo>
                    <a:pt x="5302800" y="0"/>
                  </a:lnTo>
                  <a:lnTo>
                    <a:pt x="5302800" y="1316156"/>
                  </a:lnTo>
                  <a:lnTo>
                    <a:pt x="0" y="13161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04" r="0" b="-28505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57150"/>
              <a:ext cx="5302796" cy="1373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2099" spc="-2">
                  <a:solidFill>
                    <a:srgbClr val="E5E9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+50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4806136" y="7948136"/>
            <a:ext cx="2660828" cy="1001411"/>
            <a:chOff x="0" y="0"/>
            <a:chExt cx="3547770" cy="1335214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3547745" cy="1335151"/>
            </a:xfrm>
            <a:custGeom>
              <a:avLst/>
              <a:gdLst/>
              <a:ahLst/>
              <a:cxnLst/>
              <a:rect r="r" b="b" t="t" l="l"/>
              <a:pathLst>
                <a:path h="1335151" w="3547745">
                  <a:moveTo>
                    <a:pt x="0" y="0"/>
                  </a:moveTo>
                  <a:lnTo>
                    <a:pt x="3547745" y="0"/>
                  </a:lnTo>
                  <a:lnTo>
                    <a:pt x="3547745" y="1335151"/>
                  </a:lnTo>
                  <a:lnTo>
                    <a:pt x="0" y="1335151"/>
                  </a:lnTo>
                  <a:close/>
                </a:path>
              </a:pathLst>
            </a:custGeom>
            <a:solidFill>
              <a:srgbClr val="16213E"/>
            </a:solidFill>
            <a:ln w="14288" cap="sq">
              <a:solidFill>
                <a:srgbClr val="0B132B"/>
              </a:solidFill>
              <a:prstDash val="solid"/>
              <a:miter/>
            </a:ln>
          </p:spPr>
        </p:sp>
      </p:grpSp>
      <p:grpSp>
        <p:nvGrpSpPr>
          <p:cNvPr name="Group 145" id="145"/>
          <p:cNvGrpSpPr/>
          <p:nvPr/>
        </p:nvGrpSpPr>
        <p:grpSpPr>
          <a:xfrm rot="0">
            <a:off x="14950440" y="7955280"/>
            <a:ext cx="2372220" cy="987120"/>
            <a:chOff x="0" y="0"/>
            <a:chExt cx="3162960" cy="131616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3162960" cy="1316156"/>
            </a:xfrm>
            <a:custGeom>
              <a:avLst/>
              <a:gdLst/>
              <a:ahLst/>
              <a:cxnLst/>
              <a:rect r="r" b="b" t="t" l="l"/>
              <a:pathLst>
                <a:path h="1316156" w="3162960">
                  <a:moveTo>
                    <a:pt x="0" y="0"/>
                  </a:moveTo>
                  <a:lnTo>
                    <a:pt x="3162960" y="0"/>
                  </a:lnTo>
                  <a:lnTo>
                    <a:pt x="3162960" y="1316156"/>
                  </a:lnTo>
                  <a:lnTo>
                    <a:pt x="0" y="13161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89" t="0" r="-3389" b="0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57150"/>
              <a:ext cx="3162960" cy="1373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2099" spc="-2">
                  <a:solidFill>
                    <a:srgbClr val="E5E9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+5</a:t>
              </a:r>
            </a:p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822960" y="9107643"/>
            <a:ext cx="16636860" cy="479520"/>
            <a:chOff x="0" y="0"/>
            <a:chExt cx="22182480" cy="63936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22182480" cy="639364"/>
            </a:xfrm>
            <a:custGeom>
              <a:avLst/>
              <a:gdLst/>
              <a:ahLst/>
              <a:cxnLst/>
              <a:rect r="r" b="b" t="t" l="l"/>
              <a:pathLst>
                <a:path h="639364" w="22182480">
                  <a:moveTo>
                    <a:pt x="0" y="0"/>
                  </a:moveTo>
                  <a:lnTo>
                    <a:pt x="22182480" y="0"/>
                  </a:lnTo>
                  <a:lnTo>
                    <a:pt x="22182480" y="639364"/>
                  </a:lnTo>
                  <a:lnTo>
                    <a:pt x="0" y="6393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6026" r="0" b="-626025"/>
              </a:stretch>
            </a:blipFill>
          </p:spPr>
        </p:sp>
        <p:sp>
          <p:nvSpPr>
            <p:cNvPr name="TextBox 150" id="150"/>
            <p:cNvSpPr txBox="true"/>
            <p:nvPr/>
          </p:nvSpPr>
          <p:spPr>
            <a:xfrm>
              <a:off x="0" y="-47625"/>
              <a:ext cx="22182480" cy="686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9"/>
                </a:lnSpc>
              </a:pPr>
              <a:r>
                <a:rPr lang="en-US" sz="2249" i="true" spc="-2">
                  <a:solidFill>
                    <a:srgbClr val="9AA6C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reward = (progress + score + dodge + boss + terminal + risk) / 10   —   returned to the Agent every step</a:t>
              </a:r>
            </a:p>
          </p:txBody>
        </p:sp>
      </p:grpSp>
      <p:grpSp>
        <p:nvGrpSpPr>
          <p:cNvPr name="Group 151" id="151"/>
          <p:cNvGrpSpPr/>
          <p:nvPr/>
        </p:nvGrpSpPr>
        <p:grpSpPr>
          <a:xfrm rot="0">
            <a:off x="685800" y="9710823"/>
            <a:ext cx="4114257" cy="410937"/>
            <a:chOff x="0" y="0"/>
            <a:chExt cx="5485676" cy="547916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5485680" cy="547920"/>
            </a:xfrm>
            <a:custGeom>
              <a:avLst/>
              <a:gdLst/>
              <a:ahLst/>
              <a:cxnLst/>
              <a:rect r="r" b="b" t="t" l="l"/>
              <a:pathLst>
                <a:path h="547920" w="5485680">
                  <a:moveTo>
                    <a:pt x="0" y="0"/>
                  </a:moveTo>
                  <a:lnTo>
                    <a:pt x="5485680" y="0"/>
                  </a:lnTo>
                  <a:lnTo>
                    <a:pt x="5485680" y="547920"/>
                  </a:lnTo>
                  <a:lnTo>
                    <a:pt x="0" y="547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5081" r="0" b="-145080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38100"/>
              <a:ext cx="5485676" cy="5860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Contra-PPO</a:t>
              </a: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16911723" y="9710823"/>
            <a:ext cx="822417" cy="410937"/>
            <a:chOff x="0" y="0"/>
            <a:chExt cx="1096556" cy="547916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1096560" cy="547920"/>
            </a:xfrm>
            <a:custGeom>
              <a:avLst/>
              <a:gdLst/>
              <a:ahLst/>
              <a:cxnLst/>
              <a:rect r="r" b="b" t="t" l="l"/>
              <a:pathLst>
                <a:path h="547920" w="1096560">
                  <a:moveTo>
                    <a:pt x="0" y="0"/>
                  </a:moveTo>
                  <a:lnTo>
                    <a:pt x="1096560" y="0"/>
                  </a:lnTo>
                  <a:lnTo>
                    <a:pt x="1096560" y="547920"/>
                  </a:lnTo>
                  <a:lnTo>
                    <a:pt x="0" y="547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09" t="0" r="-14109" b="0"/>
              </a:stretch>
            </a:blipFill>
          </p:spPr>
        </p:sp>
        <p:sp>
          <p:nvSpPr>
            <p:cNvPr name="TextBox 156" id="156"/>
            <p:cNvSpPr txBox="true"/>
            <p:nvPr/>
          </p:nvSpPr>
          <p:spPr>
            <a:xfrm>
              <a:off x="0" y="-38100"/>
              <a:ext cx="1096556" cy="5860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0972257" cy="410937"/>
            <a:chOff x="0" y="0"/>
            <a:chExt cx="14629676" cy="5479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29681" cy="547920"/>
            </a:xfrm>
            <a:custGeom>
              <a:avLst/>
              <a:gdLst/>
              <a:ahLst/>
              <a:cxnLst/>
              <a:rect r="r" b="b" t="t" l="l"/>
              <a:pathLst>
                <a:path h="547920" w="14629681">
                  <a:moveTo>
                    <a:pt x="0" y="0"/>
                  </a:moveTo>
                  <a:lnTo>
                    <a:pt x="14629681" y="0"/>
                  </a:lnTo>
                  <a:lnTo>
                    <a:pt x="14629681" y="547920"/>
                  </a:lnTo>
                  <a:lnTo>
                    <a:pt x="0" y="547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0258" r="0" b="-47025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29676" cy="5860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8">
                  <a:solidFill>
                    <a:srgbClr val="FFB70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REWARD DESIGN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15910017" cy="959577"/>
            <a:chOff x="0" y="0"/>
            <a:chExt cx="21213356" cy="12794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213359" cy="1279440"/>
            </a:xfrm>
            <a:custGeom>
              <a:avLst/>
              <a:gdLst/>
              <a:ahLst/>
              <a:cxnLst/>
              <a:rect r="r" b="b" t="t" l="l"/>
              <a:pathLst>
                <a:path h="1279440" w="21213359">
                  <a:moveTo>
                    <a:pt x="0" y="0"/>
                  </a:moveTo>
                  <a:lnTo>
                    <a:pt x="21213359" y="0"/>
                  </a:lnTo>
                  <a:lnTo>
                    <a:pt x="21213359" y="1279440"/>
                  </a:lnTo>
                  <a:lnTo>
                    <a:pt x="0" y="1279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065" r="0" b="-2730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213356" cy="1298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 spc="-1">
                  <a:solidFill>
                    <a:srgbClr val="E5E9F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Risk &amp; penalty: keeping unwanted behavior in check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390775"/>
            <a:ext cx="8110947" cy="2624547"/>
            <a:chOff x="0" y="0"/>
            <a:chExt cx="10814596" cy="34993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14558" cy="3499358"/>
            </a:xfrm>
            <a:custGeom>
              <a:avLst/>
              <a:gdLst/>
              <a:ahLst/>
              <a:cxnLst/>
              <a:rect r="r" b="b" t="t" l="l"/>
              <a:pathLst>
                <a:path h="3499358" w="10814558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10667238" y="0"/>
                  </a:lnTo>
                  <a:cubicBezTo>
                    <a:pt x="10748645" y="0"/>
                    <a:pt x="10814558" y="65913"/>
                    <a:pt x="10814558" y="147320"/>
                  </a:cubicBezTo>
                  <a:lnTo>
                    <a:pt x="10814558" y="3352038"/>
                  </a:lnTo>
                  <a:cubicBezTo>
                    <a:pt x="10814558" y="3433445"/>
                    <a:pt x="10748645" y="3499358"/>
                    <a:pt x="10667238" y="3499358"/>
                  </a:cubicBezTo>
                  <a:lnTo>
                    <a:pt x="147320" y="3499358"/>
                  </a:lnTo>
                  <a:cubicBezTo>
                    <a:pt x="65913" y="3499358"/>
                    <a:pt x="0" y="3433445"/>
                    <a:pt x="0" y="3352038"/>
                  </a:cubicBezTo>
                  <a:close/>
                </a:path>
              </a:pathLst>
            </a:custGeom>
            <a:solidFill>
              <a:srgbClr val="16213E"/>
            </a:solidFill>
            <a:ln w="19050" cap="sq">
              <a:solidFill>
                <a:srgbClr val="EF476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65860" y="2743200"/>
            <a:ext cx="1165317" cy="1165317"/>
            <a:chOff x="0" y="0"/>
            <a:chExt cx="1553756" cy="15537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53718" cy="1553718"/>
            </a:xfrm>
            <a:custGeom>
              <a:avLst/>
              <a:gdLst/>
              <a:ahLst/>
              <a:cxnLst/>
              <a:rect r="r" b="b" t="t" l="l"/>
              <a:pathLst>
                <a:path h="1553718" w="1553718">
                  <a:moveTo>
                    <a:pt x="0" y="776859"/>
                  </a:moveTo>
                  <a:cubicBezTo>
                    <a:pt x="0" y="347853"/>
                    <a:pt x="347853" y="0"/>
                    <a:pt x="776859" y="0"/>
                  </a:cubicBezTo>
                  <a:cubicBezTo>
                    <a:pt x="1205865" y="0"/>
                    <a:pt x="1553718" y="347853"/>
                    <a:pt x="1553718" y="776859"/>
                  </a:cubicBezTo>
                  <a:cubicBezTo>
                    <a:pt x="1553718" y="1205865"/>
                    <a:pt x="1205865" y="1553718"/>
                    <a:pt x="776859" y="1553718"/>
                  </a:cubicBezTo>
                  <a:cubicBezTo>
                    <a:pt x="347853" y="1553718"/>
                    <a:pt x="0" y="1205992"/>
                    <a:pt x="0" y="776859"/>
                  </a:cubicBez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45581" y="3022921"/>
            <a:ext cx="605876" cy="605876"/>
            <a:chOff x="0" y="0"/>
            <a:chExt cx="807834" cy="807834"/>
          </a:xfrm>
        </p:grpSpPr>
        <p:sp>
          <p:nvSpPr>
            <p:cNvPr name="Freeform 13" id="13" descr="/tmp/claude-1000/-media-hung-Work-Project-AI-Engineer-RL-contra-PPO/70c7dc7d-8f3f-4139-8f25-95b0e9e6dca5/scratchpad/build/icons/skull.png"/>
            <p:cNvSpPr/>
            <p:nvPr/>
          </p:nvSpPr>
          <p:spPr>
            <a:xfrm flipH="false" flipV="false" rot="0">
              <a:off x="0" y="0"/>
              <a:ext cx="807847" cy="807847"/>
            </a:xfrm>
            <a:custGeom>
              <a:avLst/>
              <a:gdLst/>
              <a:ahLst/>
              <a:cxnLst/>
              <a:rect r="r" b="b" t="t" l="l"/>
              <a:pathLst>
                <a:path h="807847" w="807847">
                  <a:moveTo>
                    <a:pt x="0" y="0"/>
                  </a:moveTo>
                  <a:lnTo>
                    <a:pt x="807847" y="0"/>
                  </a:lnTo>
                  <a:lnTo>
                    <a:pt x="807847" y="807847"/>
                  </a:lnTo>
                  <a:lnTo>
                    <a:pt x="0" y="8078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537460" y="2702157"/>
            <a:ext cx="6034497" cy="531925"/>
            <a:chOff x="0" y="0"/>
            <a:chExt cx="8045996" cy="7092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046000" cy="709237"/>
            </a:xfrm>
            <a:custGeom>
              <a:avLst/>
              <a:gdLst/>
              <a:ahLst/>
              <a:cxnLst/>
              <a:rect r="r" b="b" t="t" l="l"/>
              <a:pathLst>
                <a:path h="709237" w="8046000">
                  <a:moveTo>
                    <a:pt x="0" y="0"/>
                  </a:moveTo>
                  <a:lnTo>
                    <a:pt x="8046000" y="0"/>
                  </a:lnTo>
                  <a:lnTo>
                    <a:pt x="8046000" y="709237"/>
                  </a:lnTo>
                  <a:lnTo>
                    <a:pt x="0" y="7092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975" r="0" b="-16612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8045996" cy="7663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09"/>
                </a:lnSpc>
              </a:pPr>
              <a:r>
                <a:rPr lang="en-US" b="true" sz="2674" spc="-1">
                  <a:solidFill>
                    <a:srgbClr val="E5E9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Backward / wasted movement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537460" y="3195723"/>
            <a:ext cx="6034497" cy="1028160"/>
            <a:chOff x="0" y="0"/>
            <a:chExt cx="8045996" cy="13708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046000" cy="1370884"/>
            </a:xfrm>
            <a:custGeom>
              <a:avLst/>
              <a:gdLst/>
              <a:ahLst/>
              <a:cxnLst/>
              <a:rect r="r" b="b" t="t" l="l"/>
              <a:pathLst>
                <a:path h="1370884" w="8046000">
                  <a:moveTo>
                    <a:pt x="0" y="0"/>
                  </a:moveTo>
                  <a:lnTo>
                    <a:pt x="8046000" y="0"/>
                  </a:lnTo>
                  <a:lnTo>
                    <a:pt x="8046000" y="1370884"/>
                  </a:lnTo>
                  <a:lnTo>
                    <a:pt x="0" y="13708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361" r="0" b="-6436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8045996" cy="1437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8"/>
                </a:lnSpc>
              </a:pPr>
              <a:r>
                <a:rPr lang="en-US" sz="2074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progress formula goes negative when moving backward or not meeting the per-step threshold.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537460" y="4320540"/>
            <a:ext cx="6034497" cy="479520"/>
            <a:chOff x="0" y="0"/>
            <a:chExt cx="8045996" cy="6393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046000" cy="639364"/>
            </a:xfrm>
            <a:custGeom>
              <a:avLst/>
              <a:gdLst/>
              <a:ahLst/>
              <a:cxnLst/>
              <a:rect r="r" b="b" t="t" l="l"/>
              <a:pathLst>
                <a:path h="639364" w="8046000">
                  <a:moveTo>
                    <a:pt x="0" y="0"/>
                  </a:moveTo>
                  <a:lnTo>
                    <a:pt x="8046000" y="0"/>
                  </a:lnTo>
                  <a:lnTo>
                    <a:pt x="8046000" y="639364"/>
                  </a:lnTo>
                  <a:lnTo>
                    <a:pt x="0" y="6393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207" r="0" b="-19520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8045996" cy="677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9"/>
                </a:lnSpc>
              </a:pPr>
              <a:r>
                <a:rPr lang="en-US" sz="2074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raw: </a:t>
              </a:r>
              <a:r>
                <a:rPr lang="en-US" b="true" sz="2074" spc="-1">
                  <a:solidFill>
                    <a:srgbClr val="EF476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down to -4   </a:t>
              </a:r>
              <a:r>
                <a:rPr lang="en-US" sz="2074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</a:t>
              </a:r>
              <a:r>
                <a:rPr lang="en-US" b="true" sz="2074" spc="-1">
                  <a:solidFill>
                    <a:srgbClr val="EF476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down to -0.4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385935" y="2390775"/>
            <a:ext cx="8110947" cy="2624547"/>
            <a:chOff x="0" y="0"/>
            <a:chExt cx="10814596" cy="34993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814558" cy="3499358"/>
            </a:xfrm>
            <a:custGeom>
              <a:avLst/>
              <a:gdLst/>
              <a:ahLst/>
              <a:cxnLst/>
              <a:rect r="r" b="b" t="t" l="l"/>
              <a:pathLst>
                <a:path h="3499358" w="10814558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10667238" y="0"/>
                  </a:lnTo>
                  <a:cubicBezTo>
                    <a:pt x="10748645" y="0"/>
                    <a:pt x="10814558" y="65913"/>
                    <a:pt x="10814558" y="147320"/>
                  </a:cubicBezTo>
                  <a:lnTo>
                    <a:pt x="10814558" y="3352038"/>
                  </a:lnTo>
                  <a:cubicBezTo>
                    <a:pt x="10814558" y="3433445"/>
                    <a:pt x="10748645" y="3499358"/>
                    <a:pt x="10667238" y="3499358"/>
                  </a:cubicBezTo>
                  <a:lnTo>
                    <a:pt x="147320" y="3499358"/>
                  </a:lnTo>
                  <a:cubicBezTo>
                    <a:pt x="65913" y="3499358"/>
                    <a:pt x="0" y="3433445"/>
                    <a:pt x="0" y="3352038"/>
                  </a:cubicBezTo>
                  <a:close/>
                </a:path>
              </a:pathLst>
            </a:custGeom>
            <a:solidFill>
              <a:srgbClr val="16213E"/>
            </a:solidFill>
            <a:ln w="19050" cap="sq">
              <a:solidFill>
                <a:srgbClr val="EF476F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738360" y="2743200"/>
            <a:ext cx="1165317" cy="1165317"/>
            <a:chOff x="0" y="0"/>
            <a:chExt cx="1553756" cy="155375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553718" cy="1553718"/>
            </a:xfrm>
            <a:custGeom>
              <a:avLst/>
              <a:gdLst/>
              <a:ahLst/>
              <a:cxnLst/>
              <a:rect r="r" b="b" t="t" l="l"/>
              <a:pathLst>
                <a:path h="1553718" w="1553718">
                  <a:moveTo>
                    <a:pt x="0" y="776859"/>
                  </a:moveTo>
                  <a:cubicBezTo>
                    <a:pt x="0" y="347853"/>
                    <a:pt x="347853" y="0"/>
                    <a:pt x="776859" y="0"/>
                  </a:cubicBezTo>
                  <a:cubicBezTo>
                    <a:pt x="1205865" y="0"/>
                    <a:pt x="1553718" y="347853"/>
                    <a:pt x="1553718" y="776859"/>
                  </a:cubicBezTo>
                  <a:cubicBezTo>
                    <a:pt x="1553718" y="1205865"/>
                    <a:pt x="1205865" y="1553718"/>
                    <a:pt x="776859" y="1553718"/>
                  </a:cubicBezTo>
                  <a:cubicBezTo>
                    <a:pt x="347853" y="1553718"/>
                    <a:pt x="0" y="1205992"/>
                    <a:pt x="0" y="776859"/>
                  </a:cubicBez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018081" y="3022921"/>
            <a:ext cx="605876" cy="605876"/>
            <a:chOff x="0" y="0"/>
            <a:chExt cx="807834" cy="807834"/>
          </a:xfrm>
        </p:grpSpPr>
        <p:sp>
          <p:nvSpPr>
            <p:cNvPr name="Freeform 28" id="28" descr="/tmp/claude-1000/-media-hung-Work-Project-AI-Engineer-RL-contra-PPO/70c7dc7d-8f3f-4139-8f25-95b0e9e6dca5/scratchpad/build/icons/warning.png"/>
            <p:cNvSpPr/>
            <p:nvPr/>
          </p:nvSpPr>
          <p:spPr>
            <a:xfrm flipH="false" flipV="false" rot="0">
              <a:off x="0" y="0"/>
              <a:ext cx="807847" cy="807847"/>
            </a:xfrm>
            <a:custGeom>
              <a:avLst/>
              <a:gdLst/>
              <a:ahLst/>
              <a:cxnLst/>
              <a:rect r="r" b="b" t="t" l="l"/>
              <a:pathLst>
                <a:path h="807847" w="807847">
                  <a:moveTo>
                    <a:pt x="0" y="0"/>
                  </a:moveTo>
                  <a:lnTo>
                    <a:pt x="807847" y="0"/>
                  </a:lnTo>
                  <a:lnTo>
                    <a:pt x="807847" y="807847"/>
                  </a:lnTo>
                  <a:lnTo>
                    <a:pt x="0" y="8078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1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109960" y="2702157"/>
            <a:ext cx="6034497" cy="531925"/>
            <a:chOff x="0" y="0"/>
            <a:chExt cx="8045996" cy="70923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046000" cy="709237"/>
            </a:xfrm>
            <a:custGeom>
              <a:avLst/>
              <a:gdLst/>
              <a:ahLst/>
              <a:cxnLst/>
              <a:rect r="r" b="b" t="t" l="l"/>
              <a:pathLst>
                <a:path h="709237" w="8046000">
                  <a:moveTo>
                    <a:pt x="0" y="0"/>
                  </a:moveTo>
                  <a:lnTo>
                    <a:pt x="8046000" y="0"/>
                  </a:lnTo>
                  <a:lnTo>
                    <a:pt x="8046000" y="709237"/>
                  </a:lnTo>
                  <a:lnTo>
                    <a:pt x="0" y="7092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975" r="0" b="-16612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8045996" cy="7663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09"/>
                </a:lnSpc>
              </a:pPr>
              <a:r>
                <a:rPr lang="en-US" b="true" sz="2674" spc="-1">
                  <a:solidFill>
                    <a:srgbClr val="E5E9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Death / life lost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109960" y="3195723"/>
            <a:ext cx="6034497" cy="1028160"/>
            <a:chOff x="0" y="0"/>
            <a:chExt cx="8045996" cy="13708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046000" cy="1370884"/>
            </a:xfrm>
            <a:custGeom>
              <a:avLst/>
              <a:gdLst/>
              <a:ahLst/>
              <a:cxnLst/>
              <a:rect r="r" b="b" t="t" l="l"/>
              <a:pathLst>
                <a:path h="1370884" w="8046000">
                  <a:moveTo>
                    <a:pt x="0" y="0"/>
                  </a:moveTo>
                  <a:lnTo>
                    <a:pt x="8046000" y="0"/>
                  </a:lnTo>
                  <a:lnTo>
                    <a:pt x="8046000" y="1370884"/>
                  </a:lnTo>
                  <a:lnTo>
                    <a:pt x="0" y="13708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361" r="0" b="-6436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8045996" cy="1437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8"/>
                </a:lnSpc>
              </a:pPr>
              <a:r>
                <a:rPr lang="en-US" sz="2074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Life count drops compared to the previous step — no separate penalty for taking non-lethal damage.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109960" y="4320540"/>
            <a:ext cx="6034497" cy="479520"/>
            <a:chOff x="0" y="0"/>
            <a:chExt cx="8045996" cy="6393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046000" cy="639364"/>
            </a:xfrm>
            <a:custGeom>
              <a:avLst/>
              <a:gdLst/>
              <a:ahLst/>
              <a:cxnLst/>
              <a:rect r="r" b="b" t="t" l="l"/>
              <a:pathLst>
                <a:path h="639364" w="8046000">
                  <a:moveTo>
                    <a:pt x="0" y="0"/>
                  </a:moveTo>
                  <a:lnTo>
                    <a:pt x="8046000" y="0"/>
                  </a:lnTo>
                  <a:lnTo>
                    <a:pt x="8046000" y="639364"/>
                  </a:lnTo>
                  <a:lnTo>
                    <a:pt x="0" y="6393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207" r="0" b="-19520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8045996" cy="677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9"/>
                </a:lnSpc>
              </a:pPr>
              <a:r>
                <a:rPr lang="en-US" sz="2074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raw: </a:t>
              </a:r>
              <a:r>
                <a:rPr lang="en-US" b="true" sz="2074" spc="-1">
                  <a:solidFill>
                    <a:srgbClr val="EF476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-15   </a:t>
              </a:r>
              <a:r>
                <a:rPr lang="en-US" sz="2074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</a:t>
              </a:r>
              <a:r>
                <a:rPr lang="en-US" b="true" sz="2074" spc="-1">
                  <a:solidFill>
                    <a:srgbClr val="EF476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-1.5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13435" y="5339715"/>
            <a:ext cx="8110947" cy="2624547"/>
            <a:chOff x="0" y="0"/>
            <a:chExt cx="10814596" cy="349939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814558" cy="3499358"/>
            </a:xfrm>
            <a:custGeom>
              <a:avLst/>
              <a:gdLst/>
              <a:ahLst/>
              <a:cxnLst/>
              <a:rect r="r" b="b" t="t" l="l"/>
              <a:pathLst>
                <a:path h="3499358" w="10814558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10667238" y="0"/>
                  </a:lnTo>
                  <a:cubicBezTo>
                    <a:pt x="10748645" y="0"/>
                    <a:pt x="10814558" y="65913"/>
                    <a:pt x="10814558" y="147320"/>
                  </a:cubicBezTo>
                  <a:lnTo>
                    <a:pt x="10814558" y="3352038"/>
                  </a:lnTo>
                  <a:cubicBezTo>
                    <a:pt x="10814558" y="3433445"/>
                    <a:pt x="10748645" y="3499358"/>
                    <a:pt x="10667238" y="3499358"/>
                  </a:cubicBezTo>
                  <a:lnTo>
                    <a:pt x="147320" y="3499358"/>
                  </a:lnTo>
                  <a:cubicBezTo>
                    <a:pt x="65913" y="3499358"/>
                    <a:pt x="0" y="3433445"/>
                    <a:pt x="0" y="3352038"/>
                  </a:cubicBezTo>
                  <a:close/>
                </a:path>
              </a:pathLst>
            </a:custGeom>
            <a:solidFill>
              <a:srgbClr val="16213E"/>
            </a:solidFill>
            <a:ln w="19050" cap="sq">
              <a:solidFill>
                <a:srgbClr val="EF476F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165860" y="5692140"/>
            <a:ext cx="1165317" cy="1165317"/>
            <a:chOff x="0" y="0"/>
            <a:chExt cx="1553756" cy="15537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553718" cy="1553718"/>
            </a:xfrm>
            <a:custGeom>
              <a:avLst/>
              <a:gdLst/>
              <a:ahLst/>
              <a:cxnLst/>
              <a:rect r="r" b="b" t="t" l="l"/>
              <a:pathLst>
                <a:path h="1553718" w="1553718">
                  <a:moveTo>
                    <a:pt x="0" y="776859"/>
                  </a:moveTo>
                  <a:cubicBezTo>
                    <a:pt x="0" y="347853"/>
                    <a:pt x="347853" y="0"/>
                    <a:pt x="776859" y="0"/>
                  </a:cubicBezTo>
                  <a:cubicBezTo>
                    <a:pt x="1205865" y="0"/>
                    <a:pt x="1553718" y="347853"/>
                    <a:pt x="1553718" y="776859"/>
                  </a:cubicBezTo>
                  <a:cubicBezTo>
                    <a:pt x="1553718" y="1205865"/>
                    <a:pt x="1205865" y="1553718"/>
                    <a:pt x="776859" y="1553718"/>
                  </a:cubicBezTo>
                  <a:cubicBezTo>
                    <a:pt x="347853" y="1553718"/>
                    <a:pt x="0" y="1205992"/>
                    <a:pt x="0" y="776859"/>
                  </a:cubicBez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445581" y="5971861"/>
            <a:ext cx="605876" cy="605876"/>
            <a:chOff x="0" y="0"/>
            <a:chExt cx="807834" cy="807834"/>
          </a:xfrm>
        </p:grpSpPr>
        <p:sp>
          <p:nvSpPr>
            <p:cNvPr name="Freeform 43" id="43" descr="/tmp/claude-1000/-media-hung-Work-Project-AI-Engineer-RL-contra-PPO/70c7dc7d-8f3f-4139-8f25-95b0e9e6dca5/scratchpad/build/icons/bolt.png"/>
            <p:cNvSpPr/>
            <p:nvPr/>
          </p:nvSpPr>
          <p:spPr>
            <a:xfrm flipH="false" flipV="false" rot="0">
              <a:off x="0" y="0"/>
              <a:ext cx="807847" cy="807847"/>
            </a:xfrm>
            <a:custGeom>
              <a:avLst/>
              <a:gdLst/>
              <a:ahLst/>
              <a:cxnLst/>
              <a:rect r="r" b="b" t="t" l="l"/>
              <a:pathLst>
                <a:path h="807847" w="807847">
                  <a:moveTo>
                    <a:pt x="0" y="0"/>
                  </a:moveTo>
                  <a:lnTo>
                    <a:pt x="807847" y="0"/>
                  </a:lnTo>
                  <a:lnTo>
                    <a:pt x="807847" y="807847"/>
                  </a:lnTo>
                  <a:lnTo>
                    <a:pt x="0" y="8078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2537460" y="5651097"/>
            <a:ext cx="6034497" cy="531925"/>
            <a:chOff x="0" y="0"/>
            <a:chExt cx="8045996" cy="70923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046000" cy="709237"/>
            </a:xfrm>
            <a:custGeom>
              <a:avLst/>
              <a:gdLst/>
              <a:ahLst/>
              <a:cxnLst/>
              <a:rect r="r" b="b" t="t" l="l"/>
              <a:pathLst>
                <a:path h="709237" w="8046000">
                  <a:moveTo>
                    <a:pt x="0" y="0"/>
                  </a:moveTo>
                  <a:lnTo>
                    <a:pt x="8046000" y="0"/>
                  </a:lnTo>
                  <a:lnTo>
                    <a:pt x="8046000" y="709237"/>
                  </a:lnTo>
                  <a:lnTo>
                    <a:pt x="0" y="7092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975" r="0" b="-16612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8045996" cy="7663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09"/>
                </a:lnSpc>
              </a:pPr>
              <a:r>
                <a:rPr lang="en-US" b="true" sz="2674" spc="-1">
                  <a:solidFill>
                    <a:srgbClr val="E5E9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Stagnation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537460" y="6144663"/>
            <a:ext cx="6034497" cy="1099373"/>
            <a:chOff x="0" y="0"/>
            <a:chExt cx="8045996" cy="146583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046000" cy="1465834"/>
            </a:xfrm>
            <a:custGeom>
              <a:avLst/>
              <a:gdLst/>
              <a:ahLst/>
              <a:cxnLst/>
              <a:rect r="r" b="b" t="t" l="l"/>
              <a:pathLst>
                <a:path h="1465834" w="8046000">
                  <a:moveTo>
                    <a:pt x="0" y="0"/>
                  </a:moveTo>
                  <a:lnTo>
                    <a:pt x="8046000" y="0"/>
                  </a:lnTo>
                  <a:lnTo>
                    <a:pt x="8046000" y="1465834"/>
                  </a:lnTo>
                  <a:lnTo>
                    <a:pt x="0" y="14658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192" r="0" b="-5371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66675"/>
              <a:ext cx="8045996" cy="1532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8"/>
                </a:lnSpc>
              </a:pPr>
              <a:r>
                <a:rPr lang="en-US" sz="2074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Standing still &gt; 90 steps outside the boss phase; the penalty grows progressively, disabled during the boss phase.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537460" y="7269480"/>
            <a:ext cx="6034497" cy="479520"/>
            <a:chOff x="0" y="0"/>
            <a:chExt cx="8045996" cy="6393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046000" cy="639364"/>
            </a:xfrm>
            <a:custGeom>
              <a:avLst/>
              <a:gdLst/>
              <a:ahLst/>
              <a:cxnLst/>
              <a:rect r="r" b="b" t="t" l="l"/>
              <a:pathLst>
                <a:path h="639364" w="8046000">
                  <a:moveTo>
                    <a:pt x="0" y="0"/>
                  </a:moveTo>
                  <a:lnTo>
                    <a:pt x="8046000" y="0"/>
                  </a:lnTo>
                  <a:lnTo>
                    <a:pt x="8046000" y="639364"/>
                  </a:lnTo>
                  <a:lnTo>
                    <a:pt x="0" y="6393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207" r="0" b="-19520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8045996" cy="677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9"/>
                </a:lnSpc>
              </a:pPr>
              <a:r>
                <a:rPr lang="en-US" sz="2074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raw: </a:t>
              </a:r>
              <a:r>
                <a:rPr lang="en-US" b="true" sz="2074" spc="-1">
                  <a:solidFill>
                    <a:srgbClr val="EF476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~ -0.017 → -2   </a:t>
              </a:r>
              <a:r>
                <a:rPr lang="en-US" sz="2074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</a:t>
              </a:r>
              <a:r>
                <a:rPr lang="en-US" b="true" sz="2074" spc="-1">
                  <a:solidFill>
                    <a:srgbClr val="EF476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~ -0.0017 → -0.2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385935" y="5339715"/>
            <a:ext cx="8110947" cy="2624547"/>
            <a:chOff x="0" y="0"/>
            <a:chExt cx="10814596" cy="349939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814558" cy="3499358"/>
            </a:xfrm>
            <a:custGeom>
              <a:avLst/>
              <a:gdLst/>
              <a:ahLst/>
              <a:cxnLst/>
              <a:rect r="r" b="b" t="t" l="l"/>
              <a:pathLst>
                <a:path h="3499358" w="10814558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10667238" y="0"/>
                  </a:lnTo>
                  <a:cubicBezTo>
                    <a:pt x="10748645" y="0"/>
                    <a:pt x="10814558" y="65913"/>
                    <a:pt x="10814558" y="147320"/>
                  </a:cubicBezTo>
                  <a:lnTo>
                    <a:pt x="10814558" y="3352038"/>
                  </a:lnTo>
                  <a:cubicBezTo>
                    <a:pt x="10814558" y="3433445"/>
                    <a:pt x="10748645" y="3499358"/>
                    <a:pt x="10667238" y="3499358"/>
                  </a:cubicBezTo>
                  <a:lnTo>
                    <a:pt x="147320" y="3499358"/>
                  </a:lnTo>
                  <a:cubicBezTo>
                    <a:pt x="65913" y="3499358"/>
                    <a:pt x="0" y="3433445"/>
                    <a:pt x="0" y="3352038"/>
                  </a:cubicBezTo>
                  <a:close/>
                </a:path>
              </a:pathLst>
            </a:custGeom>
            <a:solidFill>
              <a:srgbClr val="16213E"/>
            </a:solidFill>
            <a:ln w="19050" cap="sq">
              <a:solidFill>
                <a:srgbClr val="EF476F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9738360" y="5692140"/>
            <a:ext cx="1165317" cy="1165317"/>
            <a:chOff x="0" y="0"/>
            <a:chExt cx="1553756" cy="155375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553718" cy="1553718"/>
            </a:xfrm>
            <a:custGeom>
              <a:avLst/>
              <a:gdLst/>
              <a:ahLst/>
              <a:cxnLst/>
              <a:rect r="r" b="b" t="t" l="l"/>
              <a:pathLst>
                <a:path h="1553718" w="1553718">
                  <a:moveTo>
                    <a:pt x="0" y="776859"/>
                  </a:moveTo>
                  <a:cubicBezTo>
                    <a:pt x="0" y="347853"/>
                    <a:pt x="347853" y="0"/>
                    <a:pt x="776859" y="0"/>
                  </a:cubicBezTo>
                  <a:cubicBezTo>
                    <a:pt x="1205865" y="0"/>
                    <a:pt x="1553718" y="347853"/>
                    <a:pt x="1553718" y="776859"/>
                  </a:cubicBezTo>
                  <a:cubicBezTo>
                    <a:pt x="1553718" y="1205865"/>
                    <a:pt x="1205865" y="1553718"/>
                    <a:pt x="776859" y="1553718"/>
                  </a:cubicBezTo>
                  <a:cubicBezTo>
                    <a:pt x="347853" y="1553718"/>
                    <a:pt x="0" y="1205992"/>
                    <a:pt x="0" y="776859"/>
                  </a:cubicBez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0018081" y="5971861"/>
            <a:ext cx="605876" cy="605876"/>
            <a:chOff x="0" y="0"/>
            <a:chExt cx="807834" cy="807834"/>
          </a:xfrm>
        </p:grpSpPr>
        <p:sp>
          <p:nvSpPr>
            <p:cNvPr name="Freeform 58" id="58" descr="/tmp/claude-1000/-media-hung-Work-Project-AI-Engineer-RL-contra-PPO/70c7dc7d-8f3f-4139-8f25-95b0e9e6dca5/scratchpad/build/icons/skull.png"/>
            <p:cNvSpPr/>
            <p:nvPr/>
          </p:nvSpPr>
          <p:spPr>
            <a:xfrm flipH="false" flipV="false" rot="0">
              <a:off x="0" y="0"/>
              <a:ext cx="807847" cy="807847"/>
            </a:xfrm>
            <a:custGeom>
              <a:avLst/>
              <a:gdLst/>
              <a:ahLst/>
              <a:cxnLst/>
              <a:rect r="r" b="b" t="t" l="l"/>
              <a:pathLst>
                <a:path h="807847" w="807847">
                  <a:moveTo>
                    <a:pt x="0" y="0"/>
                  </a:moveTo>
                  <a:lnTo>
                    <a:pt x="807847" y="0"/>
                  </a:lnTo>
                  <a:lnTo>
                    <a:pt x="807847" y="807847"/>
                  </a:lnTo>
                  <a:lnTo>
                    <a:pt x="0" y="8078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1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1109960" y="5651097"/>
            <a:ext cx="6034497" cy="531925"/>
            <a:chOff x="0" y="0"/>
            <a:chExt cx="8045996" cy="70923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046000" cy="709237"/>
            </a:xfrm>
            <a:custGeom>
              <a:avLst/>
              <a:gdLst/>
              <a:ahLst/>
              <a:cxnLst/>
              <a:rect r="r" b="b" t="t" l="l"/>
              <a:pathLst>
                <a:path h="709237" w="8046000">
                  <a:moveTo>
                    <a:pt x="0" y="0"/>
                  </a:moveTo>
                  <a:lnTo>
                    <a:pt x="8046000" y="0"/>
                  </a:lnTo>
                  <a:lnTo>
                    <a:pt x="8046000" y="709237"/>
                  </a:lnTo>
                  <a:lnTo>
                    <a:pt x="0" y="7092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975" r="0" b="-166122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8045996" cy="7663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09"/>
                </a:lnSpc>
              </a:pPr>
              <a:r>
                <a:rPr lang="en-US" b="true" sz="2674" spc="-1">
                  <a:solidFill>
                    <a:srgbClr val="E5E9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Game over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109960" y="6144663"/>
            <a:ext cx="6034497" cy="1028160"/>
            <a:chOff x="0" y="0"/>
            <a:chExt cx="8045996" cy="13708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046000" cy="1370884"/>
            </a:xfrm>
            <a:custGeom>
              <a:avLst/>
              <a:gdLst/>
              <a:ahLst/>
              <a:cxnLst/>
              <a:rect r="r" b="b" t="t" l="l"/>
              <a:pathLst>
                <a:path h="1370884" w="8046000">
                  <a:moveTo>
                    <a:pt x="0" y="0"/>
                  </a:moveTo>
                  <a:lnTo>
                    <a:pt x="8046000" y="0"/>
                  </a:lnTo>
                  <a:lnTo>
                    <a:pt x="8046000" y="1370884"/>
                  </a:lnTo>
                  <a:lnTo>
                    <a:pt x="0" y="13708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361" r="0" b="-6436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66675"/>
              <a:ext cx="8045996" cy="1437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8"/>
                </a:lnSpc>
              </a:pPr>
              <a:r>
                <a:rPr lang="en-US" sz="2074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game-over RAM flag is set — final failure penalty.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1109960" y="7269480"/>
            <a:ext cx="6034497" cy="479520"/>
            <a:chOff x="0" y="0"/>
            <a:chExt cx="8045996" cy="6393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046000" cy="639364"/>
            </a:xfrm>
            <a:custGeom>
              <a:avLst/>
              <a:gdLst/>
              <a:ahLst/>
              <a:cxnLst/>
              <a:rect r="r" b="b" t="t" l="l"/>
              <a:pathLst>
                <a:path h="639364" w="8046000">
                  <a:moveTo>
                    <a:pt x="0" y="0"/>
                  </a:moveTo>
                  <a:lnTo>
                    <a:pt x="8046000" y="0"/>
                  </a:lnTo>
                  <a:lnTo>
                    <a:pt x="8046000" y="639364"/>
                  </a:lnTo>
                  <a:lnTo>
                    <a:pt x="0" y="6393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207" r="0" b="-19520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8045996" cy="677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9"/>
                </a:lnSpc>
              </a:pPr>
              <a:r>
                <a:rPr lang="en-US" sz="2074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raw: </a:t>
              </a:r>
              <a:r>
                <a:rPr lang="en-US" b="true" sz="2074" spc="-1">
                  <a:solidFill>
                    <a:srgbClr val="EF476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-35   </a:t>
              </a:r>
              <a:r>
                <a:rPr lang="en-US" sz="2074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</a:t>
              </a:r>
              <a:r>
                <a:rPr lang="en-US" b="true" sz="2074" spc="-1">
                  <a:solidFill>
                    <a:srgbClr val="EF476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-3.5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822960" y="8435340"/>
            <a:ext cx="16636860" cy="479520"/>
            <a:chOff x="0" y="0"/>
            <a:chExt cx="22182480" cy="63936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2182480" cy="639364"/>
            </a:xfrm>
            <a:custGeom>
              <a:avLst/>
              <a:gdLst/>
              <a:ahLst/>
              <a:cxnLst/>
              <a:rect r="r" b="b" t="t" l="l"/>
              <a:pathLst>
                <a:path h="639364" w="22182480">
                  <a:moveTo>
                    <a:pt x="0" y="0"/>
                  </a:moveTo>
                  <a:lnTo>
                    <a:pt x="22182480" y="0"/>
                  </a:lnTo>
                  <a:lnTo>
                    <a:pt x="22182480" y="639364"/>
                  </a:lnTo>
                  <a:lnTo>
                    <a:pt x="0" y="6393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6026" r="0" b="-626025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22182480" cy="677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sz="2149" i="true" spc="-1">
                  <a:solidFill>
                    <a:srgbClr val="9AA6C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An episode ends on game over OR when the Stage 1 boss-completion state is reached (win).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85800" y="9710823"/>
            <a:ext cx="4114257" cy="410937"/>
            <a:chOff x="0" y="0"/>
            <a:chExt cx="5485676" cy="54791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485680" cy="547920"/>
            </a:xfrm>
            <a:custGeom>
              <a:avLst/>
              <a:gdLst/>
              <a:ahLst/>
              <a:cxnLst/>
              <a:rect r="r" b="b" t="t" l="l"/>
              <a:pathLst>
                <a:path h="547920" w="5485680">
                  <a:moveTo>
                    <a:pt x="0" y="0"/>
                  </a:moveTo>
                  <a:lnTo>
                    <a:pt x="5485680" y="0"/>
                  </a:lnTo>
                  <a:lnTo>
                    <a:pt x="5485680" y="547920"/>
                  </a:lnTo>
                  <a:lnTo>
                    <a:pt x="0" y="547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5081" r="0" b="-14508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5485676" cy="5860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Contra-PPO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6911723" y="9710823"/>
            <a:ext cx="822417" cy="410937"/>
            <a:chOff x="0" y="0"/>
            <a:chExt cx="1096556" cy="54791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96560" cy="547920"/>
            </a:xfrm>
            <a:custGeom>
              <a:avLst/>
              <a:gdLst/>
              <a:ahLst/>
              <a:cxnLst/>
              <a:rect r="r" b="b" t="t" l="l"/>
              <a:pathLst>
                <a:path h="547920" w="1096560">
                  <a:moveTo>
                    <a:pt x="0" y="0"/>
                  </a:moveTo>
                  <a:lnTo>
                    <a:pt x="1096560" y="0"/>
                  </a:lnTo>
                  <a:lnTo>
                    <a:pt x="1096560" y="547920"/>
                  </a:lnTo>
                  <a:lnTo>
                    <a:pt x="0" y="547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09" t="0" r="-14109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096556" cy="5860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0972257" cy="410937"/>
            <a:chOff x="0" y="0"/>
            <a:chExt cx="14629676" cy="5479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29681" cy="547920"/>
            </a:xfrm>
            <a:custGeom>
              <a:avLst/>
              <a:gdLst/>
              <a:ahLst/>
              <a:cxnLst/>
              <a:rect r="r" b="b" t="t" l="l"/>
              <a:pathLst>
                <a:path h="547920" w="14629681">
                  <a:moveTo>
                    <a:pt x="0" y="0"/>
                  </a:moveTo>
                  <a:lnTo>
                    <a:pt x="14629681" y="0"/>
                  </a:lnTo>
                  <a:lnTo>
                    <a:pt x="14629681" y="547920"/>
                  </a:lnTo>
                  <a:lnTo>
                    <a:pt x="0" y="547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0258" r="0" b="-47025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29676" cy="5860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8">
                  <a:solidFill>
                    <a:srgbClr val="FFB70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TRAINING CONFIGURATION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850497"/>
            <a:ext cx="15910017" cy="959577"/>
            <a:chOff x="0" y="0"/>
            <a:chExt cx="21213356" cy="12794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213359" cy="1279440"/>
            </a:xfrm>
            <a:custGeom>
              <a:avLst/>
              <a:gdLst/>
              <a:ahLst/>
              <a:cxnLst/>
              <a:rect r="r" b="b" t="t" l="l"/>
              <a:pathLst>
                <a:path h="1279440" w="21213359">
                  <a:moveTo>
                    <a:pt x="0" y="0"/>
                  </a:moveTo>
                  <a:lnTo>
                    <a:pt x="21213359" y="0"/>
                  </a:lnTo>
                  <a:lnTo>
                    <a:pt x="21213359" y="1279440"/>
                  </a:lnTo>
                  <a:lnTo>
                    <a:pt x="0" y="1279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065" r="0" b="-2730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213356" cy="1298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 spc="-1">
                  <a:solidFill>
                    <a:srgbClr val="E5E9F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PPO Hyperparameters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8198" y="2532698"/>
            <a:ext cx="4535262" cy="639709"/>
            <a:chOff x="0" y="0"/>
            <a:chExt cx="6047016" cy="8529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46978" cy="852932"/>
            </a:xfrm>
            <a:custGeom>
              <a:avLst/>
              <a:gdLst/>
              <a:ahLst/>
              <a:cxnLst/>
              <a:rect r="r" b="b" t="t" l="l"/>
              <a:pathLst>
                <a:path h="852932" w="6046978">
                  <a:moveTo>
                    <a:pt x="0" y="0"/>
                  </a:moveTo>
                  <a:lnTo>
                    <a:pt x="6046978" y="0"/>
                  </a:lnTo>
                  <a:lnTo>
                    <a:pt x="6046978" y="852932"/>
                  </a:lnTo>
                  <a:lnTo>
                    <a:pt x="0" y="852932"/>
                  </a:lnTo>
                  <a:close/>
                </a:path>
              </a:pathLst>
            </a:custGeom>
            <a:solidFill>
              <a:srgbClr val="1C2B4A"/>
            </a:solidFill>
            <a:ln w="9525" cap="sq">
              <a:solidFill>
                <a:srgbClr val="0B132B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5344478" y="2532698"/>
            <a:ext cx="3712302" cy="639709"/>
            <a:chOff x="0" y="0"/>
            <a:chExt cx="4949736" cy="85294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49698" cy="852932"/>
            </a:xfrm>
            <a:custGeom>
              <a:avLst/>
              <a:gdLst/>
              <a:ahLst/>
              <a:cxnLst/>
              <a:rect r="r" b="b" t="t" l="l"/>
              <a:pathLst>
                <a:path h="852932" w="4949698">
                  <a:moveTo>
                    <a:pt x="0" y="0"/>
                  </a:moveTo>
                  <a:lnTo>
                    <a:pt x="4949698" y="0"/>
                  </a:lnTo>
                  <a:lnTo>
                    <a:pt x="4949698" y="852932"/>
                  </a:lnTo>
                  <a:lnTo>
                    <a:pt x="0" y="852932"/>
                  </a:lnTo>
                  <a:close/>
                </a:path>
              </a:pathLst>
            </a:custGeom>
            <a:solidFill>
              <a:srgbClr val="1C2B4A"/>
            </a:solidFill>
            <a:ln w="9525" cap="sq">
              <a:solidFill>
                <a:srgbClr val="0B132B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28700" y="2537460"/>
            <a:ext cx="4251417" cy="630180"/>
            <a:chOff x="0" y="0"/>
            <a:chExt cx="5668556" cy="8402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68560" cy="840235"/>
            </a:xfrm>
            <a:custGeom>
              <a:avLst/>
              <a:gdLst/>
              <a:ahLst/>
              <a:cxnLst/>
              <a:rect r="r" b="b" t="t" l="l"/>
              <a:pathLst>
                <a:path h="840235" w="5668560">
                  <a:moveTo>
                    <a:pt x="0" y="0"/>
                  </a:moveTo>
                  <a:lnTo>
                    <a:pt x="5668560" y="0"/>
                  </a:lnTo>
                  <a:lnTo>
                    <a:pt x="5668560" y="840235"/>
                  </a:lnTo>
                  <a:lnTo>
                    <a:pt x="0" y="8402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453" r="0" b="-8145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5668556" cy="88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Algorithm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554980" y="2537460"/>
            <a:ext cx="3428457" cy="630180"/>
            <a:chOff x="0" y="0"/>
            <a:chExt cx="4571276" cy="8402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571280" cy="840235"/>
            </a:xfrm>
            <a:custGeom>
              <a:avLst/>
              <a:gdLst/>
              <a:ahLst/>
              <a:cxnLst/>
              <a:rect r="r" b="b" t="t" l="l"/>
              <a:pathLst>
                <a:path h="840235" w="4571280">
                  <a:moveTo>
                    <a:pt x="0" y="0"/>
                  </a:moveTo>
                  <a:lnTo>
                    <a:pt x="4571280" y="0"/>
                  </a:lnTo>
                  <a:lnTo>
                    <a:pt x="4571280" y="840235"/>
                  </a:lnTo>
                  <a:lnTo>
                    <a:pt x="0" y="8402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007" r="0" b="-5600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4571276" cy="88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lang="en-US" b="true" sz="2174" spc="-1">
                  <a:solidFill>
                    <a:srgbClr val="FFB70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PPO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18198" y="3163414"/>
            <a:ext cx="4535262" cy="639709"/>
            <a:chOff x="0" y="0"/>
            <a:chExt cx="6047016" cy="85294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046978" cy="852932"/>
            </a:xfrm>
            <a:custGeom>
              <a:avLst/>
              <a:gdLst/>
              <a:ahLst/>
              <a:cxnLst/>
              <a:rect r="r" b="b" t="t" l="l"/>
              <a:pathLst>
                <a:path h="852932" w="6046978">
                  <a:moveTo>
                    <a:pt x="0" y="0"/>
                  </a:moveTo>
                  <a:lnTo>
                    <a:pt x="6046978" y="0"/>
                  </a:lnTo>
                  <a:lnTo>
                    <a:pt x="6046978" y="852932"/>
                  </a:lnTo>
                  <a:lnTo>
                    <a:pt x="0" y="852932"/>
                  </a:lnTo>
                  <a:close/>
                </a:path>
              </a:pathLst>
            </a:custGeom>
            <a:solidFill>
              <a:srgbClr val="16213E"/>
            </a:solidFill>
            <a:ln w="9525" cap="sq">
              <a:solidFill>
                <a:srgbClr val="0B132B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5344478" y="3163414"/>
            <a:ext cx="3712302" cy="639709"/>
            <a:chOff x="0" y="0"/>
            <a:chExt cx="4949736" cy="85294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49698" cy="852932"/>
            </a:xfrm>
            <a:custGeom>
              <a:avLst/>
              <a:gdLst/>
              <a:ahLst/>
              <a:cxnLst/>
              <a:rect r="r" b="b" t="t" l="l"/>
              <a:pathLst>
                <a:path h="852932" w="4949698">
                  <a:moveTo>
                    <a:pt x="0" y="0"/>
                  </a:moveTo>
                  <a:lnTo>
                    <a:pt x="4949698" y="0"/>
                  </a:lnTo>
                  <a:lnTo>
                    <a:pt x="4949698" y="852932"/>
                  </a:lnTo>
                  <a:lnTo>
                    <a:pt x="0" y="852932"/>
                  </a:lnTo>
                  <a:close/>
                </a:path>
              </a:pathLst>
            </a:custGeom>
            <a:solidFill>
              <a:srgbClr val="16213E"/>
            </a:solidFill>
            <a:ln w="9525" cap="sq">
              <a:solidFill>
                <a:srgbClr val="0B132B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028700" y="3168177"/>
            <a:ext cx="4251417" cy="630180"/>
            <a:chOff x="0" y="0"/>
            <a:chExt cx="5668556" cy="8402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668560" cy="840235"/>
            </a:xfrm>
            <a:custGeom>
              <a:avLst/>
              <a:gdLst/>
              <a:ahLst/>
              <a:cxnLst/>
              <a:rect r="r" b="b" t="t" l="l"/>
              <a:pathLst>
                <a:path h="840235" w="5668560">
                  <a:moveTo>
                    <a:pt x="0" y="0"/>
                  </a:moveTo>
                  <a:lnTo>
                    <a:pt x="5668560" y="0"/>
                  </a:lnTo>
                  <a:lnTo>
                    <a:pt x="5668560" y="840235"/>
                  </a:lnTo>
                  <a:lnTo>
                    <a:pt x="0" y="8402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453" r="0" b="-8145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5668556" cy="88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Policy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554980" y="3168177"/>
            <a:ext cx="3428457" cy="630180"/>
            <a:chOff x="0" y="0"/>
            <a:chExt cx="4571276" cy="8402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571280" cy="840235"/>
            </a:xfrm>
            <a:custGeom>
              <a:avLst/>
              <a:gdLst/>
              <a:ahLst/>
              <a:cxnLst/>
              <a:rect r="r" b="b" t="t" l="l"/>
              <a:pathLst>
                <a:path h="840235" w="4571280">
                  <a:moveTo>
                    <a:pt x="0" y="0"/>
                  </a:moveTo>
                  <a:lnTo>
                    <a:pt x="4571280" y="0"/>
                  </a:lnTo>
                  <a:lnTo>
                    <a:pt x="4571280" y="840235"/>
                  </a:lnTo>
                  <a:lnTo>
                    <a:pt x="0" y="8402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007" r="0" b="-5600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4571276" cy="88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lang="en-US" b="true" sz="2174" spc="-1">
                  <a:solidFill>
                    <a:srgbClr val="FFB70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CNN / MLP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18198" y="3794674"/>
            <a:ext cx="4535262" cy="639709"/>
            <a:chOff x="0" y="0"/>
            <a:chExt cx="6047016" cy="85294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046978" cy="852932"/>
            </a:xfrm>
            <a:custGeom>
              <a:avLst/>
              <a:gdLst/>
              <a:ahLst/>
              <a:cxnLst/>
              <a:rect r="r" b="b" t="t" l="l"/>
              <a:pathLst>
                <a:path h="852932" w="6046978">
                  <a:moveTo>
                    <a:pt x="0" y="0"/>
                  </a:moveTo>
                  <a:lnTo>
                    <a:pt x="6046978" y="0"/>
                  </a:lnTo>
                  <a:lnTo>
                    <a:pt x="6046978" y="852932"/>
                  </a:lnTo>
                  <a:lnTo>
                    <a:pt x="0" y="852932"/>
                  </a:lnTo>
                  <a:close/>
                </a:path>
              </a:pathLst>
            </a:custGeom>
            <a:solidFill>
              <a:srgbClr val="1C2B4A"/>
            </a:solidFill>
            <a:ln w="9525" cap="sq">
              <a:solidFill>
                <a:srgbClr val="0B132B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5344478" y="3794674"/>
            <a:ext cx="3712302" cy="639709"/>
            <a:chOff x="0" y="0"/>
            <a:chExt cx="4949736" cy="85294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949698" cy="852932"/>
            </a:xfrm>
            <a:custGeom>
              <a:avLst/>
              <a:gdLst/>
              <a:ahLst/>
              <a:cxnLst/>
              <a:rect r="r" b="b" t="t" l="l"/>
              <a:pathLst>
                <a:path h="852932" w="4949698">
                  <a:moveTo>
                    <a:pt x="0" y="0"/>
                  </a:moveTo>
                  <a:lnTo>
                    <a:pt x="4949698" y="0"/>
                  </a:lnTo>
                  <a:lnTo>
                    <a:pt x="4949698" y="852932"/>
                  </a:lnTo>
                  <a:lnTo>
                    <a:pt x="0" y="852932"/>
                  </a:lnTo>
                  <a:close/>
                </a:path>
              </a:pathLst>
            </a:custGeom>
            <a:solidFill>
              <a:srgbClr val="1C2B4A"/>
            </a:solidFill>
            <a:ln w="9525" cap="sq">
              <a:solidFill>
                <a:srgbClr val="0B132B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028700" y="3799437"/>
            <a:ext cx="4251417" cy="630180"/>
            <a:chOff x="0" y="0"/>
            <a:chExt cx="5668556" cy="8402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668560" cy="840235"/>
            </a:xfrm>
            <a:custGeom>
              <a:avLst/>
              <a:gdLst/>
              <a:ahLst/>
              <a:cxnLst/>
              <a:rect r="r" b="b" t="t" l="l"/>
              <a:pathLst>
                <a:path h="840235" w="5668560">
                  <a:moveTo>
                    <a:pt x="0" y="0"/>
                  </a:moveTo>
                  <a:lnTo>
                    <a:pt x="5668560" y="0"/>
                  </a:lnTo>
                  <a:lnTo>
                    <a:pt x="5668560" y="840235"/>
                  </a:lnTo>
                  <a:lnTo>
                    <a:pt x="0" y="8402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453" r="0" b="-8145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5668556" cy="88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Learning Rate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554980" y="3799437"/>
            <a:ext cx="3428457" cy="630180"/>
            <a:chOff x="0" y="0"/>
            <a:chExt cx="4571276" cy="8402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571280" cy="840235"/>
            </a:xfrm>
            <a:custGeom>
              <a:avLst/>
              <a:gdLst/>
              <a:ahLst/>
              <a:cxnLst/>
              <a:rect r="r" b="b" t="t" l="l"/>
              <a:pathLst>
                <a:path h="840235" w="4571280">
                  <a:moveTo>
                    <a:pt x="0" y="0"/>
                  </a:moveTo>
                  <a:lnTo>
                    <a:pt x="4571280" y="0"/>
                  </a:lnTo>
                  <a:lnTo>
                    <a:pt x="4571280" y="840235"/>
                  </a:lnTo>
                  <a:lnTo>
                    <a:pt x="0" y="8402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007" r="0" b="-5600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4571276" cy="88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lang="en-US" b="true" sz="2174" spc="-1">
                  <a:solidFill>
                    <a:srgbClr val="FFB70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3e-4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18198" y="4425401"/>
            <a:ext cx="4535262" cy="639709"/>
            <a:chOff x="0" y="0"/>
            <a:chExt cx="6047016" cy="85294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046978" cy="852932"/>
            </a:xfrm>
            <a:custGeom>
              <a:avLst/>
              <a:gdLst/>
              <a:ahLst/>
              <a:cxnLst/>
              <a:rect r="r" b="b" t="t" l="l"/>
              <a:pathLst>
                <a:path h="852932" w="6046978">
                  <a:moveTo>
                    <a:pt x="0" y="0"/>
                  </a:moveTo>
                  <a:lnTo>
                    <a:pt x="6046978" y="0"/>
                  </a:lnTo>
                  <a:lnTo>
                    <a:pt x="6046978" y="852932"/>
                  </a:lnTo>
                  <a:lnTo>
                    <a:pt x="0" y="852932"/>
                  </a:lnTo>
                  <a:close/>
                </a:path>
              </a:pathLst>
            </a:custGeom>
            <a:solidFill>
              <a:srgbClr val="16213E"/>
            </a:solidFill>
            <a:ln w="9525" cap="sq">
              <a:solidFill>
                <a:srgbClr val="0B132B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5344478" y="4425401"/>
            <a:ext cx="3712302" cy="639709"/>
            <a:chOff x="0" y="0"/>
            <a:chExt cx="4949736" cy="85294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949698" cy="852932"/>
            </a:xfrm>
            <a:custGeom>
              <a:avLst/>
              <a:gdLst/>
              <a:ahLst/>
              <a:cxnLst/>
              <a:rect r="r" b="b" t="t" l="l"/>
              <a:pathLst>
                <a:path h="852932" w="4949698">
                  <a:moveTo>
                    <a:pt x="0" y="0"/>
                  </a:moveTo>
                  <a:lnTo>
                    <a:pt x="4949698" y="0"/>
                  </a:lnTo>
                  <a:lnTo>
                    <a:pt x="4949698" y="852932"/>
                  </a:lnTo>
                  <a:lnTo>
                    <a:pt x="0" y="852932"/>
                  </a:lnTo>
                  <a:close/>
                </a:path>
              </a:pathLst>
            </a:custGeom>
            <a:solidFill>
              <a:srgbClr val="16213E"/>
            </a:solidFill>
            <a:ln w="9525" cap="sq">
              <a:solidFill>
                <a:srgbClr val="0B132B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028700" y="4430163"/>
            <a:ext cx="4251417" cy="630180"/>
            <a:chOff x="0" y="0"/>
            <a:chExt cx="5668556" cy="8402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668560" cy="840235"/>
            </a:xfrm>
            <a:custGeom>
              <a:avLst/>
              <a:gdLst/>
              <a:ahLst/>
              <a:cxnLst/>
              <a:rect r="r" b="b" t="t" l="l"/>
              <a:pathLst>
                <a:path h="840235" w="5668560">
                  <a:moveTo>
                    <a:pt x="0" y="0"/>
                  </a:moveTo>
                  <a:lnTo>
                    <a:pt x="5668560" y="0"/>
                  </a:lnTo>
                  <a:lnTo>
                    <a:pt x="5668560" y="840235"/>
                  </a:lnTo>
                  <a:lnTo>
                    <a:pt x="0" y="8402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453" r="0" b="-8145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5668556" cy="88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Gamma (discount)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5554980" y="4430163"/>
            <a:ext cx="3428457" cy="630180"/>
            <a:chOff x="0" y="0"/>
            <a:chExt cx="4571276" cy="8402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571280" cy="840235"/>
            </a:xfrm>
            <a:custGeom>
              <a:avLst/>
              <a:gdLst/>
              <a:ahLst/>
              <a:cxnLst/>
              <a:rect r="r" b="b" t="t" l="l"/>
              <a:pathLst>
                <a:path h="840235" w="4571280">
                  <a:moveTo>
                    <a:pt x="0" y="0"/>
                  </a:moveTo>
                  <a:lnTo>
                    <a:pt x="4571280" y="0"/>
                  </a:lnTo>
                  <a:lnTo>
                    <a:pt x="4571280" y="840235"/>
                  </a:lnTo>
                  <a:lnTo>
                    <a:pt x="0" y="8402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007" r="0" b="-56008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4571276" cy="88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lang="en-US" b="true" sz="2174" spc="-1">
                  <a:solidFill>
                    <a:srgbClr val="FFB70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0.99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18198" y="5056661"/>
            <a:ext cx="4535262" cy="639709"/>
            <a:chOff x="0" y="0"/>
            <a:chExt cx="6047016" cy="85294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046978" cy="852932"/>
            </a:xfrm>
            <a:custGeom>
              <a:avLst/>
              <a:gdLst/>
              <a:ahLst/>
              <a:cxnLst/>
              <a:rect r="r" b="b" t="t" l="l"/>
              <a:pathLst>
                <a:path h="852932" w="6046978">
                  <a:moveTo>
                    <a:pt x="0" y="0"/>
                  </a:moveTo>
                  <a:lnTo>
                    <a:pt x="6046978" y="0"/>
                  </a:lnTo>
                  <a:lnTo>
                    <a:pt x="6046978" y="852932"/>
                  </a:lnTo>
                  <a:lnTo>
                    <a:pt x="0" y="852932"/>
                  </a:lnTo>
                  <a:close/>
                </a:path>
              </a:pathLst>
            </a:custGeom>
            <a:solidFill>
              <a:srgbClr val="1C2B4A"/>
            </a:solidFill>
            <a:ln w="9525" cap="sq">
              <a:solidFill>
                <a:srgbClr val="0B132B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5344478" y="5056661"/>
            <a:ext cx="3712302" cy="639709"/>
            <a:chOff x="0" y="0"/>
            <a:chExt cx="4949736" cy="85294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949698" cy="852932"/>
            </a:xfrm>
            <a:custGeom>
              <a:avLst/>
              <a:gdLst/>
              <a:ahLst/>
              <a:cxnLst/>
              <a:rect r="r" b="b" t="t" l="l"/>
              <a:pathLst>
                <a:path h="852932" w="4949698">
                  <a:moveTo>
                    <a:pt x="0" y="0"/>
                  </a:moveTo>
                  <a:lnTo>
                    <a:pt x="4949698" y="0"/>
                  </a:lnTo>
                  <a:lnTo>
                    <a:pt x="4949698" y="852932"/>
                  </a:lnTo>
                  <a:lnTo>
                    <a:pt x="0" y="852932"/>
                  </a:lnTo>
                  <a:close/>
                </a:path>
              </a:pathLst>
            </a:custGeom>
            <a:solidFill>
              <a:srgbClr val="1C2B4A"/>
            </a:solidFill>
            <a:ln w="9525" cap="sq">
              <a:solidFill>
                <a:srgbClr val="0B132B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028700" y="5061423"/>
            <a:ext cx="4251417" cy="630180"/>
            <a:chOff x="0" y="0"/>
            <a:chExt cx="5668556" cy="8402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668560" cy="840235"/>
            </a:xfrm>
            <a:custGeom>
              <a:avLst/>
              <a:gdLst/>
              <a:ahLst/>
              <a:cxnLst/>
              <a:rect r="r" b="b" t="t" l="l"/>
              <a:pathLst>
                <a:path h="840235" w="5668560">
                  <a:moveTo>
                    <a:pt x="0" y="0"/>
                  </a:moveTo>
                  <a:lnTo>
                    <a:pt x="5668560" y="0"/>
                  </a:lnTo>
                  <a:lnTo>
                    <a:pt x="5668560" y="840235"/>
                  </a:lnTo>
                  <a:lnTo>
                    <a:pt x="0" y="8402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453" r="0" b="-8145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5668556" cy="88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GAE Lambda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5554980" y="5061423"/>
            <a:ext cx="3428457" cy="630180"/>
            <a:chOff x="0" y="0"/>
            <a:chExt cx="4571276" cy="8402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571280" cy="840235"/>
            </a:xfrm>
            <a:custGeom>
              <a:avLst/>
              <a:gdLst/>
              <a:ahLst/>
              <a:cxnLst/>
              <a:rect r="r" b="b" t="t" l="l"/>
              <a:pathLst>
                <a:path h="840235" w="4571280">
                  <a:moveTo>
                    <a:pt x="0" y="0"/>
                  </a:moveTo>
                  <a:lnTo>
                    <a:pt x="4571280" y="0"/>
                  </a:lnTo>
                  <a:lnTo>
                    <a:pt x="4571280" y="840235"/>
                  </a:lnTo>
                  <a:lnTo>
                    <a:pt x="0" y="8402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007" r="0" b="-5600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4571276" cy="88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lang="en-US" b="true" sz="2174" spc="-1">
                  <a:solidFill>
                    <a:srgbClr val="FFB70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0.95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818198" y="5687378"/>
            <a:ext cx="4535262" cy="639709"/>
            <a:chOff x="0" y="0"/>
            <a:chExt cx="6047016" cy="85294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046978" cy="852932"/>
            </a:xfrm>
            <a:custGeom>
              <a:avLst/>
              <a:gdLst/>
              <a:ahLst/>
              <a:cxnLst/>
              <a:rect r="r" b="b" t="t" l="l"/>
              <a:pathLst>
                <a:path h="852932" w="6046978">
                  <a:moveTo>
                    <a:pt x="0" y="0"/>
                  </a:moveTo>
                  <a:lnTo>
                    <a:pt x="6046978" y="0"/>
                  </a:lnTo>
                  <a:lnTo>
                    <a:pt x="6046978" y="852932"/>
                  </a:lnTo>
                  <a:lnTo>
                    <a:pt x="0" y="852932"/>
                  </a:lnTo>
                  <a:close/>
                </a:path>
              </a:pathLst>
            </a:custGeom>
            <a:solidFill>
              <a:srgbClr val="16213E"/>
            </a:solidFill>
            <a:ln w="9525" cap="sq">
              <a:solidFill>
                <a:srgbClr val="0B132B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5344478" y="5687378"/>
            <a:ext cx="3712302" cy="639709"/>
            <a:chOff x="0" y="0"/>
            <a:chExt cx="4949736" cy="85294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949698" cy="852932"/>
            </a:xfrm>
            <a:custGeom>
              <a:avLst/>
              <a:gdLst/>
              <a:ahLst/>
              <a:cxnLst/>
              <a:rect r="r" b="b" t="t" l="l"/>
              <a:pathLst>
                <a:path h="852932" w="4949698">
                  <a:moveTo>
                    <a:pt x="0" y="0"/>
                  </a:moveTo>
                  <a:lnTo>
                    <a:pt x="4949698" y="0"/>
                  </a:lnTo>
                  <a:lnTo>
                    <a:pt x="4949698" y="852932"/>
                  </a:lnTo>
                  <a:lnTo>
                    <a:pt x="0" y="852932"/>
                  </a:lnTo>
                  <a:close/>
                </a:path>
              </a:pathLst>
            </a:custGeom>
            <a:solidFill>
              <a:srgbClr val="16213E"/>
            </a:solidFill>
            <a:ln w="9525" cap="sq">
              <a:solidFill>
                <a:srgbClr val="0B132B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028700" y="5692140"/>
            <a:ext cx="4251417" cy="630180"/>
            <a:chOff x="0" y="0"/>
            <a:chExt cx="5668556" cy="8402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668560" cy="840235"/>
            </a:xfrm>
            <a:custGeom>
              <a:avLst/>
              <a:gdLst/>
              <a:ahLst/>
              <a:cxnLst/>
              <a:rect r="r" b="b" t="t" l="l"/>
              <a:pathLst>
                <a:path h="840235" w="5668560">
                  <a:moveTo>
                    <a:pt x="0" y="0"/>
                  </a:moveTo>
                  <a:lnTo>
                    <a:pt x="5668560" y="0"/>
                  </a:lnTo>
                  <a:lnTo>
                    <a:pt x="5668560" y="840235"/>
                  </a:lnTo>
                  <a:lnTo>
                    <a:pt x="0" y="8402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453" r="0" b="-8145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5668556" cy="88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Clip Range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5554980" y="5692140"/>
            <a:ext cx="3428457" cy="630180"/>
            <a:chOff x="0" y="0"/>
            <a:chExt cx="4571276" cy="8402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571280" cy="840235"/>
            </a:xfrm>
            <a:custGeom>
              <a:avLst/>
              <a:gdLst/>
              <a:ahLst/>
              <a:cxnLst/>
              <a:rect r="r" b="b" t="t" l="l"/>
              <a:pathLst>
                <a:path h="840235" w="4571280">
                  <a:moveTo>
                    <a:pt x="0" y="0"/>
                  </a:moveTo>
                  <a:lnTo>
                    <a:pt x="4571280" y="0"/>
                  </a:lnTo>
                  <a:lnTo>
                    <a:pt x="4571280" y="840235"/>
                  </a:lnTo>
                  <a:lnTo>
                    <a:pt x="0" y="8402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007" r="0" b="-5600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4571276" cy="88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lang="en-US" b="true" sz="2174" spc="-1">
                  <a:solidFill>
                    <a:srgbClr val="FFB70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0.2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818198" y="6318094"/>
            <a:ext cx="4535262" cy="639709"/>
            <a:chOff x="0" y="0"/>
            <a:chExt cx="6047016" cy="852945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046978" cy="852932"/>
            </a:xfrm>
            <a:custGeom>
              <a:avLst/>
              <a:gdLst/>
              <a:ahLst/>
              <a:cxnLst/>
              <a:rect r="r" b="b" t="t" l="l"/>
              <a:pathLst>
                <a:path h="852932" w="6046978">
                  <a:moveTo>
                    <a:pt x="0" y="0"/>
                  </a:moveTo>
                  <a:lnTo>
                    <a:pt x="6046978" y="0"/>
                  </a:lnTo>
                  <a:lnTo>
                    <a:pt x="6046978" y="852932"/>
                  </a:lnTo>
                  <a:lnTo>
                    <a:pt x="0" y="852932"/>
                  </a:lnTo>
                  <a:close/>
                </a:path>
              </a:pathLst>
            </a:custGeom>
            <a:solidFill>
              <a:srgbClr val="1C2B4A"/>
            </a:solidFill>
            <a:ln w="9525" cap="sq">
              <a:solidFill>
                <a:srgbClr val="0B132B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5344478" y="6318094"/>
            <a:ext cx="3712302" cy="639709"/>
            <a:chOff x="0" y="0"/>
            <a:chExt cx="4949736" cy="852945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949698" cy="852932"/>
            </a:xfrm>
            <a:custGeom>
              <a:avLst/>
              <a:gdLst/>
              <a:ahLst/>
              <a:cxnLst/>
              <a:rect r="r" b="b" t="t" l="l"/>
              <a:pathLst>
                <a:path h="852932" w="4949698">
                  <a:moveTo>
                    <a:pt x="0" y="0"/>
                  </a:moveTo>
                  <a:lnTo>
                    <a:pt x="4949698" y="0"/>
                  </a:lnTo>
                  <a:lnTo>
                    <a:pt x="4949698" y="852932"/>
                  </a:lnTo>
                  <a:lnTo>
                    <a:pt x="0" y="852932"/>
                  </a:lnTo>
                  <a:close/>
                </a:path>
              </a:pathLst>
            </a:custGeom>
            <a:solidFill>
              <a:srgbClr val="1C2B4A"/>
            </a:solidFill>
            <a:ln w="9525" cap="sq">
              <a:solidFill>
                <a:srgbClr val="0B132B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028700" y="6322857"/>
            <a:ext cx="4251417" cy="630180"/>
            <a:chOff x="0" y="0"/>
            <a:chExt cx="5668556" cy="8402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668560" cy="840235"/>
            </a:xfrm>
            <a:custGeom>
              <a:avLst/>
              <a:gdLst/>
              <a:ahLst/>
              <a:cxnLst/>
              <a:rect r="r" b="b" t="t" l="l"/>
              <a:pathLst>
                <a:path h="840235" w="5668560">
                  <a:moveTo>
                    <a:pt x="0" y="0"/>
                  </a:moveTo>
                  <a:lnTo>
                    <a:pt x="5668560" y="0"/>
                  </a:lnTo>
                  <a:lnTo>
                    <a:pt x="5668560" y="840235"/>
                  </a:lnTo>
                  <a:lnTo>
                    <a:pt x="0" y="8402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453" r="0" b="-81454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5668556" cy="88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Batch Size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5554980" y="6322857"/>
            <a:ext cx="3428457" cy="630180"/>
            <a:chOff x="0" y="0"/>
            <a:chExt cx="4571276" cy="8402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571280" cy="840235"/>
            </a:xfrm>
            <a:custGeom>
              <a:avLst/>
              <a:gdLst/>
              <a:ahLst/>
              <a:cxnLst/>
              <a:rect r="r" b="b" t="t" l="l"/>
              <a:pathLst>
                <a:path h="840235" w="4571280">
                  <a:moveTo>
                    <a:pt x="0" y="0"/>
                  </a:moveTo>
                  <a:lnTo>
                    <a:pt x="4571280" y="0"/>
                  </a:lnTo>
                  <a:lnTo>
                    <a:pt x="4571280" y="840235"/>
                  </a:lnTo>
                  <a:lnTo>
                    <a:pt x="0" y="8402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007" r="0" b="-56008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4571276" cy="88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lang="en-US" b="true" sz="2174" spc="-1">
                  <a:solidFill>
                    <a:srgbClr val="FFB70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64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818198" y="6949354"/>
            <a:ext cx="4535262" cy="639709"/>
            <a:chOff x="0" y="0"/>
            <a:chExt cx="6047016" cy="852945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046978" cy="852932"/>
            </a:xfrm>
            <a:custGeom>
              <a:avLst/>
              <a:gdLst/>
              <a:ahLst/>
              <a:cxnLst/>
              <a:rect r="r" b="b" t="t" l="l"/>
              <a:pathLst>
                <a:path h="852932" w="6046978">
                  <a:moveTo>
                    <a:pt x="0" y="0"/>
                  </a:moveTo>
                  <a:lnTo>
                    <a:pt x="6046978" y="0"/>
                  </a:lnTo>
                  <a:lnTo>
                    <a:pt x="6046978" y="852932"/>
                  </a:lnTo>
                  <a:lnTo>
                    <a:pt x="0" y="852932"/>
                  </a:lnTo>
                  <a:close/>
                </a:path>
              </a:pathLst>
            </a:custGeom>
            <a:solidFill>
              <a:srgbClr val="16213E"/>
            </a:solidFill>
            <a:ln w="9525" cap="sq">
              <a:solidFill>
                <a:srgbClr val="0B132B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5344478" y="6949354"/>
            <a:ext cx="3712302" cy="639709"/>
            <a:chOff x="0" y="0"/>
            <a:chExt cx="4949736" cy="852945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949698" cy="852932"/>
            </a:xfrm>
            <a:custGeom>
              <a:avLst/>
              <a:gdLst/>
              <a:ahLst/>
              <a:cxnLst/>
              <a:rect r="r" b="b" t="t" l="l"/>
              <a:pathLst>
                <a:path h="852932" w="4949698">
                  <a:moveTo>
                    <a:pt x="0" y="0"/>
                  </a:moveTo>
                  <a:lnTo>
                    <a:pt x="4949698" y="0"/>
                  </a:lnTo>
                  <a:lnTo>
                    <a:pt x="4949698" y="852932"/>
                  </a:lnTo>
                  <a:lnTo>
                    <a:pt x="0" y="852932"/>
                  </a:lnTo>
                  <a:close/>
                </a:path>
              </a:pathLst>
            </a:custGeom>
            <a:solidFill>
              <a:srgbClr val="16213E"/>
            </a:solidFill>
            <a:ln w="9525" cap="sq">
              <a:solidFill>
                <a:srgbClr val="0B132B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1028700" y="6954117"/>
            <a:ext cx="4251417" cy="630180"/>
            <a:chOff x="0" y="0"/>
            <a:chExt cx="5668556" cy="8402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668560" cy="840235"/>
            </a:xfrm>
            <a:custGeom>
              <a:avLst/>
              <a:gdLst/>
              <a:ahLst/>
              <a:cxnLst/>
              <a:rect r="r" b="b" t="t" l="l"/>
              <a:pathLst>
                <a:path h="840235" w="5668560">
                  <a:moveTo>
                    <a:pt x="0" y="0"/>
                  </a:moveTo>
                  <a:lnTo>
                    <a:pt x="5668560" y="0"/>
                  </a:lnTo>
                  <a:lnTo>
                    <a:pt x="5668560" y="840235"/>
                  </a:lnTo>
                  <a:lnTo>
                    <a:pt x="0" y="8402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453" r="0" b="-81454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5668556" cy="88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n_steps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5554980" y="6954117"/>
            <a:ext cx="3428457" cy="630180"/>
            <a:chOff x="0" y="0"/>
            <a:chExt cx="4571276" cy="8402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571280" cy="840235"/>
            </a:xfrm>
            <a:custGeom>
              <a:avLst/>
              <a:gdLst/>
              <a:ahLst/>
              <a:cxnLst/>
              <a:rect r="r" b="b" t="t" l="l"/>
              <a:pathLst>
                <a:path h="840235" w="4571280">
                  <a:moveTo>
                    <a:pt x="0" y="0"/>
                  </a:moveTo>
                  <a:lnTo>
                    <a:pt x="4571280" y="0"/>
                  </a:lnTo>
                  <a:lnTo>
                    <a:pt x="4571280" y="840235"/>
                  </a:lnTo>
                  <a:lnTo>
                    <a:pt x="0" y="8402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007" r="0" b="-56008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47625"/>
              <a:ext cx="4571276" cy="88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lang="en-US" b="true" sz="2174" spc="-1">
                  <a:solidFill>
                    <a:srgbClr val="FFB70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2048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818198" y="7580081"/>
            <a:ext cx="4535262" cy="639709"/>
            <a:chOff x="0" y="0"/>
            <a:chExt cx="6047016" cy="852945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6046978" cy="852932"/>
            </a:xfrm>
            <a:custGeom>
              <a:avLst/>
              <a:gdLst/>
              <a:ahLst/>
              <a:cxnLst/>
              <a:rect r="r" b="b" t="t" l="l"/>
              <a:pathLst>
                <a:path h="852932" w="6046978">
                  <a:moveTo>
                    <a:pt x="0" y="0"/>
                  </a:moveTo>
                  <a:lnTo>
                    <a:pt x="6046978" y="0"/>
                  </a:lnTo>
                  <a:lnTo>
                    <a:pt x="6046978" y="852932"/>
                  </a:lnTo>
                  <a:lnTo>
                    <a:pt x="0" y="852932"/>
                  </a:lnTo>
                  <a:close/>
                </a:path>
              </a:pathLst>
            </a:custGeom>
            <a:solidFill>
              <a:srgbClr val="1C2B4A"/>
            </a:solidFill>
            <a:ln w="9525" cap="sq">
              <a:solidFill>
                <a:srgbClr val="0B132B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5344478" y="7580081"/>
            <a:ext cx="3712302" cy="639709"/>
            <a:chOff x="0" y="0"/>
            <a:chExt cx="4949736" cy="852945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949698" cy="852932"/>
            </a:xfrm>
            <a:custGeom>
              <a:avLst/>
              <a:gdLst/>
              <a:ahLst/>
              <a:cxnLst/>
              <a:rect r="r" b="b" t="t" l="l"/>
              <a:pathLst>
                <a:path h="852932" w="4949698">
                  <a:moveTo>
                    <a:pt x="0" y="0"/>
                  </a:moveTo>
                  <a:lnTo>
                    <a:pt x="4949698" y="0"/>
                  </a:lnTo>
                  <a:lnTo>
                    <a:pt x="4949698" y="852932"/>
                  </a:lnTo>
                  <a:lnTo>
                    <a:pt x="0" y="852932"/>
                  </a:lnTo>
                  <a:close/>
                </a:path>
              </a:pathLst>
            </a:custGeom>
            <a:solidFill>
              <a:srgbClr val="1C2B4A"/>
            </a:solidFill>
            <a:ln w="9525" cap="sq">
              <a:solidFill>
                <a:srgbClr val="0B132B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1028700" y="7584843"/>
            <a:ext cx="4251417" cy="630180"/>
            <a:chOff x="0" y="0"/>
            <a:chExt cx="5668556" cy="84024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668560" cy="840235"/>
            </a:xfrm>
            <a:custGeom>
              <a:avLst/>
              <a:gdLst/>
              <a:ahLst/>
              <a:cxnLst/>
              <a:rect r="r" b="b" t="t" l="l"/>
              <a:pathLst>
                <a:path h="840235" w="5668560">
                  <a:moveTo>
                    <a:pt x="0" y="0"/>
                  </a:moveTo>
                  <a:lnTo>
                    <a:pt x="5668560" y="0"/>
                  </a:lnTo>
                  <a:lnTo>
                    <a:pt x="5668560" y="840235"/>
                  </a:lnTo>
                  <a:lnTo>
                    <a:pt x="0" y="8402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453" r="0" b="-81454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5668556" cy="88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Timesteps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5554980" y="7584843"/>
            <a:ext cx="3428457" cy="630180"/>
            <a:chOff x="0" y="0"/>
            <a:chExt cx="4571276" cy="8402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571280" cy="840235"/>
            </a:xfrm>
            <a:custGeom>
              <a:avLst/>
              <a:gdLst/>
              <a:ahLst/>
              <a:cxnLst/>
              <a:rect r="r" b="b" t="t" l="l"/>
              <a:pathLst>
                <a:path h="840235" w="4571280">
                  <a:moveTo>
                    <a:pt x="0" y="0"/>
                  </a:moveTo>
                  <a:lnTo>
                    <a:pt x="4571280" y="0"/>
                  </a:lnTo>
                  <a:lnTo>
                    <a:pt x="4571280" y="840235"/>
                  </a:lnTo>
                  <a:lnTo>
                    <a:pt x="0" y="8402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007" r="0" b="-56008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47625"/>
              <a:ext cx="4571276" cy="88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lang="en-US" b="true" sz="2174" spc="-1">
                  <a:solidFill>
                    <a:srgbClr val="FFB70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Configurable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601200" y="2537460"/>
            <a:ext cx="7858620" cy="6445977"/>
            <a:chOff x="0" y="0"/>
            <a:chExt cx="10478160" cy="859463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0478136" cy="8594725"/>
            </a:xfrm>
            <a:custGeom>
              <a:avLst/>
              <a:gdLst/>
              <a:ahLst/>
              <a:cxnLst/>
              <a:rect r="r" b="b" t="t" l="l"/>
              <a:pathLst>
                <a:path h="8594725" w="1047813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331831" y="0"/>
                  </a:lnTo>
                  <a:cubicBezTo>
                    <a:pt x="10412603" y="0"/>
                    <a:pt x="10478136" y="65532"/>
                    <a:pt x="10478136" y="146304"/>
                  </a:cubicBezTo>
                  <a:lnTo>
                    <a:pt x="10478136" y="8448421"/>
                  </a:lnTo>
                  <a:cubicBezTo>
                    <a:pt x="10478136" y="8529193"/>
                    <a:pt x="10412603" y="8594725"/>
                    <a:pt x="10331831" y="8594725"/>
                  </a:cubicBezTo>
                  <a:lnTo>
                    <a:pt x="146304" y="8594725"/>
                  </a:lnTo>
                  <a:cubicBezTo>
                    <a:pt x="65532" y="8594598"/>
                    <a:pt x="0" y="8529193"/>
                    <a:pt x="0" y="8448421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0012680" y="2948940"/>
            <a:ext cx="1028157" cy="1028157"/>
            <a:chOff x="0" y="0"/>
            <a:chExt cx="1370876" cy="1370876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370838" cy="1370838"/>
            </a:xfrm>
            <a:custGeom>
              <a:avLst/>
              <a:gdLst/>
              <a:ahLst/>
              <a:cxnLst/>
              <a:rect r="r" b="b" t="t" l="l"/>
              <a:pathLst>
                <a:path h="1370838" w="1370838">
                  <a:moveTo>
                    <a:pt x="0" y="685419"/>
                  </a:moveTo>
                  <a:cubicBezTo>
                    <a:pt x="0" y="306832"/>
                    <a:pt x="306832" y="0"/>
                    <a:pt x="685419" y="0"/>
                  </a:cubicBezTo>
                  <a:cubicBezTo>
                    <a:pt x="1064006" y="0"/>
                    <a:pt x="1370838" y="306832"/>
                    <a:pt x="1370838" y="685419"/>
                  </a:cubicBezTo>
                  <a:cubicBezTo>
                    <a:pt x="1370838" y="1064006"/>
                    <a:pt x="1064006" y="1370838"/>
                    <a:pt x="685419" y="1370838"/>
                  </a:cubicBezTo>
                  <a:cubicBezTo>
                    <a:pt x="306832" y="1370838"/>
                    <a:pt x="0" y="1064006"/>
                    <a:pt x="0" y="685419"/>
                  </a:cubicBez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0259463" y="3195723"/>
            <a:ext cx="534600" cy="534600"/>
            <a:chOff x="0" y="0"/>
            <a:chExt cx="712800" cy="712800"/>
          </a:xfrm>
        </p:grpSpPr>
        <p:sp>
          <p:nvSpPr>
            <p:cNvPr name="Freeform 103" id="103" descr="/tmp/claude-1000/-media-hung-Work-Project-AI-Engineer-RL-contra-PPO/70c7dc7d-8f3f-4139-8f25-95b0e9e6dca5/scratchpad/build/icons/cogs.png"/>
            <p:cNvSpPr/>
            <p:nvPr/>
          </p:nvSpPr>
          <p:spPr>
            <a:xfrm flipH="false" flipV="false" rot="0">
              <a:off x="0" y="0"/>
              <a:ext cx="712851" cy="712851"/>
            </a:xfrm>
            <a:custGeom>
              <a:avLst/>
              <a:gdLst/>
              <a:ahLst/>
              <a:cxnLst/>
              <a:rect r="r" b="b" t="t" l="l"/>
              <a:pathLst>
                <a:path h="712851" w="712851">
                  <a:moveTo>
                    <a:pt x="0" y="0"/>
                  </a:moveTo>
                  <a:lnTo>
                    <a:pt x="712851" y="0"/>
                  </a:lnTo>
                  <a:lnTo>
                    <a:pt x="712851" y="712851"/>
                  </a:lnTo>
                  <a:lnTo>
                    <a:pt x="0" y="7128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7" b="7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1247120" y="3017520"/>
            <a:ext cx="5801220" cy="548100"/>
            <a:chOff x="0" y="0"/>
            <a:chExt cx="7734960" cy="7308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7734960" cy="730804"/>
            </a:xfrm>
            <a:custGeom>
              <a:avLst/>
              <a:gdLst/>
              <a:ahLst/>
              <a:cxnLst/>
              <a:rect r="r" b="b" t="t" l="l"/>
              <a:pathLst>
                <a:path h="730804" w="7734960">
                  <a:moveTo>
                    <a:pt x="0" y="0"/>
                  </a:moveTo>
                  <a:lnTo>
                    <a:pt x="7734960" y="0"/>
                  </a:lnTo>
                  <a:lnTo>
                    <a:pt x="7734960" y="730804"/>
                  </a:lnTo>
                  <a:lnTo>
                    <a:pt x="0" y="7308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233" r="0" b="-156232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47625"/>
              <a:ext cx="7734960" cy="778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59"/>
                </a:lnSpc>
              </a:pPr>
              <a:r>
                <a:rPr lang="en-US" b="true" sz="2549" spc="-1">
                  <a:solidFill>
                    <a:srgbClr val="E5E9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Technical notes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0012680" y="3909060"/>
            <a:ext cx="7035660" cy="2331180"/>
            <a:chOff x="0" y="0"/>
            <a:chExt cx="9380880" cy="310824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9380880" cy="3108244"/>
            </a:xfrm>
            <a:custGeom>
              <a:avLst/>
              <a:gdLst/>
              <a:ahLst/>
              <a:cxnLst/>
              <a:rect r="r" b="b" t="t" l="l"/>
              <a:pathLst>
                <a:path h="3108244" w="9380880">
                  <a:moveTo>
                    <a:pt x="0" y="0"/>
                  </a:moveTo>
                  <a:lnTo>
                    <a:pt x="9380880" y="0"/>
                  </a:lnTo>
                  <a:lnTo>
                    <a:pt x="9380880" y="3108244"/>
                  </a:lnTo>
                  <a:lnTo>
                    <a:pt x="0" y="31082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07" r="0" b="-8806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85725"/>
              <a:ext cx="9380880" cy="3193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5"/>
                </a:lnSpc>
              </a:pPr>
              <a:r>
                <a:rPr lang="en-US" sz="2024" spc="-1">
                  <a:solidFill>
                    <a:srgbClr val="E5E9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train.py currently runs with default parameters that differ from the published table above: learning_rate = 5e-5, gamma = 0.9, GAE lambda (tau) = 1.0, n_steps = 512, batch_size = 128, n_epochs = 10, ent_coef = 0.02, vf_coef = 0.5, max_grad_norm = 0.5, default number of parallel envs = 32.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0012680" y="6446520"/>
            <a:ext cx="7035660" cy="959580"/>
            <a:chOff x="0" y="0"/>
            <a:chExt cx="9380880" cy="127944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9380880" cy="1279444"/>
            </a:xfrm>
            <a:custGeom>
              <a:avLst/>
              <a:gdLst/>
              <a:ahLst/>
              <a:cxnLst/>
              <a:rect r="r" b="b" t="t" l="l"/>
              <a:pathLst>
                <a:path h="1279444" w="9380880">
                  <a:moveTo>
                    <a:pt x="0" y="0"/>
                  </a:moveTo>
                  <a:lnTo>
                    <a:pt x="9380880" y="0"/>
                  </a:lnTo>
                  <a:lnTo>
                    <a:pt x="9380880" y="1279444"/>
                  </a:lnTo>
                  <a:lnTo>
                    <a:pt x="0" y="12794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864" r="0" b="-92863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95250"/>
              <a:ext cx="9380880" cy="1374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7"/>
                </a:lnSpc>
              </a:pPr>
              <a:r>
                <a:rPr lang="en-US" sz="1949" i="true" spc="-1">
                  <a:solidFill>
                    <a:srgbClr val="9AA6C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When resuming from a checkpoint, the default learning rate drops to 5e-5 (overridable via --resume-lr) for more stable continued training.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0012680" y="7680960"/>
            <a:ext cx="7035660" cy="822420"/>
            <a:chOff x="0" y="0"/>
            <a:chExt cx="9380880" cy="109656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9380880" cy="1096564"/>
            </a:xfrm>
            <a:custGeom>
              <a:avLst/>
              <a:gdLst/>
              <a:ahLst/>
              <a:cxnLst/>
              <a:rect r="r" b="b" t="t" l="l"/>
              <a:pathLst>
                <a:path h="1096564" w="9380880">
                  <a:moveTo>
                    <a:pt x="0" y="0"/>
                  </a:moveTo>
                  <a:lnTo>
                    <a:pt x="9380880" y="0"/>
                  </a:lnTo>
                  <a:lnTo>
                    <a:pt x="9380880" y="1096564"/>
                  </a:lnTo>
                  <a:lnTo>
                    <a:pt x="0" y="10965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690" r="0" b="-11669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95250"/>
              <a:ext cx="9380880" cy="1191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7"/>
                </a:lnSpc>
              </a:pPr>
              <a:r>
                <a:rPr lang="en-US" sz="1949" spc="-1">
                  <a:solidFill>
                    <a:srgbClr val="06D6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MAX_EPISODE_STEPS = 4500 (≈ 5 minutes of game time, with frame-skip=4 at 60fps).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685800" y="9710823"/>
            <a:ext cx="4114257" cy="410937"/>
            <a:chOff x="0" y="0"/>
            <a:chExt cx="5485676" cy="547916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5485680" cy="547920"/>
            </a:xfrm>
            <a:custGeom>
              <a:avLst/>
              <a:gdLst/>
              <a:ahLst/>
              <a:cxnLst/>
              <a:rect r="r" b="b" t="t" l="l"/>
              <a:pathLst>
                <a:path h="547920" w="5485680">
                  <a:moveTo>
                    <a:pt x="0" y="0"/>
                  </a:moveTo>
                  <a:lnTo>
                    <a:pt x="5485680" y="0"/>
                  </a:lnTo>
                  <a:lnTo>
                    <a:pt x="5485680" y="547920"/>
                  </a:lnTo>
                  <a:lnTo>
                    <a:pt x="0" y="547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5081" r="0" b="-145080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5485676" cy="5860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Contra-PPO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6911723" y="9710823"/>
            <a:ext cx="822417" cy="410937"/>
            <a:chOff x="0" y="0"/>
            <a:chExt cx="1096556" cy="547916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096560" cy="547920"/>
            </a:xfrm>
            <a:custGeom>
              <a:avLst/>
              <a:gdLst/>
              <a:ahLst/>
              <a:cxnLst/>
              <a:rect r="r" b="b" t="t" l="l"/>
              <a:pathLst>
                <a:path h="547920" w="1096560">
                  <a:moveTo>
                    <a:pt x="0" y="0"/>
                  </a:moveTo>
                  <a:lnTo>
                    <a:pt x="1096560" y="0"/>
                  </a:lnTo>
                  <a:lnTo>
                    <a:pt x="1096560" y="547920"/>
                  </a:lnTo>
                  <a:lnTo>
                    <a:pt x="0" y="547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09" t="0" r="-14109" b="0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1096556" cy="5860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0972257" cy="410937"/>
            <a:chOff x="0" y="0"/>
            <a:chExt cx="14629676" cy="5479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29681" cy="547920"/>
            </a:xfrm>
            <a:custGeom>
              <a:avLst/>
              <a:gdLst/>
              <a:ahLst/>
              <a:cxnLst/>
              <a:rect r="r" b="b" t="t" l="l"/>
              <a:pathLst>
                <a:path h="547920" w="14629681">
                  <a:moveTo>
                    <a:pt x="0" y="0"/>
                  </a:moveTo>
                  <a:lnTo>
                    <a:pt x="14629681" y="0"/>
                  </a:lnTo>
                  <a:lnTo>
                    <a:pt x="14629681" y="547920"/>
                  </a:lnTo>
                  <a:lnTo>
                    <a:pt x="0" y="547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0258" r="0" b="-47025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29676" cy="5860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8">
                  <a:solidFill>
                    <a:srgbClr val="FFB70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TRAINING OPERATIONS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850497"/>
            <a:ext cx="15910017" cy="959577"/>
            <a:chOff x="0" y="0"/>
            <a:chExt cx="21213356" cy="12794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213359" cy="1279440"/>
            </a:xfrm>
            <a:custGeom>
              <a:avLst/>
              <a:gdLst/>
              <a:ahLst/>
              <a:cxnLst/>
              <a:rect r="r" b="b" t="t" l="l"/>
              <a:pathLst>
                <a:path h="1279440" w="21213359">
                  <a:moveTo>
                    <a:pt x="0" y="0"/>
                  </a:moveTo>
                  <a:lnTo>
                    <a:pt x="21213359" y="0"/>
                  </a:lnTo>
                  <a:lnTo>
                    <a:pt x="21213359" y="1279440"/>
                  </a:lnTo>
                  <a:lnTo>
                    <a:pt x="0" y="1279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065" r="0" b="-2730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213356" cy="1298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 spc="-1">
                  <a:solidFill>
                    <a:srgbClr val="E5E9F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Checkpoint · Robust-best evaluation · Resume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400300"/>
            <a:ext cx="8091897" cy="2674077"/>
            <a:chOff x="0" y="0"/>
            <a:chExt cx="10789196" cy="35654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89158" cy="3565398"/>
            </a:xfrm>
            <a:custGeom>
              <a:avLst/>
              <a:gdLst/>
              <a:ahLst/>
              <a:cxnLst/>
              <a:rect r="r" b="b" t="t" l="l"/>
              <a:pathLst>
                <a:path h="3565398" w="1078915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2854" y="0"/>
                  </a:lnTo>
                  <a:cubicBezTo>
                    <a:pt x="10723626" y="0"/>
                    <a:pt x="10789158" y="65532"/>
                    <a:pt x="10789158" y="146304"/>
                  </a:cubicBezTo>
                  <a:lnTo>
                    <a:pt x="10789158" y="3419094"/>
                  </a:lnTo>
                  <a:cubicBezTo>
                    <a:pt x="10789158" y="3499866"/>
                    <a:pt x="10723626" y="3565398"/>
                    <a:pt x="10642854" y="3565398"/>
                  </a:cubicBezTo>
                  <a:lnTo>
                    <a:pt x="146304" y="3565398"/>
                  </a:lnTo>
                  <a:cubicBezTo>
                    <a:pt x="65532" y="3565398"/>
                    <a:pt x="0" y="3499993"/>
                    <a:pt x="0" y="3419094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65860" y="2743200"/>
            <a:ext cx="1165317" cy="1165317"/>
            <a:chOff x="0" y="0"/>
            <a:chExt cx="1553756" cy="15537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53718" cy="1553718"/>
            </a:xfrm>
            <a:custGeom>
              <a:avLst/>
              <a:gdLst/>
              <a:ahLst/>
              <a:cxnLst/>
              <a:rect r="r" b="b" t="t" l="l"/>
              <a:pathLst>
                <a:path h="1553718" w="1553718">
                  <a:moveTo>
                    <a:pt x="0" y="776859"/>
                  </a:moveTo>
                  <a:cubicBezTo>
                    <a:pt x="0" y="347853"/>
                    <a:pt x="347853" y="0"/>
                    <a:pt x="776859" y="0"/>
                  </a:cubicBezTo>
                  <a:cubicBezTo>
                    <a:pt x="1205865" y="0"/>
                    <a:pt x="1553718" y="347853"/>
                    <a:pt x="1553718" y="776859"/>
                  </a:cubicBezTo>
                  <a:cubicBezTo>
                    <a:pt x="1553718" y="1205865"/>
                    <a:pt x="1205865" y="1553718"/>
                    <a:pt x="776859" y="1553718"/>
                  </a:cubicBezTo>
                  <a:cubicBezTo>
                    <a:pt x="347853" y="1553718"/>
                    <a:pt x="0" y="1205992"/>
                    <a:pt x="0" y="776859"/>
                  </a:cubicBez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45581" y="3022921"/>
            <a:ext cx="605876" cy="605876"/>
            <a:chOff x="0" y="0"/>
            <a:chExt cx="807834" cy="807834"/>
          </a:xfrm>
        </p:grpSpPr>
        <p:sp>
          <p:nvSpPr>
            <p:cNvPr name="Freeform 13" id="13" descr="/tmp/claude-1000/-media-hung-Work-Project-AI-Engineer-RL-contra-PPO/70c7dc7d-8f3f-4139-8f25-95b0e9e6dca5/scratchpad/build/icons/save.png"/>
            <p:cNvSpPr/>
            <p:nvPr/>
          </p:nvSpPr>
          <p:spPr>
            <a:xfrm flipH="false" flipV="false" rot="0">
              <a:off x="0" y="0"/>
              <a:ext cx="807847" cy="807847"/>
            </a:xfrm>
            <a:custGeom>
              <a:avLst/>
              <a:gdLst/>
              <a:ahLst/>
              <a:cxnLst/>
              <a:rect r="r" b="b" t="t" l="l"/>
              <a:pathLst>
                <a:path h="807847" w="807847">
                  <a:moveTo>
                    <a:pt x="0" y="0"/>
                  </a:moveTo>
                  <a:lnTo>
                    <a:pt x="807847" y="0"/>
                  </a:lnTo>
                  <a:lnTo>
                    <a:pt x="807847" y="807847"/>
                  </a:lnTo>
                  <a:lnTo>
                    <a:pt x="0" y="8078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537460" y="2702157"/>
            <a:ext cx="6034497" cy="518703"/>
            <a:chOff x="0" y="0"/>
            <a:chExt cx="8045996" cy="6916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046000" cy="691607"/>
            </a:xfrm>
            <a:custGeom>
              <a:avLst/>
              <a:gdLst/>
              <a:ahLst/>
              <a:cxnLst/>
              <a:rect r="r" b="b" t="t" l="l"/>
              <a:pathLst>
                <a:path h="691607" w="8046000">
                  <a:moveTo>
                    <a:pt x="0" y="0"/>
                  </a:moveTo>
                  <a:lnTo>
                    <a:pt x="8046000" y="0"/>
                  </a:lnTo>
                  <a:lnTo>
                    <a:pt x="8046000" y="691607"/>
                  </a:lnTo>
                  <a:lnTo>
                    <a:pt x="0" y="6916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461" r="0" b="-17290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8045996" cy="748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b="true" sz="2599" spc="-1">
                  <a:solidFill>
                    <a:srgbClr val="E5E9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Periodic checkpoint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537460" y="3195723"/>
            <a:ext cx="6034497" cy="1782540"/>
            <a:chOff x="0" y="0"/>
            <a:chExt cx="8045996" cy="23767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046000" cy="2376724"/>
            </a:xfrm>
            <a:custGeom>
              <a:avLst/>
              <a:gdLst/>
              <a:ahLst/>
              <a:cxnLst/>
              <a:rect r="r" b="b" t="t" l="l"/>
              <a:pathLst>
                <a:path h="2376724" w="8046000">
                  <a:moveTo>
                    <a:pt x="0" y="0"/>
                  </a:moveTo>
                  <a:lnTo>
                    <a:pt x="8046000" y="0"/>
                  </a:lnTo>
                  <a:lnTo>
                    <a:pt x="8046000" y="2376724"/>
                  </a:lnTo>
                  <a:lnTo>
                    <a:pt x="0" y="23767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63" r="0" b="-1596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8045996" cy="2452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63"/>
                </a:lnSpc>
              </a:pPr>
              <a:r>
                <a:rPr lang="en-US" sz="2074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CheckpointCallback saves every ~100K total timesteps to checkpoints/contra_ppo_&lt;n&gt;_steps.zip.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395460" y="2400300"/>
            <a:ext cx="8091897" cy="2674077"/>
            <a:chOff x="0" y="0"/>
            <a:chExt cx="10789196" cy="356543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789158" cy="3565398"/>
            </a:xfrm>
            <a:custGeom>
              <a:avLst/>
              <a:gdLst/>
              <a:ahLst/>
              <a:cxnLst/>
              <a:rect r="r" b="b" t="t" l="l"/>
              <a:pathLst>
                <a:path h="3565398" w="1078915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2854" y="0"/>
                  </a:lnTo>
                  <a:cubicBezTo>
                    <a:pt x="10723626" y="0"/>
                    <a:pt x="10789158" y="65532"/>
                    <a:pt x="10789158" y="146304"/>
                  </a:cubicBezTo>
                  <a:lnTo>
                    <a:pt x="10789158" y="3419094"/>
                  </a:lnTo>
                  <a:cubicBezTo>
                    <a:pt x="10789158" y="3499866"/>
                    <a:pt x="10723626" y="3565398"/>
                    <a:pt x="10642854" y="3565398"/>
                  </a:cubicBezTo>
                  <a:lnTo>
                    <a:pt x="146304" y="3565398"/>
                  </a:lnTo>
                  <a:cubicBezTo>
                    <a:pt x="65532" y="3565398"/>
                    <a:pt x="0" y="3499993"/>
                    <a:pt x="0" y="3419094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738360" y="2743200"/>
            <a:ext cx="1165317" cy="1165317"/>
            <a:chOff x="0" y="0"/>
            <a:chExt cx="1553756" cy="15537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53718" cy="1553718"/>
            </a:xfrm>
            <a:custGeom>
              <a:avLst/>
              <a:gdLst/>
              <a:ahLst/>
              <a:cxnLst/>
              <a:rect r="r" b="b" t="t" l="l"/>
              <a:pathLst>
                <a:path h="1553718" w="1553718">
                  <a:moveTo>
                    <a:pt x="0" y="776859"/>
                  </a:moveTo>
                  <a:cubicBezTo>
                    <a:pt x="0" y="347853"/>
                    <a:pt x="347853" y="0"/>
                    <a:pt x="776859" y="0"/>
                  </a:cubicBezTo>
                  <a:cubicBezTo>
                    <a:pt x="1205865" y="0"/>
                    <a:pt x="1553718" y="347853"/>
                    <a:pt x="1553718" y="776859"/>
                  </a:cubicBezTo>
                  <a:cubicBezTo>
                    <a:pt x="1553718" y="1205865"/>
                    <a:pt x="1205865" y="1553718"/>
                    <a:pt x="776859" y="1553718"/>
                  </a:cubicBezTo>
                  <a:cubicBezTo>
                    <a:pt x="347853" y="1553718"/>
                    <a:pt x="0" y="1205992"/>
                    <a:pt x="0" y="776859"/>
                  </a:cubicBez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018081" y="3022921"/>
            <a:ext cx="605876" cy="605876"/>
            <a:chOff x="0" y="0"/>
            <a:chExt cx="807834" cy="807834"/>
          </a:xfrm>
        </p:grpSpPr>
        <p:sp>
          <p:nvSpPr>
            <p:cNvPr name="Freeform 25" id="25" descr="/tmp/claude-1000/-media-hung-Work-Project-AI-Engineer-RL-contra-PPO/70c7dc7d-8f3f-4139-8f25-95b0e9e6dca5/scratchpad/build/icons/bullseye.png"/>
            <p:cNvSpPr/>
            <p:nvPr/>
          </p:nvSpPr>
          <p:spPr>
            <a:xfrm flipH="false" flipV="false" rot="0">
              <a:off x="0" y="0"/>
              <a:ext cx="807847" cy="807847"/>
            </a:xfrm>
            <a:custGeom>
              <a:avLst/>
              <a:gdLst/>
              <a:ahLst/>
              <a:cxnLst/>
              <a:rect r="r" b="b" t="t" l="l"/>
              <a:pathLst>
                <a:path h="807847" w="807847">
                  <a:moveTo>
                    <a:pt x="0" y="0"/>
                  </a:moveTo>
                  <a:lnTo>
                    <a:pt x="807847" y="0"/>
                  </a:lnTo>
                  <a:lnTo>
                    <a:pt x="807847" y="807847"/>
                  </a:lnTo>
                  <a:lnTo>
                    <a:pt x="0" y="8078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1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109960" y="2702157"/>
            <a:ext cx="6034497" cy="518703"/>
            <a:chOff x="0" y="0"/>
            <a:chExt cx="8045996" cy="6916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046000" cy="691607"/>
            </a:xfrm>
            <a:custGeom>
              <a:avLst/>
              <a:gdLst/>
              <a:ahLst/>
              <a:cxnLst/>
              <a:rect r="r" b="b" t="t" l="l"/>
              <a:pathLst>
                <a:path h="691607" w="8046000">
                  <a:moveTo>
                    <a:pt x="0" y="0"/>
                  </a:moveTo>
                  <a:lnTo>
                    <a:pt x="8046000" y="0"/>
                  </a:lnTo>
                  <a:lnTo>
                    <a:pt x="8046000" y="691607"/>
                  </a:lnTo>
                  <a:lnTo>
                    <a:pt x="0" y="6916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461" r="0" b="-17290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8045996" cy="748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b="true" sz="2599" spc="-1">
                  <a:solidFill>
                    <a:srgbClr val="E5E9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Robust-best evaluation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109960" y="3195723"/>
            <a:ext cx="6034497" cy="1782540"/>
            <a:chOff x="0" y="0"/>
            <a:chExt cx="8045996" cy="23767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046000" cy="2376724"/>
            </a:xfrm>
            <a:custGeom>
              <a:avLst/>
              <a:gdLst/>
              <a:ahLst/>
              <a:cxnLst/>
              <a:rect r="r" b="b" t="t" l="l"/>
              <a:pathLst>
                <a:path h="2376724" w="8046000">
                  <a:moveTo>
                    <a:pt x="0" y="0"/>
                  </a:moveTo>
                  <a:lnTo>
                    <a:pt x="8046000" y="0"/>
                  </a:lnTo>
                  <a:lnTo>
                    <a:pt x="8046000" y="2376724"/>
                  </a:lnTo>
                  <a:lnTo>
                    <a:pt x="0" y="23767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63" r="0" b="-1596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76200"/>
              <a:ext cx="8045996" cy="2452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63"/>
                </a:lnSpc>
              </a:pPr>
              <a:r>
                <a:rPr lang="en-US" sz="2074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EvalBestCallback periodically runs 5 deterministic evaluation episodes; ranks by (min_reward, mean_reward) — favoring a stable policy over one that gets lucky in one episode then dies early in another.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" y="5349240"/>
            <a:ext cx="8091897" cy="2674077"/>
            <a:chOff x="0" y="0"/>
            <a:chExt cx="10789196" cy="356543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789158" cy="3565398"/>
            </a:xfrm>
            <a:custGeom>
              <a:avLst/>
              <a:gdLst/>
              <a:ahLst/>
              <a:cxnLst/>
              <a:rect r="r" b="b" t="t" l="l"/>
              <a:pathLst>
                <a:path h="3565398" w="1078915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2854" y="0"/>
                  </a:lnTo>
                  <a:cubicBezTo>
                    <a:pt x="10723626" y="0"/>
                    <a:pt x="10789158" y="65532"/>
                    <a:pt x="10789158" y="146304"/>
                  </a:cubicBezTo>
                  <a:lnTo>
                    <a:pt x="10789158" y="3419094"/>
                  </a:lnTo>
                  <a:cubicBezTo>
                    <a:pt x="10789158" y="3499866"/>
                    <a:pt x="10723626" y="3565398"/>
                    <a:pt x="10642854" y="3565398"/>
                  </a:cubicBezTo>
                  <a:lnTo>
                    <a:pt x="146304" y="3565398"/>
                  </a:lnTo>
                  <a:cubicBezTo>
                    <a:pt x="65532" y="3565398"/>
                    <a:pt x="0" y="3499993"/>
                    <a:pt x="0" y="3419094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65860" y="5692140"/>
            <a:ext cx="1165317" cy="1165317"/>
            <a:chOff x="0" y="0"/>
            <a:chExt cx="1553756" cy="155375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553718" cy="1553718"/>
            </a:xfrm>
            <a:custGeom>
              <a:avLst/>
              <a:gdLst/>
              <a:ahLst/>
              <a:cxnLst/>
              <a:rect r="r" b="b" t="t" l="l"/>
              <a:pathLst>
                <a:path h="1553718" w="1553718">
                  <a:moveTo>
                    <a:pt x="0" y="776859"/>
                  </a:moveTo>
                  <a:cubicBezTo>
                    <a:pt x="0" y="347853"/>
                    <a:pt x="347853" y="0"/>
                    <a:pt x="776859" y="0"/>
                  </a:cubicBezTo>
                  <a:cubicBezTo>
                    <a:pt x="1205865" y="0"/>
                    <a:pt x="1553718" y="347853"/>
                    <a:pt x="1553718" y="776859"/>
                  </a:cubicBezTo>
                  <a:cubicBezTo>
                    <a:pt x="1553718" y="1205865"/>
                    <a:pt x="1205865" y="1553718"/>
                    <a:pt x="776859" y="1553718"/>
                  </a:cubicBezTo>
                  <a:cubicBezTo>
                    <a:pt x="347853" y="1553718"/>
                    <a:pt x="0" y="1205992"/>
                    <a:pt x="0" y="776859"/>
                  </a:cubicBez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445581" y="5971861"/>
            <a:ext cx="605876" cy="605876"/>
            <a:chOff x="0" y="0"/>
            <a:chExt cx="807834" cy="807834"/>
          </a:xfrm>
        </p:grpSpPr>
        <p:sp>
          <p:nvSpPr>
            <p:cNvPr name="Freeform 37" id="37" descr="/tmp/claude-1000/-media-hung-Work-Project-AI-Engineer-RL-contra-PPO/70c7dc7d-8f3f-4139-8f25-95b0e9e6dca5/scratchpad/build/icons/arrowright.png"/>
            <p:cNvSpPr/>
            <p:nvPr/>
          </p:nvSpPr>
          <p:spPr>
            <a:xfrm flipH="false" flipV="false" rot="0">
              <a:off x="0" y="0"/>
              <a:ext cx="807847" cy="807847"/>
            </a:xfrm>
            <a:custGeom>
              <a:avLst/>
              <a:gdLst/>
              <a:ahLst/>
              <a:cxnLst/>
              <a:rect r="r" b="b" t="t" l="l"/>
              <a:pathLst>
                <a:path h="807847" w="807847">
                  <a:moveTo>
                    <a:pt x="0" y="0"/>
                  </a:moveTo>
                  <a:lnTo>
                    <a:pt x="807847" y="0"/>
                  </a:lnTo>
                  <a:lnTo>
                    <a:pt x="807847" y="807847"/>
                  </a:lnTo>
                  <a:lnTo>
                    <a:pt x="0" y="8078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2537460" y="5651097"/>
            <a:ext cx="6034497" cy="518703"/>
            <a:chOff x="0" y="0"/>
            <a:chExt cx="8045996" cy="69160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046000" cy="691607"/>
            </a:xfrm>
            <a:custGeom>
              <a:avLst/>
              <a:gdLst/>
              <a:ahLst/>
              <a:cxnLst/>
              <a:rect r="r" b="b" t="t" l="l"/>
              <a:pathLst>
                <a:path h="691607" w="8046000">
                  <a:moveTo>
                    <a:pt x="0" y="0"/>
                  </a:moveTo>
                  <a:lnTo>
                    <a:pt x="8046000" y="0"/>
                  </a:lnTo>
                  <a:lnTo>
                    <a:pt x="8046000" y="691607"/>
                  </a:lnTo>
                  <a:lnTo>
                    <a:pt x="0" y="6916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461" r="0" b="-17290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8045996" cy="748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b="true" sz="2599" spc="-1">
                  <a:solidFill>
                    <a:srgbClr val="E5E9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Resume training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537460" y="6144663"/>
            <a:ext cx="6034497" cy="1782540"/>
            <a:chOff x="0" y="0"/>
            <a:chExt cx="8045996" cy="23767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046000" cy="2376724"/>
            </a:xfrm>
            <a:custGeom>
              <a:avLst/>
              <a:gdLst/>
              <a:ahLst/>
              <a:cxnLst/>
              <a:rect r="r" b="b" t="t" l="l"/>
              <a:pathLst>
                <a:path h="2376724" w="8046000">
                  <a:moveTo>
                    <a:pt x="0" y="0"/>
                  </a:moveTo>
                  <a:lnTo>
                    <a:pt x="8046000" y="0"/>
                  </a:lnTo>
                  <a:lnTo>
                    <a:pt x="8046000" y="2376724"/>
                  </a:lnTo>
                  <a:lnTo>
                    <a:pt x="0" y="23767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63" r="0" b="-1596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76200"/>
              <a:ext cx="8045996" cy="2452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63"/>
                </a:lnSpc>
              </a:pPr>
              <a:r>
                <a:rPr lang="en-US" sz="2074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 train.py --resume &lt;checkpoint&gt;.zip --steps N continues the timestep count from the checkpoint; the resume learning rate defaults to 5e-5, overridable with --resume-lr.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395460" y="5349240"/>
            <a:ext cx="8091897" cy="2674077"/>
            <a:chOff x="0" y="0"/>
            <a:chExt cx="10789196" cy="356543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789158" cy="3565398"/>
            </a:xfrm>
            <a:custGeom>
              <a:avLst/>
              <a:gdLst/>
              <a:ahLst/>
              <a:cxnLst/>
              <a:rect r="r" b="b" t="t" l="l"/>
              <a:pathLst>
                <a:path h="3565398" w="1078915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2854" y="0"/>
                  </a:lnTo>
                  <a:cubicBezTo>
                    <a:pt x="10723626" y="0"/>
                    <a:pt x="10789158" y="65532"/>
                    <a:pt x="10789158" y="146304"/>
                  </a:cubicBezTo>
                  <a:lnTo>
                    <a:pt x="10789158" y="3419094"/>
                  </a:lnTo>
                  <a:cubicBezTo>
                    <a:pt x="10789158" y="3499866"/>
                    <a:pt x="10723626" y="3565398"/>
                    <a:pt x="10642854" y="3565398"/>
                  </a:cubicBezTo>
                  <a:lnTo>
                    <a:pt x="146304" y="3565398"/>
                  </a:lnTo>
                  <a:cubicBezTo>
                    <a:pt x="65532" y="3565398"/>
                    <a:pt x="0" y="3499993"/>
                    <a:pt x="0" y="3419094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738360" y="5692140"/>
            <a:ext cx="1165317" cy="1165317"/>
            <a:chOff x="0" y="0"/>
            <a:chExt cx="1553756" cy="155375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553718" cy="1553718"/>
            </a:xfrm>
            <a:custGeom>
              <a:avLst/>
              <a:gdLst/>
              <a:ahLst/>
              <a:cxnLst/>
              <a:rect r="r" b="b" t="t" l="l"/>
              <a:pathLst>
                <a:path h="1553718" w="1553718">
                  <a:moveTo>
                    <a:pt x="0" y="776859"/>
                  </a:moveTo>
                  <a:cubicBezTo>
                    <a:pt x="0" y="347853"/>
                    <a:pt x="347853" y="0"/>
                    <a:pt x="776859" y="0"/>
                  </a:cubicBezTo>
                  <a:cubicBezTo>
                    <a:pt x="1205865" y="0"/>
                    <a:pt x="1553718" y="347853"/>
                    <a:pt x="1553718" y="776859"/>
                  </a:cubicBezTo>
                  <a:cubicBezTo>
                    <a:pt x="1553718" y="1205865"/>
                    <a:pt x="1205865" y="1553718"/>
                    <a:pt x="776859" y="1553718"/>
                  </a:cubicBezTo>
                  <a:cubicBezTo>
                    <a:pt x="347853" y="1553718"/>
                    <a:pt x="0" y="1205992"/>
                    <a:pt x="0" y="776859"/>
                  </a:cubicBez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0018081" y="5971861"/>
            <a:ext cx="605876" cy="605876"/>
            <a:chOff x="0" y="0"/>
            <a:chExt cx="807834" cy="807834"/>
          </a:xfrm>
        </p:grpSpPr>
        <p:sp>
          <p:nvSpPr>
            <p:cNvPr name="Freeform 49" id="49" descr="/tmp/claude-1000/-media-hung-Work-Project-AI-Engineer-RL-contra-PPO/70c7dc7d-8f3f-4139-8f25-95b0e9e6dca5/scratchpad/build/icons/chartline.png"/>
            <p:cNvSpPr/>
            <p:nvPr/>
          </p:nvSpPr>
          <p:spPr>
            <a:xfrm flipH="false" flipV="false" rot="0">
              <a:off x="0" y="0"/>
              <a:ext cx="807847" cy="807847"/>
            </a:xfrm>
            <a:custGeom>
              <a:avLst/>
              <a:gdLst/>
              <a:ahLst/>
              <a:cxnLst/>
              <a:rect r="r" b="b" t="t" l="l"/>
              <a:pathLst>
                <a:path h="807847" w="807847">
                  <a:moveTo>
                    <a:pt x="0" y="0"/>
                  </a:moveTo>
                  <a:lnTo>
                    <a:pt x="807847" y="0"/>
                  </a:lnTo>
                  <a:lnTo>
                    <a:pt x="807847" y="807847"/>
                  </a:lnTo>
                  <a:lnTo>
                    <a:pt x="0" y="8078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1" b="1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1109960" y="5651097"/>
            <a:ext cx="6034497" cy="518703"/>
            <a:chOff x="0" y="0"/>
            <a:chExt cx="8045996" cy="69160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046000" cy="691607"/>
            </a:xfrm>
            <a:custGeom>
              <a:avLst/>
              <a:gdLst/>
              <a:ahLst/>
              <a:cxnLst/>
              <a:rect r="r" b="b" t="t" l="l"/>
              <a:pathLst>
                <a:path h="691607" w="8046000">
                  <a:moveTo>
                    <a:pt x="0" y="0"/>
                  </a:moveTo>
                  <a:lnTo>
                    <a:pt x="8046000" y="0"/>
                  </a:lnTo>
                  <a:lnTo>
                    <a:pt x="8046000" y="691607"/>
                  </a:lnTo>
                  <a:lnTo>
                    <a:pt x="0" y="6916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461" r="0" b="-17290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8045996" cy="748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b="true" sz="2599" spc="-1">
                  <a:solidFill>
                    <a:srgbClr val="E5E9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TensorBoard logging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109960" y="6144663"/>
            <a:ext cx="6034497" cy="1782540"/>
            <a:chOff x="0" y="0"/>
            <a:chExt cx="8045996" cy="23767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046000" cy="2376724"/>
            </a:xfrm>
            <a:custGeom>
              <a:avLst/>
              <a:gdLst/>
              <a:ahLst/>
              <a:cxnLst/>
              <a:rect r="r" b="b" t="t" l="l"/>
              <a:pathLst>
                <a:path h="2376724" w="8046000">
                  <a:moveTo>
                    <a:pt x="0" y="0"/>
                  </a:moveTo>
                  <a:lnTo>
                    <a:pt x="8046000" y="0"/>
                  </a:lnTo>
                  <a:lnTo>
                    <a:pt x="8046000" y="2376724"/>
                  </a:lnTo>
                  <a:lnTo>
                    <a:pt x="0" y="23767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63" r="0" b="-15963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76200"/>
              <a:ext cx="8045996" cy="2452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63"/>
                </a:lnSpc>
              </a:pPr>
              <a:r>
                <a:rPr lang="en-US" sz="2074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VecMonitor + the SB3 logger write rollout/ep_rew_mean, ep_len_mean, train/* (approx_kl, clip_fraction, explained_variance...) to logs/ for each run.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85800" y="9710823"/>
            <a:ext cx="4114257" cy="410937"/>
            <a:chOff x="0" y="0"/>
            <a:chExt cx="5485676" cy="54791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485680" cy="547920"/>
            </a:xfrm>
            <a:custGeom>
              <a:avLst/>
              <a:gdLst/>
              <a:ahLst/>
              <a:cxnLst/>
              <a:rect r="r" b="b" t="t" l="l"/>
              <a:pathLst>
                <a:path h="547920" w="5485680">
                  <a:moveTo>
                    <a:pt x="0" y="0"/>
                  </a:moveTo>
                  <a:lnTo>
                    <a:pt x="5485680" y="0"/>
                  </a:lnTo>
                  <a:lnTo>
                    <a:pt x="5485680" y="547920"/>
                  </a:lnTo>
                  <a:lnTo>
                    <a:pt x="0" y="547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5081" r="0" b="-14508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5485676" cy="5860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Contra-PPO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6911723" y="9710823"/>
            <a:ext cx="822417" cy="410937"/>
            <a:chOff x="0" y="0"/>
            <a:chExt cx="1096556" cy="54791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96560" cy="547920"/>
            </a:xfrm>
            <a:custGeom>
              <a:avLst/>
              <a:gdLst/>
              <a:ahLst/>
              <a:cxnLst/>
              <a:rect r="r" b="b" t="t" l="l"/>
              <a:pathLst>
                <a:path h="547920" w="1096560">
                  <a:moveTo>
                    <a:pt x="0" y="0"/>
                  </a:moveTo>
                  <a:lnTo>
                    <a:pt x="1096560" y="0"/>
                  </a:lnTo>
                  <a:lnTo>
                    <a:pt x="1096560" y="547920"/>
                  </a:lnTo>
                  <a:lnTo>
                    <a:pt x="0" y="547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09" t="0" r="-14109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096556" cy="5860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0972257" cy="410937"/>
            <a:chOff x="0" y="0"/>
            <a:chExt cx="14629676" cy="5479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29681" cy="547920"/>
            </a:xfrm>
            <a:custGeom>
              <a:avLst/>
              <a:gdLst/>
              <a:ahLst/>
              <a:cxnLst/>
              <a:rect r="r" b="b" t="t" l="l"/>
              <a:pathLst>
                <a:path h="547920" w="14629681">
                  <a:moveTo>
                    <a:pt x="0" y="0"/>
                  </a:moveTo>
                  <a:lnTo>
                    <a:pt x="14629681" y="0"/>
                  </a:lnTo>
                  <a:lnTo>
                    <a:pt x="14629681" y="547920"/>
                  </a:lnTo>
                  <a:lnTo>
                    <a:pt x="0" y="547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0258" r="0" b="-47025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29676" cy="5860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8">
                  <a:solidFill>
                    <a:srgbClr val="FFB70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15910017" cy="959577"/>
            <a:chOff x="0" y="0"/>
            <a:chExt cx="21213356" cy="12794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213359" cy="1279440"/>
            </a:xfrm>
            <a:custGeom>
              <a:avLst/>
              <a:gdLst/>
              <a:ahLst/>
              <a:cxnLst/>
              <a:rect r="r" b="b" t="t" l="l"/>
              <a:pathLst>
                <a:path h="1279440" w="21213359">
                  <a:moveTo>
                    <a:pt x="0" y="0"/>
                  </a:moveTo>
                  <a:lnTo>
                    <a:pt x="21213359" y="0"/>
                  </a:lnTo>
                  <a:lnTo>
                    <a:pt x="21213359" y="1279440"/>
                  </a:lnTo>
                  <a:lnTo>
                    <a:pt x="0" y="1279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065" r="0" b="-2730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213356" cy="1298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 spc="-1">
                  <a:solidFill>
                    <a:srgbClr val="E5E9F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Training progress — log PPO_contra_1 (6.62M timesteps)</a:t>
              </a: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64538" y="1412802"/>
            <a:ext cx="11849976" cy="6569316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 rot="0">
            <a:off x="11109960" y="2400300"/>
            <a:ext cx="6349860" cy="1302477"/>
            <a:chOff x="0" y="0"/>
            <a:chExt cx="8466480" cy="17366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466582" cy="1736725"/>
            </a:xfrm>
            <a:custGeom>
              <a:avLst/>
              <a:gdLst/>
              <a:ahLst/>
              <a:cxnLst/>
              <a:rect r="r" b="b" t="t" l="l"/>
              <a:pathLst>
                <a:path h="1736725" w="846658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320278" y="0"/>
                  </a:lnTo>
                  <a:cubicBezTo>
                    <a:pt x="8401050" y="0"/>
                    <a:pt x="8466582" y="65532"/>
                    <a:pt x="8466582" y="146304"/>
                  </a:cubicBezTo>
                  <a:lnTo>
                    <a:pt x="8466582" y="1590421"/>
                  </a:lnTo>
                  <a:cubicBezTo>
                    <a:pt x="8466582" y="1671193"/>
                    <a:pt x="8401050" y="1736725"/>
                    <a:pt x="8320278" y="1736725"/>
                  </a:cubicBezTo>
                  <a:lnTo>
                    <a:pt x="146304" y="1736725"/>
                  </a:lnTo>
                  <a:cubicBezTo>
                    <a:pt x="65532" y="1736598"/>
                    <a:pt x="0" y="1671193"/>
                    <a:pt x="0" y="1590421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452860" y="2509923"/>
            <a:ext cx="2742657" cy="753837"/>
            <a:chOff x="0" y="0"/>
            <a:chExt cx="3656876" cy="10051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56880" cy="1005120"/>
            </a:xfrm>
            <a:custGeom>
              <a:avLst/>
              <a:gdLst/>
              <a:ahLst/>
              <a:cxnLst/>
              <a:rect r="r" b="b" t="t" l="l"/>
              <a:pathLst>
                <a:path h="1005120" w="3656880">
                  <a:moveTo>
                    <a:pt x="0" y="0"/>
                  </a:moveTo>
                  <a:lnTo>
                    <a:pt x="3656880" y="0"/>
                  </a:lnTo>
                  <a:lnTo>
                    <a:pt x="3656880" y="1005120"/>
                  </a:lnTo>
                  <a:lnTo>
                    <a:pt x="0" y="1005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91" r="0" b="-2089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3656876" cy="10051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 spc="-1">
                  <a:solidFill>
                    <a:srgbClr val="06D6A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1.56K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452860" y="3250797"/>
            <a:ext cx="5485857" cy="410937"/>
            <a:chOff x="0" y="0"/>
            <a:chExt cx="7314476" cy="5479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14480" cy="547920"/>
            </a:xfrm>
            <a:custGeom>
              <a:avLst/>
              <a:gdLst/>
              <a:ahLst/>
              <a:cxnLst/>
              <a:rect r="r" b="b" t="t" l="l"/>
              <a:pathLst>
                <a:path h="547920" w="7314480">
                  <a:moveTo>
                    <a:pt x="0" y="0"/>
                  </a:moveTo>
                  <a:lnTo>
                    <a:pt x="7314480" y="0"/>
                  </a:lnTo>
                  <a:lnTo>
                    <a:pt x="7314480" y="547920"/>
                  </a:lnTo>
                  <a:lnTo>
                    <a:pt x="0" y="547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116" r="0" b="-21011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7314476" cy="5669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logged episodes (rollout)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109960" y="3909060"/>
            <a:ext cx="6349860" cy="1302477"/>
            <a:chOff x="0" y="0"/>
            <a:chExt cx="8466480" cy="173663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466582" cy="1736725"/>
            </a:xfrm>
            <a:custGeom>
              <a:avLst/>
              <a:gdLst/>
              <a:ahLst/>
              <a:cxnLst/>
              <a:rect r="r" b="b" t="t" l="l"/>
              <a:pathLst>
                <a:path h="1736725" w="846658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320278" y="0"/>
                  </a:lnTo>
                  <a:cubicBezTo>
                    <a:pt x="8401050" y="0"/>
                    <a:pt x="8466582" y="65532"/>
                    <a:pt x="8466582" y="146304"/>
                  </a:cubicBezTo>
                  <a:lnTo>
                    <a:pt x="8466582" y="1590421"/>
                  </a:lnTo>
                  <a:cubicBezTo>
                    <a:pt x="8466582" y="1671193"/>
                    <a:pt x="8401050" y="1736725"/>
                    <a:pt x="8320278" y="1736725"/>
                  </a:cubicBezTo>
                  <a:lnTo>
                    <a:pt x="146304" y="1736725"/>
                  </a:lnTo>
                  <a:cubicBezTo>
                    <a:pt x="65532" y="1736598"/>
                    <a:pt x="0" y="1671193"/>
                    <a:pt x="0" y="1590421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452860" y="4018683"/>
            <a:ext cx="2742657" cy="753837"/>
            <a:chOff x="0" y="0"/>
            <a:chExt cx="3656876" cy="100511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56880" cy="1005120"/>
            </a:xfrm>
            <a:custGeom>
              <a:avLst/>
              <a:gdLst/>
              <a:ahLst/>
              <a:cxnLst/>
              <a:rect r="r" b="b" t="t" l="l"/>
              <a:pathLst>
                <a:path h="1005120" w="3656880">
                  <a:moveTo>
                    <a:pt x="0" y="0"/>
                  </a:moveTo>
                  <a:lnTo>
                    <a:pt x="3656880" y="0"/>
                  </a:lnTo>
                  <a:lnTo>
                    <a:pt x="3656880" y="1005120"/>
                  </a:lnTo>
                  <a:lnTo>
                    <a:pt x="0" y="1005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91" r="0" b="-2089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3656876" cy="10051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 spc="-1">
                  <a:solidFill>
                    <a:srgbClr val="06D6A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6.62M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452860" y="4759557"/>
            <a:ext cx="5485857" cy="410937"/>
            <a:chOff x="0" y="0"/>
            <a:chExt cx="7314476" cy="5479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14480" cy="547920"/>
            </a:xfrm>
            <a:custGeom>
              <a:avLst/>
              <a:gdLst/>
              <a:ahLst/>
              <a:cxnLst/>
              <a:rect r="r" b="b" t="t" l="l"/>
              <a:pathLst>
                <a:path h="547920" w="7314480">
                  <a:moveTo>
                    <a:pt x="0" y="0"/>
                  </a:moveTo>
                  <a:lnTo>
                    <a:pt x="7314480" y="0"/>
                  </a:lnTo>
                  <a:lnTo>
                    <a:pt x="7314480" y="547920"/>
                  </a:lnTo>
                  <a:lnTo>
                    <a:pt x="0" y="547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116" r="0" b="-21011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7314476" cy="5669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training timesteps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109960" y="5417820"/>
            <a:ext cx="6349860" cy="1302477"/>
            <a:chOff x="0" y="0"/>
            <a:chExt cx="8466480" cy="173663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466582" cy="1736725"/>
            </a:xfrm>
            <a:custGeom>
              <a:avLst/>
              <a:gdLst/>
              <a:ahLst/>
              <a:cxnLst/>
              <a:rect r="r" b="b" t="t" l="l"/>
              <a:pathLst>
                <a:path h="1736725" w="846658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320278" y="0"/>
                  </a:lnTo>
                  <a:cubicBezTo>
                    <a:pt x="8401050" y="0"/>
                    <a:pt x="8466582" y="65532"/>
                    <a:pt x="8466582" y="146304"/>
                  </a:cubicBezTo>
                  <a:lnTo>
                    <a:pt x="8466582" y="1590421"/>
                  </a:lnTo>
                  <a:cubicBezTo>
                    <a:pt x="8466582" y="1671193"/>
                    <a:pt x="8401050" y="1736725"/>
                    <a:pt x="8320278" y="1736725"/>
                  </a:cubicBezTo>
                  <a:lnTo>
                    <a:pt x="146304" y="1736725"/>
                  </a:lnTo>
                  <a:cubicBezTo>
                    <a:pt x="65532" y="1736598"/>
                    <a:pt x="0" y="1671193"/>
                    <a:pt x="0" y="1590421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1452860" y="5527443"/>
            <a:ext cx="2742657" cy="753837"/>
            <a:chOff x="0" y="0"/>
            <a:chExt cx="3656876" cy="100511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656880" cy="1005120"/>
            </a:xfrm>
            <a:custGeom>
              <a:avLst/>
              <a:gdLst/>
              <a:ahLst/>
              <a:cxnLst/>
              <a:rect r="r" b="b" t="t" l="l"/>
              <a:pathLst>
                <a:path h="1005120" w="3656880">
                  <a:moveTo>
                    <a:pt x="0" y="0"/>
                  </a:moveTo>
                  <a:lnTo>
                    <a:pt x="3656880" y="0"/>
                  </a:lnTo>
                  <a:lnTo>
                    <a:pt x="3656880" y="1005120"/>
                  </a:lnTo>
                  <a:lnTo>
                    <a:pt x="0" y="1005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91" r="0" b="-2089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3656876" cy="10051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 spc="-1">
                  <a:solidFill>
                    <a:srgbClr val="06D6A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+933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452860" y="6268317"/>
            <a:ext cx="5485857" cy="410937"/>
            <a:chOff x="0" y="0"/>
            <a:chExt cx="7314476" cy="54791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314480" cy="547920"/>
            </a:xfrm>
            <a:custGeom>
              <a:avLst/>
              <a:gdLst/>
              <a:ahLst/>
              <a:cxnLst/>
              <a:rect r="r" b="b" t="t" l="l"/>
              <a:pathLst>
                <a:path h="547920" w="7314480">
                  <a:moveTo>
                    <a:pt x="0" y="0"/>
                  </a:moveTo>
                  <a:lnTo>
                    <a:pt x="7314480" y="0"/>
                  </a:lnTo>
                  <a:lnTo>
                    <a:pt x="7314480" y="547920"/>
                  </a:lnTo>
                  <a:lnTo>
                    <a:pt x="0" y="547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116" r="0" b="-21011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7314476" cy="5669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ep_rew_mean at end of log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34983" y="6943858"/>
            <a:ext cx="3565617" cy="3343142"/>
            <a:chOff x="0" y="0"/>
            <a:chExt cx="4754156" cy="4457522"/>
          </a:xfrm>
        </p:grpSpPr>
        <p:sp>
          <p:nvSpPr>
            <p:cNvPr name="Freeform 34" id="34" descr="/tmp/claude-1000/-media-hung-Work-Project-AI-Engineer-RL-contra-PPO/70c7dc7d-8f3f-4139-8f25-95b0e9e6dca5/scratchpad/frames/1m_frame.png"/>
            <p:cNvSpPr/>
            <p:nvPr/>
          </p:nvSpPr>
          <p:spPr>
            <a:xfrm flipH="false" flipV="false" rot="0">
              <a:off x="0" y="0"/>
              <a:ext cx="4754118" cy="4457573"/>
            </a:xfrm>
            <a:custGeom>
              <a:avLst/>
              <a:gdLst/>
              <a:ahLst/>
              <a:cxnLst/>
              <a:rect r="r" b="b" t="t" l="l"/>
              <a:pathLst>
                <a:path h="4457573" w="4754118">
                  <a:moveTo>
                    <a:pt x="0" y="0"/>
                  </a:moveTo>
                  <a:lnTo>
                    <a:pt x="4754118" y="0"/>
                  </a:lnTo>
                  <a:lnTo>
                    <a:pt x="4754118" y="4457573"/>
                  </a:lnTo>
                  <a:lnTo>
                    <a:pt x="0" y="44575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" t="0" r="-6" b="1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22960" y="11921576"/>
            <a:ext cx="3908517" cy="342357"/>
            <a:chOff x="0" y="0"/>
            <a:chExt cx="5211356" cy="45647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211360" cy="456480"/>
            </a:xfrm>
            <a:custGeom>
              <a:avLst/>
              <a:gdLst/>
              <a:ahLst/>
              <a:cxnLst/>
              <a:rect r="r" b="b" t="t" l="l"/>
              <a:pathLst>
                <a:path h="456480" w="5211360">
                  <a:moveTo>
                    <a:pt x="0" y="0"/>
                  </a:moveTo>
                  <a:lnTo>
                    <a:pt x="5211360" y="0"/>
                  </a:lnTo>
                  <a:lnTo>
                    <a:pt x="5211360" y="456480"/>
                  </a:lnTo>
                  <a:lnTo>
                    <a:pt x="0" y="45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449" r="0" b="-17244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211356" cy="4945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~1M steps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349783" y="7200900"/>
            <a:ext cx="3291840" cy="3086100"/>
            <a:chOff x="0" y="0"/>
            <a:chExt cx="4389120" cy="4114800"/>
          </a:xfrm>
        </p:grpSpPr>
        <p:sp>
          <p:nvSpPr>
            <p:cNvPr name="Freeform 39" id="39" descr="/tmp/claude-1000/-media-hung-Work-Project-AI-Engineer-RL-contra-PPO/70c7dc7d-8f3f-4139-8f25-95b0e9e6dca5/scratchpad/frames/4m_frame.png"/>
            <p:cNvSpPr/>
            <p:nvPr/>
          </p:nvSpPr>
          <p:spPr>
            <a:xfrm flipH="false" flipV="false" rot="0">
              <a:off x="0" y="0"/>
              <a:ext cx="4389120" cy="4114800"/>
            </a:xfrm>
            <a:custGeom>
              <a:avLst/>
              <a:gdLst/>
              <a:ahLst/>
              <a:cxnLst/>
              <a:rect r="r" b="b" t="t" l="l"/>
              <a:pathLst>
                <a:path h="41148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074920" y="11921576"/>
            <a:ext cx="3908517" cy="342357"/>
            <a:chOff x="0" y="0"/>
            <a:chExt cx="5211356" cy="45647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211360" cy="456480"/>
            </a:xfrm>
            <a:custGeom>
              <a:avLst/>
              <a:gdLst/>
              <a:ahLst/>
              <a:cxnLst/>
              <a:rect r="r" b="b" t="t" l="l"/>
              <a:pathLst>
                <a:path h="456480" w="5211360">
                  <a:moveTo>
                    <a:pt x="0" y="0"/>
                  </a:moveTo>
                  <a:lnTo>
                    <a:pt x="5211360" y="0"/>
                  </a:lnTo>
                  <a:lnTo>
                    <a:pt x="5211360" y="456480"/>
                  </a:lnTo>
                  <a:lnTo>
                    <a:pt x="0" y="45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449" r="0" b="-17244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5211356" cy="4945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~4M steps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601200" y="7072379"/>
            <a:ext cx="3429000" cy="3214621"/>
            <a:chOff x="0" y="0"/>
            <a:chExt cx="4572000" cy="4286161"/>
          </a:xfrm>
        </p:grpSpPr>
        <p:sp>
          <p:nvSpPr>
            <p:cNvPr name="Freeform 44" id="44" descr="/tmp/claude-1000/-media-hung-Work-Project-AI-Engineer-RL-contra-PPO/70c7dc7d-8f3f-4139-8f25-95b0e9e6dca5/scratchpad/frames/final_frame.png"/>
            <p:cNvSpPr/>
            <p:nvPr/>
          </p:nvSpPr>
          <p:spPr>
            <a:xfrm flipH="false" flipV="false" rot="0">
              <a:off x="0" y="0"/>
              <a:ext cx="4572000" cy="4286123"/>
            </a:xfrm>
            <a:custGeom>
              <a:avLst/>
              <a:gdLst/>
              <a:ahLst/>
              <a:cxnLst/>
              <a:rect r="r" b="b" t="t" l="l"/>
              <a:pathLst>
                <a:path h="4286123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4286123"/>
                  </a:lnTo>
                  <a:lnTo>
                    <a:pt x="0" y="42861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" r="0" b="-1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326880" y="11921576"/>
            <a:ext cx="3908517" cy="342357"/>
            <a:chOff x="0" y="0"/>
            <a:chExt cx="5211356" cy="45647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211360" cy="456480"/>
            </a:xfrm>
            <a:custGeom>
              <a:avLst/>
              <a:gdLst/>
              <a:ahLst/>
              <a:cxnLst/>
              <a:rect r="r" b="b" t="t" l="l"/>
              <a:pathLst>
                <a:path h="456480" w="5211360">
                  <a:moveTo>
                    <a:pt x="0" y="0"/>
                  </a:moveTo>
                  <a:lnTo>
                    <a:pt x="5211360" y="0"/>
                  </a:lnTo>
                  <a:lnTo>
                    <a:pt x="5211360" y="456480"/>
                  </a:lnTo>
                  <a:lnTo>
                    <a:pt x="0" y="45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449" r="0" b="-172448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5211356" cy="4945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Final best model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582650" y="7987122"/>
            <a:ext cx="3977097" cy="1919700"/>
            <a:chOff x="0" y="0"/>
            <a:chExt cx="5302796" cy="25596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302800" cy="2559604"/>
            </a:xfrm>
            <a:custGeom>
              <a:avLst/>
              <a:gdLst/>
              <a:ahLst/>
              <a:cxnLst/>
              <a:rect r="r" b="b" t="t" l="l"/>
              <a:pathLst>
                <a:path h="2559604" w="5302800">
                  <a:moveTo>
                    <a:pt x="0" y="0"/>
                  </a:moveTo>
                  <a:lnTo>
                    <a:pt x="5302800" y="0"/>
                  </a:lnTo>
                  <a:lnTo>
                    <a:pt x="5302800" y="2559604"/>
                  </a:lnTo>
                  <a:lnTo>
                    <a:pt x="0" y="25596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930" t="0" r="-11930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76200"/>
              <a:ext cx="5302796" cy="2635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4"/>
                </a:lnSpc>
              </a:pPr>
              <a:r>
                <a:rPr lang="en-US" sz="1749" i="true" spc="-1">
                  <a:solidFill>
                    <a:srgbClr val="9AA6C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Frame taken from video/*.mp4 (synchronized evaluation, see training_progress_comparison.gif)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6911723" y="9710823"/>
            <a:ext cx="822417" cy="410937"/>
            <a:chOff x="0" y="0"/>
            <a:chExt cx="1096556" cy="54791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96560" cy="547920"/>
            </a:xfrm>
            <a:custGeom>
              <a:avLst/>
              <a:gdLst/>
              <a:ahLst/>
              <a:cxnLst/>
              <a:rect r="r" b="b" t="t" l="l"/>
              <a:pathLst>
                <a:path h="547920" w="1096560">
                  <a:moveTo>
                    <a:pt x="0" y="0"/>
                  </a:moveTo>
                  <a:lnTo>
                    <a:pt x="1096560" y="0"/>
                  </a:lnTo>
                  <a:lnTo>
                    <a:pt x="1096560" y="547920"/>
                  </a:lnTo>
                  <a:lnTo>
                    <a:pt x="0" y="547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09" t="0" r="-14109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096556" cy="5860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0972257" cy="410937"/>
            <a:chOff x="0" y="0"/>
            <a:chExt cx="14629676" cy="5479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29681" cy="547920"/>
            </a:xfrm>
            <a:custGeom>
              <a:avLst/>
              <a:gdLst/>
              <a:ahLst/>
              <a:cxnLst/>
              <a:rect r="r" b="b" t="t" l="l"/>
              <a:pathLst>
                <a:path h="547920" w="14629681">
                  <a:moveTo>
                    <a:pt x="0" y="0"/>
                  </a:moveTo>
                  <a:lnTo>
                    <a:pt x="14629681" y="0"/>
                  </a:lnTo>
                  <a:lnTo>
                    <a:pt x="14629681" y="547920"/>
                  </a:lnTo>
                  <a:lnTo>
                    <a:pt x="0" y="547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0258" r="0" b="-47025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29676" cy="5860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8">
                  <a:solidFill>
                    <a:srgbClr val="FFB70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850497"/>
            <a:ext cx="15910017" cy="959577"/>
            <a:chOff x="0" y="0"/>
            <a:chExt cx="21213356" cy="12794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213359" cy="1279440"/>
            </a:xfrm>
            <a:custGeom>
              <a:avLst/>
              <a:gdLst/>
              <a:ahLst/>
              <a:cxnLst/>
              <a:rect r="r" b="b" t="t" l="l"/>
              <a:pathLst>
                <a:path h="1279440" w="21213359">
                  <a:moveTo>
                    <a:pt x="0" y="0"/>
                  </a:moveTo>
                  <a:lnTo>
                    <a:pt x="21213359" y="0"/>
                  </a:lnTo>
                  <a:lnTo>
                    <a:pt x="21213359" y="1279440"/>
                  </a:lnTo>
                  <a:lnTo>
                    <a:pt x="0" y="1279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065" r="0" b="-2730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213356" cy="1298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 spc="-1">
                  <a:solidFill>
                    <a:srgbClr val="E5E9F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Results achieved &amp; directions for improvement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400300"/>
            <a:ext cx="8091897" cy="6308817"/>
            <a:chOff x="0" y="0"/>
            <a:chExt cx="10789196" cy="84117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89286" cy="8411845"/>
            </a:xfrm>
            <a:custGeom>
              <a:avLst/>
              <a:gdLst/>
              <a:ahLst/>
              <a:cxnLst/>
              <a:rect r="r" b="b" t="t" l="l"/>
              <a:pathLst>
                <a:path h="8411845" w="1078928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2981" y="0"/>
                  </a:lnTo>
                  <a:cubicBezTo>
                    <a:pt x="10723753" y="0"/>
                    <a:pt x="10789286" y="65532"/>
                    <a:pt x="10789286" y="146304"/>
                  </a:cubicBezTo>
                  <a:lnTo>
                    <a:pt x="10789286" y="8265541"/>
                  </a:lnTo>
                  <a:cubicBezTo>
                    <a:pt x="10789286" y="8346313"/>
                    <a:pt x="10723753" y="8411845"/>
                    <a:pt x="10642981" y="8411845"/>
                  </a:cubicBezTo>
                  <a:lnTo>
                    <a:pt x="146304" y="8411845"/>
                  </a:lnTo>
                  <a:cubicBezTo>
                    <a:pt x="65532" y="8411718"/>
                    <a:pt x="0" y="8346313"/>
                    <a:pt x="0" y="8265541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2743200"/>
            <a:ext cx="1096737" cy="1096737"/>
            <a:chOff x="0" y="0"/>
            <a:chExt cx="1462316" cy="14623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2278" cy="1462278"/>
            </a:xfrm>
            <a:custGeom>
              <a:avLst/>
              <a:gdLst/>
              <a:ahLst/>
              <a:cxnLst/>
              <a:rect r="r" b="b" t="t" l="l"/>
              <a:pathLst>
                <a:path h="1462278" w="1462278">
                  <a:moveTo>
                    <a:pt x="0" y="731139"/>
                  </a:moveTo>
                  <a:cubicBezTo>
                    <a:pt x="0" y="327406"/>
                    <a:pt x="327406" y="0"/>
                    <a:pt x="731139" y="0"/>
                  </a:cubicBezTo>
                  <a:cubicBezTo>
                    <a:pt x="1134872" y="0"/>
                    <a:pt x="1462278" y="327406"/>
                    <a:pt x="1462278" y="731139"/>
                  </a:cubicBezTo>
                  <a:cubicBezTo>
                    <a:pt x="1462278" y="1134872"/>
                    <a:pt x="1134872" y="1462278"/>
                    <a:pt x="731139" y="1462278"/>
                  </a:cubicBezTo>
                  <a:cubicBezTo>
                    <a:pt x="327406" y="1462278"/>
                    <a:pt x="0" y="1134999"/>
                    <a:pt x="0" y="731139"/>
                  </a:cubicBez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97959" y="3006719"/>
            <a:ext cx="570243" cy="570243"/>
            <a:chOff x="0" y="0"/>
            <a:chExt cx="760324" cy="760324"/>
          </a:xfrm>
        </p:grpSpPr>
        <p:sp>
          <p:nvSpPr>
            <p:cNvPr name="Freeform 13" id="13" descr="/tmp/claude-1000/-media-hung-Work-Project-AI-Engineer-RL-contra-PPO/70c7dc7d-8f3f-4139-8f25-95b0e9e6dca5/scratchpad/build/icons/trophy.png"/>
            <p:cNvSpPr/>
            <p:nvPr/>
          </p:nvSpPr>
          <p:spPr>
            <a:xfrm flipH="false" flipV="false" rot="0">
              <a:off x="0" y="0"/>
              <a:ext cx="760349" cy="760349"/>
            </a:xfrm>
            <a:custGeom>
              <a:avLst/>
              <a:gdLst/>
              <a:ahLst/>
              <a:cxnLst/>
              <a:rect r="r" b="b" t="t" l="l"/>
              <a:pathLst>
                <a:path h="760349" w="760349">
                  <a:moveTo>
                    <a:pt x="0" y="0"/>
                  </a:moveTo>
                  <a:lnTo>
                    <a:pt x="760349" y="0"/>
                  </a:lnTo>
                  <a:lnTo>
                    <a:pt x="760349" y="760349"/>
                  </a:lnTo>
                  <a:lnTo>
                    <a:pt x="0" y="7603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561779" y="3006719"/>
            <a:ext cx="5485857" cy="595572"/>
            <a:chOff x="0" y="0"/>
            <a:chExt cx="7314476" cy="7940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14480" cy="794100"/>
            </a:xfrm>
            <a:custGeom>
              <a:avLst/>
              <a:gdLst/>
              <a:ahLst/>
              <a:cxnLst/>
              <a:rect r="r" b="b" t="t" l="l"/>
              <a:pathLst>
                <a:path h="794100" w="7314480">
                  <a:moveTo>
                    <a:pt x="0" y="0"/>
                  </a:moveTo>
                  <a:lnTo>
                    <a:pt x="7314480" y="0"/>
                  </a:lnTo>
                  <a:lnTo>
                    <a:pt x="7314480" y="794100"/>
                  </a:lnTo>
                  <a:lnTo>
                    <a:pt x="0" y="794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463" r="0" b="-12549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7314476" cy="8512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b="true" sz="2999" spc="-1">
                  <a:solidFill>
                    <a:srgbClr val="06D6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Achieved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34440" y="4841643"/>
            <a:ext cx="123120" cy="123120"/>
            <a:chOff x="0" y="0"/>
            <a:chExt cx="164160" cy="1641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4084" cy="164084"/>
            </a:xfrm>
            <a:custGeom>
              <a:avLst/>
              <a:gdLst/>
              <a:ahLst/>
              <a:cxnLst/>
              <a:rect r="r" b="b" t="t" l="l"/>
              <a:pathLst>
                <a:path h="164084" w="164084">
                  <a:moveTo>
                    <a:pt x="0" y="82042"/>
                  </a:moveTo>
                  <a:cubicBezTo>
                    <a:pt x="0" y="36703"/>
                    <a:pt x="36703" y="0"/>
                    <a:pt x="82042" y="0"/>
                  </a:cubicBezTo>
                  <a:cubicBezTo>
                    <a:pt x="127381" y="0"/>
                    <a:pt x="164084" y="36703"/>
                    <a:pt x="164084" y="82042"/>
                  </a:cubicBezTo>
                  <a:cubicBezTo>
                    <a:pt x="164084" y="127381"/>
                    <a:pt x="127381" y="164084"/>
                    <a:pt x="82042" y="164084"/>
                  </a:cubicBezTo>
                  <a:cubicBezTo>
                    <a:pt x="36703" y="164084"/>
                    <a:pt x="0" y="127381"/>
                    <a:pt x="0" y="82042"/>
                  </a:cubicBezTo>
                  <a:close/>
                </a:path>
              </a:pathLst>
            </a:custGeom>
            <a:solidFill>
              <a:srgbClr val="06D6A0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577340" y="4554693"/>
            <a:ext cx="6926037" cy="842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8"/>
              </a:lnSpc>
            </a:pPr>
            <a:r>
              <a:rPr lang="en-US" sz="2324" spc="-2">
                <a:solidFill>
                  <a:srgbClr val="E5E9F0"/>
                </a:solidFill>
                <a:latin typeface="Calibri (MS)"/>
                <a:ea typeface="Calibri (MS)"/>
                <a:cs typeface="Calibri (MS)"/>
                <a:sym typeface="Calibri (MS)"/>
              </a:rPr>
              <a:t>Complete Gymnasium + SB3 pipeline: env, wrapper, train, eval, resume.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34440" y="5829310"/>
            <a:ext cx="123120" cy="123120"/>
            <a:chOff x="0" y="0"/>
            <a:chExt cx="164160" cy="1641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4084" cy="164084"/>
            </a:xfrm>
            <a:custGeom>
              <a:avLst/>
              <a:gdLst/>
              <a:ahLst/>
              <a:cxnLst/>
              <a:rect r="r" b="b" t="t" l="l"/>
              <a:pathLst>
                <a:path h="164084" w="164084">
                  <a:moveTo>
                    <a:pt x="0" y="82042"/>
                  </a:moveTo>
                  <a:cubicBezTo>
                    <a:pt x="0" y="36703"/>
                    <a:pt x="36703" y="0"/>
                    <a:pt x="82042" y="0"/>
                  </a:cubicBezTo>
                  <a:cubicBezTo>
                    <a:pt x="127381" y="0"/>
                    <a:pt x="164084" y="36703"/>
                    <a:pt x="164084" y="82042"/>
                  </a:cubicBezTo>
                  <a:cubicBezTo>
                    <a:pt x="164084" y="127381"/>
                    <a:pt x="127381" y="164084"/>
                    <a:pt x="82042" y="164084"/>
                  </a:cubicBezTo>
                  <a:cubicBezTo>
                    <a:pt x="36703" y="164084"/>
                    <a:pt x="0" y="127381"/>
                    <a:pt x="0" y="82042"/>
                  </a:cubicBezTo>
                  <a:close/>
                </a:path>
              </a:pathLst>
            </a:custGeom>
            <a:solidFill>
              <a:srgbClr val="06D6A0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577340" y="5542359"/>
            <a:ext cx="6926037" cy="842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8"/>
              </a:lnSpc>
            </a:pPr>
            <a:r>
              <a:rPr lang="en-US" sz="2324" spc="-2">
                <a:solidFill>
                  <a:srgbClr val="E5E9F0"/>
                </a:solidFill>
                <a:latin typeface="Calibri (MS)"/>
                <a:ea typeface="Calibri (MS)"/>
                <a:cs typeface="Calibri (MS)"/>
                <a:sym typeface="Calibri (MS)"/>
              </a:rPr>
              <a:t>A multi-component reward function that effectively curbs backing up/standing still/farming score.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34440" y="6816966"/>
            <a:ext cx="123120" cy="123120"/>
            <a:chOff x="0" y="0"/>
            <a:chExt cx="164160" cy="1641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4084" cy="164084"/>
            </a:xfrm>
            <a:custGeom>
              <a:avLst/>
              <a:gdLst/>
              <a:ahLst/>
              <a:cxnLst/>
              <a:rect r="r" b="b" t="t" l="l"/>
              <a:pathLst>
                <a:path h="164084" w="164084">
                  <a:moveTo>
                    <a:pt x="0" y="82042"/>
                  </a:moveTo>
                  <a:cubicBezTo>
                    <a:pt x="0" y="36703"/>
                    <a:pt x="36703" y="0"/>
                    <a:pt x="82042" y="0"/>
                  </a:cubicBezTo>
                  <a:cubicBezTo>
                    <a:pt x="127381" y="0"/>
                    <a:pt x="164084" y="36703"/>
                    <a:pt x="164084" y="82042"/>
                  </a:cubicBezTo>
                  <a:cubicBezTo>
                    <a:pt x="164084" y="127381"/>
                    <a:pt x="127381" y="164084"/>
                    <a:pt x="82042" y="164084"/>
                  </a:cubicBezTo>
                  <a:cubicBezTo>
                    <a:pt x="36703" y="164084"/>
                    <a:pt x="0" y="127381"/>
                    <a:pt x="0" y="82042"/>
                  </a:cubicBezTo>
                  <a:close/>
                </a:path>
              </a:pathLst>
            </a:custGeom>
            <a:solidFill>
              <a:srgbClr val="06D6A0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577340" y="6529473"/>
            <a:ext cx="6926037" cy="842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8"/>
              </a:lnSpc>
            </a:pPr>
            <a:r>
              <a:rPr lang="en-US" sz="2324" spc="-2">
                <a:solidFill>
                  <a:srgbClr val="E5E9F0"/>
                </a:solidFill>
                <a:latin typeface="Calibri (MS)"/>
                <a:ea typeface="Calibri (MS)"/>
                <a:cs typeface="Calibri (MS)"/>
                <a:sym typeface="Calibri (MS)"/>
              </a:rPr>
              <a:t>Robust-best evaluation picks a stable checkpoint instead of a lucky one.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34440" y="7804623"/>
            <a:ext cx="123120" cy="123120"/>
            <a:chOff x="0" y="0"/>
            <a:chExt cx="164160" cy="1641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4084" cy="164084"/>
            </a:xfrm>
            <a:custGeom>
              <a:avLst/>
              <a:gdLst/>
              <a:ahLst/>
              <a:cxnLst/>
              <a:rect r="r" b="b" t="t" l="l"/>
              <a:pathLst>
                <a:path h="164084" w="164084">
                  <a:moveTo>
                    <a:pt x="0" y="82042"/>
                  </a:moveTo>
                  <a:cubicBezTo>
                    <a:pt x="0" y="36703"/>
                    <a:pt x="36703" y="0"/>
                    <a:pt x="82042" y="0"/>
                  </a:cubicBezTo>
                  <a:cubicBezTo>
                    <a:pt x="127381" y="0"/>
                    <a:pt x="164084" y="36703"/>
                    <a:pt x="164084" y="82042"/>
                  </a:cubicBezTo>
                  <a:cubicBezTo>
                    <a:pt x="164084" y="127381"/>
                    <a:pt x="127381" y="164084"/>
                    <a:pt x="82042" y="164084"/>
                  </a:cubicBezTo>
                  <a:cubicBezTo>
                    <a:pt x="36703" y="164084"/>
                    <a:pt x="0" y="127381"/>
                    <a:pt x="0" y="82042"/>
                  </a:cubicBezTo>
                  <a:close/>
                </a:path>
              </a:pathLst>
            </a:custGeom>
            <a:solidFill>
              <a:srgbClr val="06D6A0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577340" y="7517140"/>
            <a:ext cx="6926037" cy="842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8"/>
              </a:lnSpc>
            </a:pPr>
            <a:r>
              <a:rPr lang="en-US" sz="2324" spc="-2">
                <a:solidFill>
                  <a:srgbClr val="E5E9F0"/>
                </a:solidFill>
                <a:latin typeface="Calibri (MS)"/>
                <a:ea typeface="Calibri (MS)"/>
                <a:cs typeface="Calibri (MS)"/>
                <a:sym typeface="Calibri (MS)"/>
              </a:rPr>
              <a:t>The agent clearly improves over timesteps: ep_rew_mean rises from ~587 (0.5M) to ~933 (6.6M).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367923" y="2400300"/>
            <a:ext cx="8091897" cy="6308817"/>
            <a:chOff x="0" y="0"/>
            <a:chExt cx="10789196" cy="84117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89286" cy="8411845"/>
            </a:xfrm>
            <a:custGeom>
              <a:avLst/>
              <a:gdLst/>
              <a:ahLst/>
              <a:cxnLst/>
              <a:rect r="r" b="b" t="t" l="l"/>
              <a:pathLst>
                <a:path h="8411845" w="1078928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2981" y="0"/>
                  </a:lnTo>
                  <a:cubicBezTo>
                    <a:pt x="10723753" y="0"/>
                    <a:pt x="10789286" y="65532"/>
                    <a:pt x="10789286" y="146304"/>
                  </a:cubicBezTo>
                  <a:lnTo>
                    <a:pt x="10789286" y="8265541"/>
                  </a:lnTo>
                  <a:cubicBezTo>
                    <a:pt x="10789286" y="8346313"/>
                    <a:pt x="10723753" y="8411845"/>
                    <a:pt x="10642981" y="8411845"/>
                  </a:cubicBezTo>
                  <a:lnTo>
                    <a:pt x="146304" y="8411845"/>
                  </a:lnTo>
                  <a:cubicBezTo>
                    <a:pt x="65532" y="8411718"/>
                    <a:pt x="0" y="8346313"/>
                    <a:pt x="0" y="8265541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779403" y="2743200"/>
            <a:ext cx="1096737" cy="1096737"/>
            <a:chOff x="0" y="0"/>
            <a:chExt cx="1462316" cy="146231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62278" cy="1462278"/>
            </a:xfrm>
            <a:custGeom>
              <a:avLst/>
              <a:gdLst/>
              <a:ahLst/>
              <a:cxnLst/>
              <a:rect r="r" b="b" t="t" l="l"/>
              <a:pathLst>
                <a:path h="1462278" w="1462278">
                  <a:moveTo>
                    <a:pt x="0" y="731139"/>
                  </a:moveTo>
                  <a:cubicBezTo>
                    <a:pt x="0" y="327406"/>
                    <a:pt x="327406" y="0"/>
                    <a:pt x="731139" y="0"/>
                  </a:cubicBezTo>
                  <a:cubicBezTo>
                    <a:pt x="1134872" y="0"/>
                    <a:pt x="1462278" y="327406"/>
                    <a:pt x="1462278" y="731139"/>
                  </a:cubicBezTo>
                  <a:cubicBezTo>
                    <a:pt x="1462278" y="1134872"/>
                    <a:pt x="1134872" y="1462278"/>
                    <a:pt x="731139" y="1462278"/>
                  </a:cubicBezTo>
                  <a:cubicBezTo>
                    <a:pt x="327406" y="1462278"/>
                    <a:pt x="0" y="1134999"/>
                    <a:pt x="0" y="731139"/>
                  </a:cubicBez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042922" y="3006719"/>
            <a:ext cx="570243" cy="570243"/>
            <a:chOff x="0" y="0"/>
            <a:chExt cx="760324" cy="760324"/>
          </a:xfrm>
        </p:grpSpPr>
        <p:sp>
          <p:nvSpPr>
            <p:cNvPr name="Freeform 34" id="34" descr="/tmp/claude-1000/-media-hung-Work-Project-AI-Engineer-RL-contra-PPO/70c7dc7d-8f3f-4139-8f25-95b0e9e6dca5/scratchpad/build/icons/lightbulb.png"/>
            <p:cNvSpPr/>
            <p:nvPr/>
          </p:nvSpPr>
          <p:spPr>
            <a:xfrm flipH="false" flipV="false" rot="0">
              <a:off x="0" y="0"/>
              <a:ext cx="760349" cy="760349"/>
            </a:xfrm>
            <a:custGeom>
              <a:avLst/>
              <a:gdLst/>
              <a:ahLst/>
              <a:cxnLst/>
              <a:rect r="r" b="b" t="t" l="l"/>
              <a:pathLst>
                <a:path h="760349" w="760349">
                  <a:moveTo>
                    <a:pt x="0" y="0"/>
                  </a:moveTo>
                  <a:lnTo>
                    <a:pt x="760349" y="0"/>
                  </a:lnTo>
                  <a:lnTo>
                    <a:pt x="760349" y="760349"/>
                  </a:lnTo>
                  <a:lnTo>
                    <a:pt x="0" y="7603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3" b="3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104740" y="3006719"/>
            <a:ext cx="5485857" cy="595572"/>
            <a:chOff x="0" y="0"/>
            <a:chExt cx="7314476" cy="79409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14480" cy="794100"/>
            </a:xfrm>
            <a:custGeom>
              <a:avLst/>
              <a:gdLst/>
              <a:ahLst/>
              <a:cxnLst/>
              <a:rect r="r" b="b" t="t" l="l"/>
              <a:pathLst>
                <a:path h="794100" w="7314480">
                  <a:moveTo>
                    <a:pt x="0" y="0"/>
                  </a:moveTo>
                  <a:lnTo>
                    <a:pt x="7314480" y="0"/>
                  </a:lnTo>
                  <a:lnTo>
                    <a:pt x="7314480" y="794100"/>
                  </a:lnTo>
                  <a:lnTo>
                    <a:pt x="0" y="794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463" r="0" b="-12549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7314476" cy="8512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b="true" sz="2999" spc="-1">
                  <a:solidFill>
                    <a:srgbClr val="FFB70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Directions for improvement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779403" y="4838338"/>
            <a:ext cx="123120" cy="123120"/>
            <a:chOff x="0" y="0"/>
            <a:chExt cx="164160" cy="1641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64084" cy="164084"/>
            </a:xfrm>
            <a:custGeom>
              <a:avLst/>
              <a:gdLst/>
              <a:ahLst/>
              <a:cxnLst/>
              <a:rect r="r" b="b" t="t" l="l"/>
              <a:pathLst>
                <a:path h="164084" w="164084">
                  <a:moveTo>
                    <a:pt x="0" y="82042"/>
                  </a:moveTo>
                  <a:cubicBezTo>
                    <a:pt x="0" y="36703"/>
                    <a:pt x="36703" y="0"/>
                    <a:pt x="82042" y="0"/>
                  </a:cubicBezTo>
                  <a:cubicBezTo>
                    <a:pt x="127381" y="0"/>
                    <a:pt x="164084" y="36703"/>
                    <a:pt x="164084" y="82042"/>
                  </a:cubicBezTo>
                  <a:cubicBezTo>
                    <a:pt x="164084" y="127381"/>
                    <a:pt x="127381" y="164084"/>
                    <a:pt x="82042" y="164084"/>
                  </a:cubicBezTo>
                  <a:cubicBezTo>
                    <a:pt x="36703" y="164084"/>
                    <a:pt x="0" y="127381"/>
                    <a:pt x="0" y="82042"/>
                  </a:cubicBezTo>
                  <a:close/>
                </a:path>
              </a:pathLst>
            </a:custGeom>
            <a:solidFill>
              <a:srgbClr val="FFB703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0122303" y="4354668"/>
            <a:ext cx="6926037" cy="1242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8"/>
              </a:lnSpc>
            </a:pPr>
            <a:r>
              <a:rPr lang="en-US" sz="2324" spc="-2">
                <a:solidFill>
                  <a:srgbClr val="E5E9F0"/>
                </a:solidFill>
                <a:latin typeface="Calibri (MS)"/>
                <a:ea typeface="Calibri (MS)"/>
                <a:cs typeface="Calibri (MS)"/>
                <a:sym typeface="Calibri (MS)"/>
              </a:rPr>
              <a:t>Reward tuning: rebalance the progress/score/stagnation weights to reduce ep_rew_mean fluctuation around the 5–6M mark.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779403" y="5908624"/>
            <a:ext cx="123120" cy="123120"/>
            <a:chOff x="0" y="0"/>
            <a:chExt cx="164160" cy="1641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64084" cy="164084"/>
            </a:xfrm>
            <a:custGeom>
              <a:avLst/>
              <a:gdLst/>
              <a:ahLst/>
              <a:cxnLst/>
              <a:rect r="r" b="b" t="t" l="l"/>
              <a:pathLst>
                <a:path h="164084" w="164084">
                  <a:moveTo>
                    <a:pt x="0" y="82042"/>
                  </a:moveTo>
                  <a:cubicBezTo>
                    <a:pt x="0" y="36703"/>
                    <a:pt x="36703" y="0"/>
                    <a:pt x="82042" y="0"/>
                  </a:cubicBezTo>
                  <a:cubicBezTo>
                    <a:pt x="127381" y="0"/>
                    <a:pt x="164084" y="36703"/>
                    <a:pt x="164084" y="82042"/>
                  </a:cubicBezTo>
                  <a:cubicBezTo>
                    <a:pt x="164084" y="127381"/>
                    <a:pt x="127381" y="164084"/>
                    <a:pt x="82042" y="164084"/>
                  </a:cubicBezTo>
                  <a:cubicBezTo>
                    <a:pt x="36703" y="164084"/>
                    <a:pt x="0" y="127381"/>
                    <a:pt x="0" y="82042"/>
                  </a:cubicBezTo>
                  <a:close/>
                </a:path>
              </a:pathLst>
            </a:custGeom>
            <a:solidFill>
              <a:srgbClr val="FFB703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0121598" y="5734060"/>
            <a:ext cx="6926037" cy="842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8"/>
              </a:lnSpc>
            </a:pPr>
            <a:r>
              <a:rPr lang="en-US" sz="2324" spc="-2">
                <a:solidFill>
                  <a:srgbClr val="E5E9F0"/>
                </a:solidFill>
                <a:latin typeface="Calibri (MS)"/>
                <a:ea typeface="Calibri (MS)"/>
                <a:cs typeface="Calibri (MS)"/>
                <a:sym typeface="Calibri (MS)"/>
              </a:rPr>
              <a:t>Longer training / more seeds to assess stability beyond Stage 1.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779403" y="6978358"/>
            <a:ext cx="123120" cy="123120"/>
            <a:chOff x="0" y="0"/>
            <a:chExt cx="164160" cy="1641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64084" cy="164084"/>
            </a:xfrm>
            <a:custGeom>
              <a:avLst/>
              <a:gdLst/>
              <a:ahLst/>
              <a:cxnLst/>
              <a:rect r="r" b="b" t="t" l="l"/>
              <a:pathLst>
                <a:path h="164084" w="164084">
                  <a:moveTo>
                    <a:pt x="0" y="82042"/>
                  </a:moveTo>
                  <a:cubicBezTo>
                    <a:pt x="0" y="36703"/>
                    <a:pt x="36703" y="0"/>
                    <a:pt x="82042" y="0"/>
                  </a:cubicBezTo>
                  <a:cubicBezTo>
                    <a:pt x="127381" y="0"/>
                    <a:pt x="164084" y="36703"/>
                    <a:pt x="164084" y="82042"/>
                  </a:cubicBezTo>
                  <a:cubicBezTo>
                    <a:pt x="164084" y="127381"/>
                    <a:pt x="127381" y="164084"/>
                    <a:pt x="82042" y="164084"/>
                  </a:cubicBezTo>
                  <a:cubicBezTo>
                    <a:pt x="36703" y="164084"/>
                    <a:pt x="0" y="127381"/>
                    <a:pt x="0" y="82042"/>
                  </a:cubicBezTo>
                  <a:close/>
                </a:path>
              </a:pathLst>
            </a:custGeom>
            <a:solidFill>
              <a:srgbClr val="FFB703"/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10122303" y="6832777"/>
            <a:ext cx="6926037" cy="442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8"/>
              </a:lnSpc>
            </a:pPr>
            <a:r>
              <a:rPr lang="en-US" sz="2324" spc="-2">
                <a:solidFill>
                  <a:srgbClr val="E5E9F0"/>
                </a:solidFill>
                <a:latin typeface="Calibri (MS)"/>
                <a:ea typeface="Calibri (MS)"/>
                <a:cs typeface="Calibri (MS)"/>
                <a:sym typeface="Calibri (MS)"/>
              </a:rPr>
              <a:t>Extend to later stages instead of just the Stage 1 boss.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9779403" y="8048101"/>
            <a:ext cx="123120" cy="123120"/>
            <a:chOff x="0" y="0"/>
            <a:chExt cx="164160" cy="1641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64084" cy="164084"/>
            </a:xfrm>
            <a:custGeom>
              <a:avLst/>
              <a:gdLst/>
              <a:ahLst/>
              <a:cxnLst/>
              <a:rect r="r" b="b" t="t" l="l"/>
              <a:pathLst>
                <a:path h="164084" w="164084">
                  <a:moveTo>
                    <a:pt x="0" y="82042"/>
                  </a:moveTo>
                  <a:cubicBezTo>
                    <a:pt x="0" y="36703"/>
                    <a:pt x="36703" y="0"/>
                    <a:pt x="82042" y="0"/>
                  </a:cubicBezTo>
                  <a:cubicBezTo>
                    <a:pt x="127381" y="0"/>
                    <a:pt x="164084" y="36703"/>
                    <a:pt x="164084" y="82042"/>
                  </a:cubicBezTo>
                  <a:cubicBezTo>
                    <a:pt x="164084" y="127381"/>
                    <a:pt x="127381" y="164084"/>
                    <a:pt x="82042" y="164084"/>
                  </a:cubicBezTo>
                  <a:cubicBezTo>
                    <a:pt x="36703" y="164084"/>
                    <a:pt x="0" y="127381"/>
                    <a:pt x="0" y="82042"/>
                  </a:cubicBezTo>
                  <a:close/>
                </a:path>
              </a:pathLst>
            </a:custGeom>
            <a:solidFill>
              <a:srgbClr val="FFB703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10122303" y="7760608"/>
            <a:ext cx="6926037" cy="842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8"/>
              </a:lnSpc>
            </a:pPr>
            <a:r>
              <a:rPr lang="en-US" sz="2324" spc="-2">
                <a:solidFill>
                  <a:srgbClr val="E5E9F0"/>
                </a:solidFill>
                <a:latin typeface="Calibri (MS)"/>
                <a:ea typeface="Calibri (MS)"/>
                <a:cs typeface="Calibri (MS)"/>
                <a:sym typeface="Calibri (MS)"/>
              </a:rPr>
              <a:t>Try other policy architectures (larger frame-stack, recurrent policy) for situations that need longer memory.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685800" y="9710823"/>
            <a:ext cx="4114257" cy="410937"/>
            <a:chOff x="0" y="0"/>
            <a:chExt cx="5485676" cy="54791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485680" cy="547920"/>
            </a:xfrm>
            <a:custGeom>
              <a:avLst/>
              <a:gdLst/>
              <a:ahLst/>
              <a:cxnLst/>
              <a:rect r="r" b="b" t="t" l="l"/>
              <a:pathLst>
                <a:path h="547920" w="5485680">
                  <a:moveTo>
                    <a:pt x="0" y="0"/>
                  </a:moveTo>
                  <a:lnTo>
                    <a:pt x="5485680" y="0"/>
                  </a:lnTo>
                  <a:lnTo>
                    <a:pt x="5485680" y="547920"/>
                  </a:lnTo>
                  <a:lnTo>
                    <a:pt x="0" y="547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5081" r="0" b="-14508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5485676" cy="5860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Contra-PPO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6911723" y="9710823"/>
            <a:ext cx="822417" cy="410937"/>
            <a:chOff x="0" y="0"/>
            <a:chExt cx="1096556" cy="54791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96560" cy="547920"/>
            </a:xfrm>
            <a:custGeom>
              <a:avLst/>
              <a:gdLst/>
              <a:ahLst/>
              <a:cxnLst/>
              <a:rect r="r" b="b" t="t" l="l"/>
              <a:pathLst>
                <a:path h="547920" w="1096560">
                  <a:moveTo>
                    <a:pt x="0" y="0"/>
                  </a:moveTo>
                  <a:lnTo>
                    <a:pt x="1096560" y="0"/>
                  </a:lnTo>
                  <a:lnTo>
                    <a:pt x="1096560" y="547920"/>
                  </a:lnTo>
                  <a:lnTo>
                    <a:pt x="0" y="547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09" t="0" r="-14109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096556" cy="5860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0972257" cy="410937"/>
            <a:chOff x="0" y="0"/>
            <a:chExt cx="14629676" cy="5479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29681" cy="547920"/>
            </a:xfrm>
            <a:custGeom>
              <a:avLst/>
              <a:gdLst/>
              <a:ahLst/>
              <a:cxnLst/>
              <a:rect r="r" b="b" t="t" l="l"/>
              <a:pathLst>
                <a:path h="547920" w="14629681">
                  <a:moveTo>
                    <a:pt x="0" y="0"/>
                  </a:moveTo>
                  <a:lnTo>
                    <a:pt x="14629681" y="0"/>
                  </a:lnTo>
                  <a:lnTo>
                    <a:pt x="14629681" y="547920"/>
                  </a:lnTo>
                  <a:lnTo>
                    <a:pt x="0" y="547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0258" r="0" b="-47025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29676" cy="5860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8">
                  <a:solidFill>
                    <a:srgbClr val="FFB70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REFERENCES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850497"/>
            <a:ext cx="15910017" cy="959577"/>
            <a:chOff x="0" y="0"/>
            <a:chExt cx="21213356" cy="12794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213359" cy="1279440"/>
            </a:xfrm>
            <a:custGeom>
              <a:avLst/>
              <a:gdLst/>
              <a:ahLst/>
              <a:cxnLst/>
              <a:rect r="r" b="b" t="t" l="l"/>
              <a:pathLst>
                <a:path h="1279440" w="21213359">
                  <a:moveTo>
                    <a:pt x="0" y="0"/>
                  </a:moveTo>
                  <a:lnTo>
                    <a:pt x="21213359" y="0"/>
                  </a:lnTo>
                  <a:lnTo>
                    <a:pt x="21213359" y="1279440"/>
                  </a:lnTo>
                  <a:lnTo>
                    <a:pt x="0" y="1279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065" r="0" b="-2730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213356" cy="1298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 spc="-1">
                  <a:solidFill>
                    <a:srgbClr val="E5E9F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References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606040"/>
            <a:ext cx="16636860" cy="1302477"/>
            <a:chOff x="0" y="0"/>
            <a:chExt cx="22182480" cy="17366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82582" cy="1736725"/>
            </a:xfrm>
            <a:custGeom>
              <a:avLst/>
              <a:gdLst/>
              <a:ahLst/>
              <a:cxnLst/>
              <a:rect r="r" b="b" t="t" l="l"/>
              <a:pathLst>
                <a:path h="1736725" w="2218258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036278" y="0"/>
                  </a:lnTo>
                  <a:cubicBezTo>
                    <a:pt x="22117050" y="0"/>
                    <a:pt x="22182582" y="65532"/>
                    <a:pt x="22182582" y="146304"/>
                  </a:cubicBezTo>
                  <a:lnTo>
                    <a:pt x="22182582" y="1590421"/>
                  </a:lnTo>
                  <a:cubicBezTo>
                    <a:pt x="22182582" y="1671193"/>
                    <a:pt x="22117050" y="1736725"/>
                    <a:pt x="22036278" y="1736725"/>
                  </a:cubicBezTo>
                  <a:lnTo>
                    <a:pt x="146304" y="1736725"/>
                  </a:lnTo>
                  <a:cubicBezTo>
                    <a:pt x="65532" y="1736598"/>
                    <a:pt x="0" y="1671193"/>
                    <a:pt x="0" y="1590421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65860" y="2852823"/>
            <a:ext cx="822417" cy="822417"/>
            <a:chOff x="0" y="0"/>
            <a:chExt cx="1096556" cy="10965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6518" cy="1096518"/>
            </a:xfrm>
            <a:custGeom>
              <a:avLst/>
              <a:gdLst/>
              <a:ahLst/>
              <a:cxnLst/>
              <a:rect r="r" b="b" t="t" l="l"/>
              <a:pathLst>
                <a:path h="1096518" w="1096518">
                  <a:moveTo>
                    <a:pt x="0" y="548259"/>
                  </a:moveTo>
                  <a:cubicBezTo>
                    <a:pt x="0" y="245491"/>
                    <a:pt x="245491" y="0"/>
                    <a:pt x="548259" y="0"/>
                  </a:cubicBezTo>
                  <a:cubicBezTo>
                    <a:pt x="851027" y="0"/>
                    <a:pt x="1096518" y="245491"/>
                    <a:pt x="1096518" y="548259"/>
                  </a:cubicBezTo>
                  <a:cubicBezTo>
                    <a:pt x="1096518" y="851027"/>
                    <a:pt x="851027" y="1096518"/>
                    <a:pt x="548259" y="1096518"/>
                  </a:cubicBezTo>
                  <a:cubicBezTo>
                    <a:pt x="245491" y="1096518"/>
                    <a:pt x="0" y="851027"/>
                    <a:pt x="0" y="548259"/>
                  </a:cubicBez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63504" y="3050457"/>
            <a:ext cx="427139" cy="427139"/>
            <a:chOff x="0" y="0"/>
            <a:chExt cx="569519" cy="569519"/>
          </a:xfrm>
        </p:grpSpPr>
        <p:sp>
          <p:nvSpPr>
            <p:cNvPr name="Freeform 13" id="13" descr="/tmp/claude-1000/-media-hung-Work-Project-AI-Engineer-RL-contra-PPO/70c7dc7d-8f3f-4139-8f25-95b0e9e6dca5/scratchpad/build/icons/book.png"/>
            <p:cNvSpPr/>
            <p:nvPr/>
          </p:nvSpPr>
          <p:spPr>
            <a:xfrm flipH="false" flipV="false" rot="0">
              <a:off x="0" y="0"/>
              <a:ext cx="569468" cy="569468"/>
            </a:xfrm>
            <a:custGeom>
              <a:avLst/>
              <a:gdLst/>
              <a:ahLst/>
              <a:cxnLst/>
              <a:rect r="r" b="b" t="t" l="l"/>
              <a:pathLst>
                <a:path h="569468" w="569468">
                  <a:moveTo>
                    <a:pt x="0" y="0"/>
                  </a:moveTo>
                  <a:lnTo>
                    <a:pt x="569468" y="0"/>
                  </a:lnTo>
                  <a:lnTo>
                    <a:pt x="569468" y="569468"/>
                  </a:lnTo>
                  <a:lnTo>
                    <a:pt x="0" y="5694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8" b="-8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331720" y="2770737"/>
            <a:ext cx="14812737" cy="542682"/>
            <a:chOff x="0" y="0"/>
            <a:chExt cx="19750316" cy="72357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750320" cy="723580"/>
            </a:xfrm>
            <a:custGeom>
              <a:avLst/>
              <a:gdLst/>
              <a:ahLst/>
              <a:cxnLst/>
              <a:rect r="r" b="b" t="t" l="l"/>
              <a:pathLst>
                <a:path h="723580" w="19750320">
                  <a:moveTo>
                    <a:pt x="0" y="0"/>
                  </a:moveTo>
                  <a:lnTo>
                    <a:pt x="19750320" y="0"/>
                  </a:lnTo>
                  <a:lnTo>
                    <a:pt x="19750320" y="723580"/>
                  </a:lnTo>
                  <a:lnTo>
                    <a:pt x="0" y="723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7669" r="0" b="-47602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9750316" cy="7807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b="true" sz="2699" spc="-1">
                  <a:solidFill>
                    <a:srgbClr val="E5E9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Schulman et al. (2017)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331720" y="3264303"/>
            <a:ext cx="14812737" cy="479520"/>
            <a:chOff x="0" y="0"/>
            <a:chExt cx="19750316" cy="639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50320" cy="639364"/>
            </a:xfrm>
            <a:custGeom>
              <a:avLst/>
              <a:gdLst/>
              <a:ahLst/>
              <a:cxnLst/>
              <a:rect r="r" b="b" t="t" l="l"/>
              <a:pathLst>
                <a:path h="639364" w="19750320">
                  <a:moveTo>
                    <a:pt x="0" y="0"/>
                  </a:moveTo>
                  <a:lnTo>
                    <a:pt x="19750320" y="0"/>
                  </a:lnTo>
                  <a:lnTo>
                    <a:pt x="19750320" y="639364"/>
                  </a:lnTo>
                  <a:lnTo>
                    <a:pt x="0" y="6393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1904" r="0" b="-55190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9750316" cy="686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9"/>
                </a:lnSpc>
              </a:pPr>
              <a:r>
                <a:rPr lang="en-US" sz="2249" spc="-2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Proximal Policy Optimization Algorithms — arXiv:1707.06347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4114800"/>
            <a:ext cx="16636860" cy="1302477"/>
            <a:chOff x="0" y="0"/>
            <a:chExt cx="22182480" cy="173663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182582" cy="1736725"/>
            </a:xfrm>
            <a:custGeom>
              <a:avLst/>
              <a:gdLst/>
              <a:ahLst/>
              <a:cxnLst/>
              <a:rect r="r" b="b" t="t" l="l"/>
              <a:pathLst>
                <a:path h="1736725" w="2218258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036278" y="0"/>
                  </a:lnTo>
                  <a:cubicBezTo>
                    <a:pt x="22117050" y="0"/>
                    <a:pt x="22182582" y="65532"/>
                    <a:pt x="22182582" y="146304"/>
                  </a:cubicBezTo>
                  <a:lnTo>
                    <a:pt x="22182582" y="1590421"/>
                  </a:lnTo>
                  <a:cubicBezTo>
                    <a:pt x="22182582" y="1671193"/>
                    <a:pt x="22117050" y="1736725"/>
                    <a:pt x="22036278" y="1736725"/>
                  </a:cubicBezTo>
                  <a:lnTo>
                    <a:pt x="146304" y="1736725"/>
                  </a:lnTo>
                  <a:cubicBezTo>
                    <a:pt x="65532" y="1736598"/>
                    <a:pt x="0" y="1671193"/>
                    <a:pt x="0" y="1590421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65860" y="4361583"/>
            <a:ext cx="822417" cy="822417"/>
            <a:chOff x="0" y="0"/>
            <a:chExt cx="1096556" cy="10965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6518" cy="1096518"/>
            </a:xfrm>
            <a:custGeom>
              <a:avLst/>
              <a:gdLst/>
              <a:ahLst/>
              <a:cxnLst/>
              <a:rect r="r" b="b" t="t" l="l"/>
              <a:pathLst>
                <a:path h="1096518" w="1096518">
                  <a:moveTo>
                    <a:pt x="0" y="548259"/>
                  </a:moveTo>
                  <a:cubicBezTo>
                    <a:pt x="0" y="245491"/>
                    <a:pt x="245491" y="0"/>
                    <a:pt x="548259" y="0"/>
                  </a:cubicBezTo>
                  <a:cubicBezTo>
                    <a:pt x="851027" y="0"/>
                    <a:pt x="1096518" y="245491"/>
                    <a:pt x="1096518" y="548259"/>
                  </a:cubicBezTo>
                  <a:cubicBezTo>
                    <a:pt x="1096518" y="851027"/>
                    <a:pt x="851027" y="1096518"/>
                    <a:pt x="548259" y="1096518"/>
                  </a:cubicBezTo>
                  <a:cubicBezTo>
                    <a:pt x="245491" y="1096518"/>
                    <a:pt x="0" y="851027"/>
                    <a:pt x="0" y="548259"/>
                  </a:cubicBez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63504" y="4559217"/>
            <a:ext cx="427139" cy="427139"/>
            <a:chOff x="0" y="0"/>
            <a:chExt cx="569519" cy="569519"/>
          </a:xfrm>
        </p:grpSpPr>
        <p:sp>
          <p:nvSpPr>
            <p:cNvPr name="Freeform 25" id="25" descr="/tmp/claude-1000/-media-hung-Work-Project-AI-Engineer-RL-contra-PPO/70c7dc7d-8f3f-4139-8f25-95b0e9e6dca5/scratchpad/build/icons/cogs.png"/>
            <p:cNvSpPr/>
            <p:nvPr/>
          </p:nvSpPr>
          <p:spPr>
            <a:xfrm flipH="false" flipV="false" rot="0">
              <a:off x="0" y="0"/>
              <a:ext cx="569468" cy="569468"/>
            </a:xfrm>
            <a:custGeom>
              <a:avLst/>
              <a:gdLst/>
              <a:ahLst/>
              <a:cxnLst/>
              <a:rect r="r" b="b" t="t" l="l"/>
              <a:pathLst>
                <a:path h="569468" w="569468">
                  <a:moveTo>
                    <a:pt x="0" y="0"/>
                  </a:moveTo>
                  <a:lnTo>
                    <a:pt x="569468" y="0"/>
                  </a:lnTo>
                  <a:lnTo>
                    <a:pt x="569468" y="569468"/>
                  </a:lnTo>
                  <a:lnTo>
                    <a:pt x="0" y="5694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8" b="-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331720" y="4279497"/>
            <a:ext cx="14812737" cy="542682"/>
            <a:chOff x="0" y="0"/>
            <a:chExt cx="19750316" cy="72357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750320" cy="723580"/>
            </a:xfrm>
            <a:custGeom>
              <a:avLst/>
              <a:gdLst/>
              <a:ahLst/>
              <a:cxnLst/>
              <a:rect r="r" b="b" t="t" l="l"/>
              <a:pathLst>
                <a:path h="723580" w="19750320">
                  <a:moveTo>
                    <a:pt x="0" y="0"/>
                  </a:moveTo>
                  <a:lnTo>
                    <a:pt x="19750320" y="0"/>
                  </a:lnTo>
                  <a:lnTo>
                    <a:pt x="19750320" y="723580"/>
                  </a:lnTo>
                  <a:lnTo>
                    <a:pt x="0" y="723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7669" r="0" b="-47602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9750316" cy="7807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b="true" sz="2699" spc="-1">
                  <a:solidFill>
                    <a:srgbClr val="E5E9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Stable-Baselines3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331720" y="4773063"/>
            <a:ext cx="14812737" cy="479520"/>
            <a:chOff x="0" y="0"/>
            <a:chExt cx="19750316" cy="6393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750320" cy="639364"/>
            </a:xfrm>
            <a:custGeom>
              <a:avLst/>
              <a:gdLst/>
              <a:ahLst/>
              <a:cxnLst/>
              <a:rect r="r" b="b" t="t" l="l"/>
              <a:pathLst>
                <a:path h="639364" w="19750320">
                  <a:moveTo>
                    <a:pt x="0" y="0"/>
                  </a:moveTo>
                  <a:lnTo>
                    <a:pt x="19750320" y="0"/>
                  </a:lnTo>
                  <a:lnTo>
                    <a:pt x="19750320" y="639364"/>
                  </a:lnTo>
                  <a:lnTo>
                    <a:pt x="0" y="6393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1904" r="0" b="-55190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9750316" cy="686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9"/>
                </a:lnSpc>
              </a:pPr>
              <a:r>
                <a:rPr lang="en-US" sz="2249" spc="-2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PyTorch implementation of PPO and other RL algorithms — Documentation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" y="5623560"/>
            <a:ext cx="16636860" cy="1302477"/>
            <a:chOff x="0" y="0"/>
            <a:chExt cx="22182480" cy="173663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182582" cy="1736725"/>
            </a:xfrm>
            <a:custGeom>
              <a:avLst/>
              <a:gdLst/>
              <a:ahLst/>
              <a:cxnLst/>
              <a:rect r="r" b="b" t="t" l="l"/>
              <a:pathLst>
                <a:path h="1736725" w="2218258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036278" y="0"/>
                  </a:lnTo>
                  <a:cubicBezTo>
                    <a:pt x="22117050" y="0"/>
                    <a:pt x="22182582" y="65532"/>
                    <a:pt x="22182582" y="146304"/>
                  </a:cubicBezTo>
                  <a:lnTo>
                    <a:pt x="22182582" y="1590421"/>
                  </a:lnTo>
                  <a:cubicBezTo>
                    <a:pt x="22182582" y="1671193"/>
                    <a:pt x="22117050" y="1736725"/>
                    <a:pt x="22036278" y="1736725"/>
                  </a:cubicBezTo>
                  <a:lnTo>
                    <a:pt x="146304" y="1736725"/>
                  </a:lnTo>
                  <a:cubicBezTo>
                    <a:pt x="65532" y="1736598"/>
                    <a:pt x="0" y="1671193"/>
                    <a:pt x="0" y="1590421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65860" y="5870343"/>
            <a:ext cx="822417" cy="822417"/>
            <a:chOff x="0" y="0"/>
            <a:chExt cx="1096556" cy="109655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6518" cy="1096518"/>
            </a:xfrm>
            <a:custGeom>
              <a:avLst/>
              <a:gdLst/>
              <a:ahLst/>
              <a:cxnLst/>
              <a:rect r="r" b="b" t="t" l="l"/>
              <a:pathLst>
                <a:path h="1096518" w="1096518">
                  <a:moveTo>
                    <a:pt x="0" y="548259"/>
                  </a:moveTo>
                  <a:cubicBezTo>
                    <a:pt x="0" y="245491"/>
                    <a:pt x="245491" y="0"/>
                    <a:pt x="548259" y="0"/>
                  </a:cubicBezTo>
                  <a:cubicBezTo>
                    <a:pt x="851027" y="0"/>
                    <a:pt x="1096518" y="245491"/>
                    <a:pt x="1096518" y="548259"/>
                  </a:cubicBezTo>
                  <a:cubicBezTo>
                    <a:pt x="1096518" y="851027"/>
                    <a:pt x="851027" y="1096518"/>
                    <a:pt x="548259" y="1096518"/>
                  </a:cubicBezTo>
                  <a:cubicBezTo>
                    <a:pt x="245491" y="1096518"/>
                    <a:pt x="0" y="851027"/>
                    <a:pt x="0" y="548259"/>
                  </a:cubicBez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363504" y="6067977"/>
            <a:ext cx="427139" cy="427139"/>
            <a:chOff x="0" y="0"/>
            <a:chExt cx="569519" cy="569519"/>
          </a:xfrm>
        </p:grpSpPr>
        <p:sp>
          <p:nvSpPr>
            <p:cNvPr name="Freeform 37" id="37" descr="/tmp/claude-1000/-media-hung-Work-Project-AI-Engineer-RL-contra-PPO/70c7dc7d-8f3f-4139-8f25-95b0e9e6dca5/scratchpad/build/icons/boxes.png"/>
            <p:cNvSpPr/>
            <p:nvPr/>
          </p:nvSpPr>
          <p:spPr>
            <a:xfrm flipH="false" flipV="false" rot="0">
              <a:off x="0" y="0"/>
              <a:ext cx="569468" cy="569468"/>
            </a:xfrm>
            <a:custGeom>
              <a:avLst/>
              <a:gdLst/>
              <a:ahLst/>
              <a:cxnLst/>
              <a:rect r="r" b="b" t="t" l="l"/>
              <a:pathLst>
                <a:path h="569468" w="569468">
                  <a:moveTo>
                    <a:pt x="0" y="0"/>
                  </a:moveTo>
                  <a:lnTo>
                    <a:pt x="569468" y="0"/>
                  </a:lnTo>
                  <a:lnTo>
                    <a:pt x="569468" y="569468"/>
                  </a:lnTo>
                  <a:lnTo>
                    <a:pt x="0" y="5694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8" b="-8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2331720" y="5788257"/>
            <a:ext cx="14812737" cy="542682"/>
            <a:chOff x="0" y="0"/>
            <a:chExt cx="19750316" cy="72357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9750320" cy="723580"/>
            </a:xfrm>
            <a:custGeom>
              <a:avLst/>
              <a:gdLst/>
              <a:ahLst/>
              <a:cxnLst/>
              <a:rect r="r" b="b" t="t" l="l"/>
              <a:pathLst>
                <a:path h="723580" w="19750320">
                  <a:moveTo>
                    <a:pt x="0" y="0"/>
                  </a:moveTo>
                  <a:lnTo>
                    <a:pt x="19750320" y="0"/>
                  </a:lnTo>
                  <a:lnTo>
                    <a:pt x="19750320" y="723580"/>
                  </a:lnTo>
                  <a:lnTo>
                    <a:pt x="0" y="723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7669" r="0" b="-47602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9750316" cy="7807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b="true" sz="2699" spc="-1">
                  <a:solidFill>
                    <a:srgbClr val="E5E9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Gymnasium (Farama Foundation)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331720" y="6281823"/>
            <a:ext cx="14812737" cy="479520"/>
            <a:chOff x="0" y="0"/>
            <a:chExt cx="19750316" cy="6393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9750320" cy="639364"/>
            </a:xfrm>
            <a:custGeom>
              <a:avLst/>
              <a:gdLst/>
              <a:ahLst/>
              <a:cxnLst/>
              <a:rect r="r" b="b" t="t" l="l"/>
              <a:pathLst>
                <a:path h="639364" w="19750320">
                  <a:moveTo>
                    <a:pt x="0" y="0"/>
                  </a:moveTo>
                  <a:lnTo>
                    <a:pt x="19750320" y="0"/>
                  </a:lnTo>
                  <a:lnTo>
                    <a:pt x="19750320" y="639364"/>
                  </a:lnTo>
                  <a:lnTo>
                    <a:pt x="0" y="6393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1904" r="0" b="-55190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9750316" cy="686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9"/>
                </a:lnSpc>
              </a:pPr>
              <a:r>
                <a:rPr lang="en-US" sz="2249" spc="-2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Standard RL environment API — successor to OpenAI Gym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22960" y="7132320"/>
            <a:ext cx="16636860" cy="1302477"/>
            <a:chOff x="0" y="0"/>
            <a:chExt cx="22182480" cy="173663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2182582" cy="1736725"/>
            </a:xfrm>
            <a:custGeom>
              <a:avLst/>
              <a:gdLst/>
              <a:ahLst/>
              <a:cxnLst/>
              <a:rect r="r" b="b" t="t" l="l"/>
              <a:pathLst>
                <a:path h="1736725" w="2218258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036278" y="0"/>
                  </a:lnTo>
                  <a:cubicBezTo>
                    <a:pt x="22117050" y="0"/>
                    <a:pt x="22182582" y="65532"/>
                    <a:pt x="22182582" y="146304"/>
                  </a:cubicBezTo>
                  <a:lnTo>
                    <a:pt x="22182582" y="1590421"/>
                  </a:lnTo>
                  <a:cubicBezTo>
                    <a:pt x="22182582" y="1671193"/>
                    <a:pt x="22117050" y="1736725"/>
                    <a:pt x="22036278" y="1736725"/>
                  </a:cubicBezTo>
                  <a:lnTo>
                    <a:pt x="146304" y="1736725"/>
                  </a:lnTo>
                  <a:cubicBezTo>
                    <a:pt x="65532" y="1736598"/>
                    <a:pt x="0" y="1671193"/>
                    <a:pt x="0" y="1590421"/>
                  </a:cubicBezTo>
                  <a:close/>
                </a:path>
              </a:pathLst>
            </a:custGeom>
            <a:solidFill>
              <a:srgbClr val="16213E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165860" y="7379103"/>
            <a:ext cx="822417" cy="822417"/>
            <a:chOff x="0" y="0"/>
            <a:chExt cx="1096556" cy="109655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96518" cy="1096518"/>
            </a:xfrm>
            <a:custGeom>
              <a:avLst/>
              <a:gdLst/>
              <a:ahLst/>
              <a:cxnLst/>
              <a:rect r="r" b="b" t="t" l="l"/>
              <a:pathLst>
                <a:path h="1096518" w="1096518">
                  <a:moveTo>
                    <a:pt x="0" y="548259"/>
                  </a:moveTo>
                  <a:cubicBezTo>
                    <a:pt x="0" y="245491"/>
                    <a:pt x="245491" y="0"/>
                    <a:pt x="548259" y="0"/>
                  </a:cubicBezTo>
                  <a:cubicBezTo>
                    <a:pt x="851027" y="0"/>
                    <a:pt x="1096518" y="245491"/>
                    <a:pt x="1096518" y="548259"/>
                  </a:cubicBezTo>
                  <a:cubicBezTo>
                    <a:pt x="1096518" y="851027"/>
                    <a:pt x="851027" y="1096518"/>
                    <a:pt x="548259" y="1096518"/>
                  </a:cubicBezTo>
                  <a:cubicBezTo>
                    <a:pt x="245491" y="1096518"/>
                    <a:pt x="0" y="851027"/>
                    <a:pt x="0" y="548259"/>
                  </a:cubicBez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63504" y="7576737"/>
            <a:ext cx="427139" cy="427139"/>
            <a:chOff x="0" y="0"/>
            <a:chExt cx="569519" cy="569519"/>
          </a:xfrm>
        </p:grpSpPr>
        <p:sp>
          <p:nvSpPr>
            <p:cNvPr name="Freeform 49" id="49" descr="/tmp/claude-1000/-media-hung-Work-Project-AI-Engineer-RL-contra-PPO/70c7dc7d-8f3f-4139-8f25-95b0e9e6dca5/scratchpad/build/icons/gamepad.png"/>
            <p:cNvSpPr/>
            <p:nvPr/>
          </p:nvSpPr>
          <p:spPr>
            <a:xfrm flipH="false" flipV="false" rot="0">
              <a:off x="0" y="0"/>
              <a:ext cx="569468" cy="569468"/>
            </a:xfrm>
            <a:custGeom>
              <a:avLst/>
              <a:gdLst/>
              <a:ahLst/>
              <a:cxnLst/>
              <a:rect r="r" b="b" t="t" l="l"/>
              <a:pathLst>
                <a:path h="569468" w="569468">
                  <a:moveTo>
                    <a:pt x="0" y="0"/>
                  </a:moveTo>
                  <a:lnTo>
                    <a:pt x="569468" y="0"/>
                  </a:lnTo>
                  <a:lnTo>
                    <a:pt x="569468" y="569468"/>
                  </a:lnTo>
                  <a:lnTo>
                    <a:pt x="0" y="5694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8" b="-8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2331720" y="7297017"/>
            <a:ext cx="14812737" cy="542682"/>
            <a:chOff x="0" y="0"/>
            <a:chExt cx="19750316" cy="72357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9750320" cy="723580"/>
            </a:xfrm>
            <a:custGeom>
              <a:avLst/>
              <a:gdLst/>
              <a:ahLst/>
              <a:cxnLst/>
              <a:rect r="r" b="b" t="t" l="l"/>
              <a:pathLst>
                <a:path h="723580" w="19750320">
                  <a:moveTo>
                    <a:pt x="0" y="0"/>
                  </a:moveTo>
                  <a:lnTo>
                    <a:pt x="19750320" y="0"/>
                  </a:lnTo>
                  <a:lnTo>
                    <a:pt x="19750320" y="723580"/>
                  </a:lnTo>
                  <a:lnTo>
                    <a:pt x="0" y="723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7669" r="0" b="-47602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19750316" cy="7807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b="true" sz="2699" spc="-1">
                  <a:solidFill>
                    <a:srgbClr val="E5E9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nes-py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331720" y="7790583"/>
            <a:ext cx="14812737" cy="479520"/>
            <a:chOff x="0" y="0"/>
            <a:chExt cx="19750316" cy="6393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9750320" cy="639364"/>
            </a:xfrm>
            <a:custGeom>
              <a:avLst/>
              <a:gdLst/>
              <a:ahLst/>
              <a:cxnLst/>
              <a:rect r="r" b="b" t="t" l="l"/>
              <a:pathLst>
                <a:path h="639364" w="19750320">
                  <a:moveTo>
                    <a:pt x="0" y="0"/>
                  </a:moveTo>
                  <a:lnTo>
                    <a:pt x="19750320" y="0"/>
                  </a:lnTo>
                  <a:lnTo>
                    <a:pt x="19750320" y="639364"/>
                  </a:lnTo>
                  <a:lnTo>
                    <a:pt x="0" y="6393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1904" r="0" b="-551903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19750316" cy="686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9"/>
                </a:lnSpc>
              </a:pPr>
              <a:r>
                <a:rPr lang="en-US" sz="2249" spc="-2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NES emulator for Python, the foundation for ContraEnv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85800" y="9710823"/>
            <a:ext cx="4114257" cy="410937"/>
            <a:chOff x="0" y="0"/>
            <a:chExt cx="5485676" cy="54791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485680" cy="547920"/>
            </a:xfrm>
            <a:custGeom>
              <a:avLst/>
              <a:gdLst/>
              <a:ahLst/>
              <a:cxnLst/>
              <a:rect r="r" b="b" t="t" l="l"/>
              <a:pathLst>
                <a:path h="547920" w="5485680">
                  <a:moveTo>
                    <a:pt x="0" y="0"/>
                  </a:moveTo>
                  <a:lnTo>
                    <a:pt x="5485680" y="0"/>
                  </a:lnTo>
                  <a:lnTo>
                    <a:pt x="5485680" y="547920"/>
                  </a:lnTo>
                  <a:lnTo>
                    <a:pt x="0" y="547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5081" r="0" b="-14508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5485676" cy="5860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Contra-PPO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6911723" y="9710823"/>
            <a:ext cx="822417" cy="410937"/>
            <a:chOff x="0" y="0"/>
            <a:chExt cx="1096556" cy="54791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96560" cy="547920"/>
            </a:xfrm>
            <a:custGeom>
              <a:avLst/>
              <a:gdLst/>
              <a:ahLst/>
              <a:cxnLst/>
              <a:rect r="r" b="b" t="t" l="l"/>
              <a:pathLst>
                <a:path h="547920" w="1096560">
                  <a:moveTo>
                    <a:pt x="0" y="0"/>
                  </a:moveTo>
                  <a:lnTo>
                    <a:pt x="1096560" y="0"/>
                  </a:lnTo>
                  <a:lnTo>
                    <a:pt x="1096560" y="547920"/>
                  </a:lnTo>
                  <a:lnTo>
                    <a:pt x="0" y="547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09" t="0" r="-14109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096556" cy="5860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spc="-1">
                  <a:solidFill>
                    <a:srgbClr val="9AA6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DAHP8eJqchA</dc:identifier>
  <dcterms:modified xsi:type="dcterms:W3CDTF">2011-08-01T06:04:30Z</dcterms:modified>
  <cp:revision>1</cp:revision>
  <dc:title>contra_ppo_presentation.pptx</dc:title>
</cp:coreProperties>
</file>